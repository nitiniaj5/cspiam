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3">
  <p:sldMasterIdLst>
    <p:sldMasterId id="2147483648" r:id="rId1"/>
  </p:sldMasterIdLst>
  <p:sldIdLst>
    <p:sldId id="256" r:id="rId2"/>
    <p:sldId id="258" r:id="rId3"/>
    <p:sldId id="259" r:id="rId4"/>
    <p:sldId id="257" r:id="rId5"/>
    <p:sldId id="260" r:id="rId6"/>
    <p:sldId id="261" r:id="rId7"/>
    <p:sldId id="262" r:id="rId8"/>
    <p:sldId id="263" r:id="rId9"/>
    <p:sldId id="266" r:id="rId10"/>
    <p:sldId id="264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1974D9E-3069-E87E-19D5-7C6C9D36908A}" v="3" dt="2025-03-10T05:14:32.40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458" autoAdjust="0"/>
    <p:restoredTop sz="94660"/>
  </p:normalViewPr>
  <p:slideViewPr>
    <p:cSldViewPr snapToGrid="0">
      <p:cViewPr varScale="1">
        <p:scale>
          <a:sx n="56" d="100"/>
          <a:sy n="56" d="100"/>
        </p:scale>
        <p:origin x="94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hit Goyal" userId="S::2114749@tcs.com::90773c57-23f7-49da-99a1-cb9cfa920a03" providerId="AD" clId="Web-{21974D9E-3069-E87E-19D5-7C6C9D36908A}"/>
    <pc:docChg chg="modSld">
      <pc:chgData name="Rohit Goyal" userId="S::2114749@tcs.com::90773c57-23f7-49da-99a1-cb9cfa920a03" providerId="AD" clId="Web-{21974D9E-3069-E87E-19D5-7C6C9D36908A}" dt="2025-03-10T05:13:34.153" v="1" actId="20577"/>
      <pc:docMkLst>
        <pc:docMk/>
      </pc:docMkLst>
      <pc:sldChg chg="modSp">
        <pc:chgData name="Rohit Goyal" userId="S::2114749@tcs.com::90773c57-23f7-49da-99a1-cb9cfa920a03" providerId="AD" clId="Web-{21974D9E-3069-E87E-19D5-7C6C9D36908A}" dt="2025-03-10T05:13:34.153" v="1" actId="20577"/>
        <pc:sldMkLst>
          <pc:docMk/>
          <pc:sldMk cId="1616424091" sldId="258"/>
        </pc:sldMkLst>
        <pc:spChg chg="mod">
          <ac:chgData name="Rohit Goyal" userId="S::2114749@tcs.com::90773c57-23f7-49da-99a1-cb9cfa920a03" providerId="AD" clId="Web-{21974D9E-3069-E87E-19D5-7C6C9D36908A}" dt="2025-03-10T05:13:34.153" v="1" actId="20577"/>
          <ac:spMkLst>
            <pc:docMk/>
            <pc:sldMk cId="1616424091" sldId="258"/>
            <ac:spMk id="3" creationId="{A79D7960-85F9-E676-76D6-5761B1E4B199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F91012-0DC3-FEC7-83C3-550EECD892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33600-1D17-5C72-2E31-DB53BBD2E44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8FA2B5-B901-4B9A-CFC0-EDE64DD16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C6941F-8DB5-8AB5-1525-F4A4674D1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E4E6D0-64A6-B786-6502-A3F5C1FDB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8369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6F2A5A-DA41-4C3D-E7C4-B191BF6F4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02438"/>
          </a:xfrm>
        </p:spPr>
        <p:txBody>
          <a:bodyPr>
            <a:noAutofit/>
          </a:bodyPr>
          <a:lstStyle>
            <a:lvl1pPr>
              <a:defRPr sz="280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01AC92-F513-E4D6-5E8E-61B503C20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67564"/>
            <a:ext cx="10515600" cy="5209399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BCABBE-6628-5F40-A550-1A6780D26F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25BF14-E1B0-D269-FCF6-EDA0D1843B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7B3961-7F90-4B60-2396-10935B22E7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11098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DA17EA-3807-EB44-FE89-3447D80522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298C99-EA21-A995-62E0-EAD947F99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DBFBEF-8233-3E6D-F250-D665FCCE6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32ABB1-6066-B6A0-25C8-CDB0DCA3A0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571CAA-2C2B-B85C-E01E-4EFF0C8D0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562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A96A1-AF40-0265-DD55-415611FF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D9E10D-2675-31EB-D690-0E098EC336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916309-3EE6-E361-C0CC-751C763A79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4F0BF8-84EC-7649-CD0F-FECE9144C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0E0113-B8E3-166C-3C4E-512FD1342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3BA8B4A-D772-FA20-C017-7F7B4308B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9567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489C8-A937-3BDF-9B77-02FC0E7F61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25F8A4-65ED-C772-E2FC-8E2A054443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65485F8-B47C-9BF4-8CB7-849D43F64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9253812-1E90-F597-C1E1-12F2B363DD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3ACB64A-362B-8C7E-EBF6-0FA5ECE9266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7F4EA02-D062-05A6-6EA4-41056DFF62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6A81C9D-795E-B5F2-5739-AF304A50A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E2EC11B-A265-3ABB-6DB9-F08369B3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261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DFEBF6-C97A-3DE4-A5A6-95997E2E6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DD3076D-6236-FD4B-178B-81E7AA0E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B53805-5348-EEE4-9F69-3D40EBAEA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F928AD-6082-489B-E344-2BEF7C166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2909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E9AA99-FEBD-E9B4-E431-FE9A6DEE89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4FE354-2D74-A148-D922-AFA293EFA6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AAFD8E-C682-C76B-4673-302E3E407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385646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481DAD-ED74-CFD5-4F10-F592DA93F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57AC48-BECB-DA15-2935-9AD807C6DC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AF5F26-7CB0-2D56-58FE-5A5D19747B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7C0DE6-C7AB-43F4-D107-70AB9BE950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680CAF-AE38-96B9-1B00-81FE23B1B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9CCE2A-7ED3-7BDF-16D4-4ED01DCF0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88080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D39FF-22BC-D13B-AB78-524A26E94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673E5FD-3F72-F349-CCE4-62632E6A2BD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27E0E3-8950-AFA2-06CE-34EED51C3B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1B96A1-4027-4123-5DFF-3CE5051E3D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802B74-B149-1A6C-DA84-F1F1220369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A889ADA-BC17-9F2E-2893-525EE5E02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77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B891CA-3CA8-BC13-26D8-8D313F7E3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CFC1DA-22F7-804C-FABC-DE46E47D3C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DCE5FB-A2C6-2585-8115-CFFA82C76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ABDEF3-1B5F-BB28-A37F-C27F6391E3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323989-4816-F338-784A-49A2D927C0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2232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74B29E-7C2A-554F-ABD3-4ADC12E2FB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B9BFF4-6C95-C61D-E1E8-6625BEFA21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3DE5B5-2F35-0223-39E6-EE50B99873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666AB9-185F-49B8-ACD4-138D293583C7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DCD21-F6BD-BBB4-26EA-F5FD2CB458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68EE4F-357E-F2F4-6B4F-864462137D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288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17AF60B-A48A-C2D6-3641-1AFBE5390B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130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4FFC6C-4072-55CE-C34D-81BE48524F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201479"/>
            <a:ext cx="10515600" cy="49754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939F60-571D-D111-82B5-31B97F50131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666AB9-185F-49B8-ACD4-138D293583C7}" type="datetimeFigureOut">
              <a:rPr lang="en-IN" smtClean="0"/>
              <a:t>09-03-2025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77DA9-FEE3-B79A-2D1A-4D4FC20AD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EEEEB5-2F2D-C810-0E6C-D1CE7E8B870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8F2321E-FB7B-4C43-8CE3-B68B4F09D3D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88140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libri" panose="020F0502020204030204" pitchFamily="34" charset="0"/>
          <a:ea typeface="Calibri" panose="020F0502020204030204" pitchFamily="34" charset="0"/>
          <a:cs typeface="Calibri" panose="020F050202020403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680CF9-9E42-FB1A-BA55-4A70B4ADCC3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Essentials of CyberSecurity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8073F0A-8E89-40C6-4EC4-73374D477BA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sz="3800" b="1" dirty="0"/>
              <a:t>Defences</a:t>
            </a:r>
            <a:endParaRPr lang="en-IN" sz="3800" b="1" dirty="0"/>
          </a:p>
        </p:txBody>
      </p:sp>
    </p:spTree>
    <p:extLst>
      <p:ext uri="{BB962C8B-B14F-4D97-AF65-F5344CB8AC3E}">
        <p14:creationId xmlns:p14="http://schemas.microsoft.com/office/powerpoint/2010/main" val="39839208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FD3643-A66B-5584-F694-FC5D425FB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Defences</a:t>
            </a:r>
            <a:r>
              <a:rPr lang="en-US" b="1" dirty="0"/>
              <a:t> (1/9)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9D7960-85F9-E676-76D6-5761B1E4B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algn="l"/>
            <a:r>
              <a:rPr lang="en-US" b="1" dirty="0">
                <a:solidFill>
                  <a:srgbClr val="303141"/>
                </a:solidFill>
                <a:latin typeface="Calibri"/>
                <a:ea typeface="Calibri"/>
                <a:cs typeface="Calibri"/>
              </a:rPr>
              <a:t>Firewall: </a:t>
            </a:r>
            <a:r>
              <a:rPr lang="en-US" dirty="0">
                <a:solidFill>
                  <a:srgbClr val="303141"/>
                </a:solidFill>
                <a:latin typeface="Calibri"/>
                <a:ea typeface="Calibri"/>
                <a:cs typeface="Calibri"/>
              </a:rPr>
              <a:t>a firewall is a security device that monitors incoming and outgoing network traffic.</a:t>
            </a:r>
          </a:p>
          <a:p>
            <a:pPr lvl="1"/>
            <a:r>
              <a:rPr lang="en-US" dirty="0">
                <a:solidFill>
                  <a:srgbClr val="303141"/>
                </a:solidFill>
              </a:rPr>
              <a:t>Firewall sits between two major connections if firewall – a gateway to make sure that whatever information is coming in from the internet to the company's network is safe.</a:t>
            </a:r>
          </a:p>
          <a:p>
            <a:pPr lvl="1"/>
            <a:r>
              <a:rPr lang="en-US" dirty="0">
                <a:solidFill>
                  <a:srgbClr val="303141"/>
                </a:solidFill>
              </a:rPr>
              <a:t>It also makes sure that whatever information has been sent from the company's network to the outer world is also safe and allowed.</a:t>
            </a:r>
          </a:p>
          <a:p>
            <a:pPr lvl="1"/>
            <a:r>
              <a:rPr lang="en-US" dirty="0">
                <a:solidFill>
                  <a:srgbClr val="303141"/>
                </a:solidFill>
              </a:rPr>
              <a:t>Firewalls can also be programmed to monitor traffic within the company's network.</a:t>
            </a:r>
          </a:p>
          <a:p>
            <a:pPr marL="0" indent="0" algn="l">
              <a:buNone/>
            </a:pPr>
            <a:endParaRPr lang="en-US" dirty="0">
              <a:solidFill>
                <a:srgbClr val="303141"/>
              </a:solidFill>
            </a:endParaRPr>
          </a:p>
          <a:p>
            <a:pPr marL="0" indent="0" algn="l">
              <a:buNone/>
            </a:pPr>
            <a:r>
              <a:rPr lang="en-IN" b="1" dirty="0">
                <a:solidFill>
                  <a:srgbClr val="303141"/>
                </a:solidFill>
              </a:rPr>
              <a:t>How do firewalls work?</a:t>
            </a:r>
          </a:p>
          <a:p>
            <a:pPr algn="l"/>
            <a:r>
              <a:rPr lang="en-IN" b="1" dirty="0">
                <a:solidFill>
                  <a:srgbClr val="303141"/>
                </a:solidFill>
              </a:rPr>
              <a:t>Packet filtering</a:t>
            </a:r>
            <a:r>
              <a:rPr lang="en-IN" dirty="0">
                <a:solidFill>
                  <a:srgbClr val="303141"/>
                </a:solidFill>
              </a:rPr>
              <a:t>: Where the </a:t>
            </a:r>
            <a:r>
              <a:rPr lang="en-US" dirty="0">
                <a:solidFill>
                  <a:srgbClr val="303141"/>
                </a:solidFill>
              </a:rPr>
              <a:t>firewall inspects each packet of data.</a:t>
            </a:r>
          </a:p>
          <a:p>
            <a:pPr algn="l"/>
            <a:r>
              <a:rPr lang="en-US" b="1" dirty="0">
                <a:solidFill>
                  <a:srgbClr val="303141"/>
                </a:solidFill>
                <a:latin typeface="Calibri"/>
                <a:ea typeface="Calibri"/>
                <a:cs typeface="Calibri"/>
              </a:rPr>
              <a:t>Proxy service</a:t>
            </a:r>
            <a:r>
              <a:rPr lang="en-US" dirty="0">
                <a:solidFill>
                  <a:srgbClr val="303141"/>
                </a:solidFill>
                <a:latin typeface="Calibri"/>
                <a:ea typeface="Calibri"/>
                <a:cs typeface="Calibri"/>
              </a:rPr>
              <a:t>: Where the firewall simply stands in between two systems or more, and simply acts as the intermediary.</a:t>
            </a:r>
          </a:p>
          <a:p>
            <a:pPr algn="l"/>
            <a:r>
              <a:rPr lang="en-IN" b="1" dirty="0">
                <a:solidFill>
                  <a:srgbClr val="303141"/>
                </a:solidFill>
                <a:latin typeface="Calibri"/>
                <a:ea typeface="Calibri"/>
                <a:cs typeface="Calibri"/>
              </a:rPr>
              <a:t>The stateful inspection: </a:t>
            </a:r>
            <a:r>
              <a:rPr lang="en-IN" dirty="0">
                <a:solidFill>
                  <a:srgbClr val="303141"/>
                </a:solidFill>
                <a:latin typeface="Calibri"/>
                <a:ea typeface="Calibri"/>
                <a:cs typeface="Calibri"/>
              </a:rPr>
              <a:t>Where the </a:t>
            </a:r>
            <a:r>
              <a:rPr lang="en-US" dirty="0">
                <a:solidFill>
                  <a:srgbClr val="303141"/>
                </a:solidFill>
                <a:latin typeface="Calibri"/>
                <a:ea typeface="Calibri"/>
                <a:cs typeface="Calibri"/>
              </a:rPr>
              <a:t>firewall actually tracks the state of a connection between systems.</a:t>
            </a:r>
          </a:p>
          <a:p>
            <a:pPr marL="0" indent="0" algn="l">
              <a:buNone/>
            </a:pPr>
            <a:endParaRPr lang="en-US" b="0" i="0" dirty="0">
              <a:solidFill>
                <a:srgbClr val="303141"/>
              </a:solidFill>
              <a:effectLst/>
              <a:latin typeface="Udemy Sans"/>
            </a:endParaRPr>
          </a:p>
          <a:p>
            <a:pPr algn="l"/>
            <a:endParaRPr lang="en-US" b="0" i="0" dirty="0">
              <a:solidFill>
                <a:srgbClr val="303141"/>
              </a:solidFill>
              <a:effectLst/>
              <a:latin typeface="Udemy Sans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4240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B72123-9C68-0CE5-629A-F7CF95E23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Defences</a:t>
            </a:r>
            <a:r>
              <a:rPr lang="en-US" b="1" dirty="0"/>
              <a:t> (2/9)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AEA77A-E7FE-276C-DDB7-EC1B18B695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2200" b="1" dirty="0"/>
              <a:t>Types of Firewall:</a:t>
            </a:r>
          </a:p>
          <a:p>
            <a:pPr algn="l"/>
            <a:r>
              <a:rPr lang="en-US" b="1" dirty="0">
                <a:solidFill>
                  <a:srgbClr val="303141"/>
                </a:solidFill>
                <a:latin typeface="Udemy Sans"/>
              </a:rPr>
              <a:t>Hardware Firewall: 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This could be standalone hardware device or it could be built into network devices like switches and routers.</a:t>
            </a:r>
          </a:p>
          <a:p>
            <a:pPr algn="l"/>
            <a:r>
              <a:rPr lang="en-US" b="1" dirty="0">
                <a:solidFill>
                  <a:srgbClr val="303141"/>
                </a:solidFill>
                <a:latin typeface="Udemy Sans"/>
              </a:rPr>
              <a:t>Software Firewall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: This could be </a:t>
            </a:r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a standalone application or simply part of a security application, like an antivirus.</a:t>
            </a:r>
          </a:p>
          <a:p>
            <a:pPr marL="0" indent="0" algn="l">
              <a:buNone/>
            </a:pPr>
            <a:endParaRPr lang="en-US" dirty="0">
              <a:solidFill>
                <a:srgbClr val="303141"/>
              </a:solidFill>
              <a:latin typeface="Udemy Sans"/>
            </a:endParaRPr>
          </a:p>
          <a:p>
            <a:pPr algn="l"/>
            <a:r>
              <a:rPr lang="en-US" b="1" dirty="0">
                <a:solidFill>
                  <a:srgbClr val="303141"/>
                </a:solidFill>
                <a:latin typeface="Udemy Sans"/>
              </a:rPr>
              <a:t>Encryption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: Encryption is a process of making information hidden or secretive. Only people with the right access should be be able to view that information.</a:t>
            </a:r>
          </a:p>
          <a:p>
            <a:pPr algn="l"/>
            <a:r>
              <a:rPr lang="en-IN" b="1" dirty="0">
                <a:solidFill>
                  <a:srgbClr val="303141"/>
                </a:solidFill>
                <a:latin typeface="Udemy Sans"/>
              </a:rPr>
              <a:t>Cipher: </a:t>
            </a:r>
            <a:r>
              <a:rPr lang="en-IN" dirty="0">
                <a:solidFill>
                  <a:srgbClr val="303141"/>
                </a:solidFill>
                <a:latin typeface="Udemy Sans"/>
              </a:rPr>
              <a:t>C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ipher is a term used to refer to encrypted messages.</a:t>
            </a:r>
          </a:p>
          <a:p>
            <a:pPr algn="l"/>
            <a:r>
              <a:rPr lang="en-IN" b="1" dirty="0">
                <a:solidFill>
                  <a:srgbClr val="303141"/>
                </a:solidFill>
                <a:latin typeface="Udemy Sans"/>
              </a:rPr>
              <a:t>Decryption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: Is to use a key to unlock the cipher and then make it accessible again.</a:t>
            </a:r>
          </a:p>
          <a:p>
            <a:pPr algn="l"/>
            <a:r>
              <a:rPr lang="en-IN" b="1" dirty="0">
                <a:solidFill>
                  <a:srgbClr val="303141"/>
                </a:solidFill>
                <a:latin typeface="Udemy Sans"/>
              </a:rPr>
              <a:t>Cryptography</a:t>
            </a:r>
            <a:r>
              <a:rPr lang="en-IN" dirty="0">
                <a:solidFill>
                  <a:srgbClr val="303141"/>
                </a:solidFill>
                <a:latin typeface="Udemy Sans"/>
              </a:rPr>
              <a:t>: I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s the study, or science, concerned with secret communication.</a:t>
            </a:r>
          </a:p>
          <a:p>
            <a:pPr algn="l"/>
            <a:endParaRPr lang="en-US" b="0" i="0" dirty="0">
              <a:solidFill>
                <a:srgbClr val="303141"/>
              </a:solidFill>
              <a:effectLst/>
              <a:latin typeface="Udemy Sans"/>
            </a:endParaRPr>
          </a:p>
          <a:p>
            <a:pPr marL="0" indent="0" algn="l">
              <a:buNone/>
            </a:pPr>
            <a:endParaRPr lang="en-US" dirty="0">
              <a:solidFill>
                <a:srgbClr val="303141"/>
              </a:solidFill>
              <a:latin typeface="Udemy Sans"/>
            </a:endParaRPr>
          </a:p>
          <a:p>
            <a:pPr marL="0" indent="0">
              <a:buNone/>
            </a:pPr>
            <a:endParaRPr lang="en-US" sz="2200" dirty="0"/>
          </a:p>
          <a:p>
            <a:pPr marL="0" indent="0">
              <a:buNone/>
            </a:pPr>
            <a:endParaRPr lang="en-IN" sz="22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20192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888494-2AF0-0A6A-306B-870A60668F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2800" b="1" dirty="0"/>
              <a:t>Defences</a:t>
            </a:r>
            <a:r>
              <a:rPr lang="en-US" b="1" dirty="0"/>
              <a:t> (3/9)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225A2-94B3-959D-4459-5068BFE045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16154"/>
            <a:ext cx="10191750" cy="520939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Types of Encryption: </a:t>
            </a:r>
          </a:p>
          <a:p>
            <a:pPr algn="l"/>
            <a:r>
              <a:rPr lang="en-IN" b="1" dirty="0"/>
              <a:t>Asymmetric Encryption</a:t>
            </a:r>
            <a:r>
              <a:rPr lang="en-IN" dirty="0"/>
              <a:t>: </a:t>
            </a:r>
            <a:r>
              <a:rPr lang="en-US" dirty="0"/>
              <a:t>Uses two different keys for encrypting and decrypting</a:t>
            </a:r>
          </a:p>
          <a:p>
            <a:r>
              <a:rPr lang="en-IN" dirty="0"/>
              <a:t> </a:t>
            </a:r>
            <a:r>
              <a:rPr lang="en-IN" b="1" dirty="0"/>
              <a:t>Symmetric Encryption</a:t>
            </a:r>
            <a:r>
              <a:rPr lang="en-US" dirty="0"/>
              <a:t>: Uses </a:t>
            </a:r>
            <a:r>
              <a:rPr lang="en-IN" dirty="0"/>
              <a:t>just one single key.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 3 major few types of asymmetric encryption</a:t>
            </a:r>
            <a:endParaRPr lang="en-IN" b="1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Rivest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Shamir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Adleman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US" b="1" dirty="0"/>
              <a:t> 2 major few types of Symmetric encryption</a:t>
            </a:r>
            <a:endParaRPr lang="en-IN" b="1" dirty="0"/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DES ( Data Encryption Standard,)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/>
              <a:t>AES (Advanced Encryption Standard)</a:t>
            </a:r>
          </a:p>
          <a:p>
            <a:pPr marL="0" indent="0">
              <a:buNone/>
            </a:pP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39297963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D5084D-1900-9222-13D2-31D63F3FE7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Defences </a:t>
            </a:r>
            <a:r>
              <a:rPr lang="en-US" b="1" dirty="0"/>
              <a:t>(4/9)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D87F45-E947-CCBF-AF79-45569CE22F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97868"/>
            <a:ext cx="10515600" cy="5209399"/>
          </a:xfrm>
        </p:spPr>
        <p:txBody>
          <a:bodyPr/>
          <a:lstStyle/>
          <a:p>
            <a:pPr marL="0" indent="0" algn="l">
              <a:buNone/>
            </a:pPr>
            <a:r>
              <a:rPr lang="en-US" b="1" dirty="0"/>
              <a:t>Biometrics: </a:t>
            </a:r>
          </a:p>
          <a:p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Biometrics is a security mechanism used to authenticate and provide access based on the verification of physical characteristics.</a:t>
            </a:r>
          </a:p>
          <a:p>
            <a:r>
              <a:rPr lang="en-IN" dirty="0">
                <a:solidFill>
                  <a:srgbClr val="303141"/>
                </a:solidFill>
                <a:latin typeface="Udemy Sans"/>
              </a:rPr>
              <a:t>Biometrics: 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involve a database that stores the biometric data for comparison.</a:t>
            </a:r>
          </a:p>
          <a:p>
            <a:pPr marL="0" indent="0" algn="l">
              <a:buNone/>
            </a:pPr>
            <a:endParaRPr lang="en-US" dirty="0">
              <a:solidFill>
                <a:srgbClr val="303141"/>
              </a:solidFill>
              <a:latin typeface="Udemy Sans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303141"/>
                </a:solidFill>
                <a:latin typeface="Udemy Sans"/>
              </a:rPr>
              <a:t>Assumption is that </a:t>
            </a:r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everyone is unique in one way or the other.</a:t>
            </a:r>
          </a:p>
          <a:p>
            <a:pPr marL="0" indent="0" algn="l">
              <a:buNone/>
            </a:pPr>
            <a:r>
              <a:rPr lang="en-IN" b="0" i="0" dirty="0">
                <a:solidFill>
                  <a:srgbClr val="303141"/>
                </a:solidFill>
                <a:effectLst/>
                <a:latin typeface="Udemy Sans"/>
              </a:rPr>
              <a:t>Two general biometric identifiers: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b="0" i="0" dirty="0">
                <a:solidFill>
                  <a:srgbClr val="303141"/>
                </a:solidFill>
                <a:effectLst/>
                <a:latin typeface="Udemy Sans"/>
              </a:rPr>
              <a:t>Physiological characteristics</a:t>
            </a:r>
            <a:endParaRPr lang="en-IN" dirty="0">
              <a:solidFill>
                <a:srgbClr val="303141"/>
              </a:solidFill>
              <a:latin typeface="Udemy Sans"/>
            </a:endParaRPr>
          </a:p>
          <a:p>
            <a:pPr marL="457200" indent="-457200" algn="l">
              <a:buFont typeface="+mj-lt"/>
              <a:buAutoNum type="arabicPeriod"/>
            </a:pPr>
            <a:r>
              <a:rPr lang="en-IN" dirty="0">
                <a:solidFill>
                  <a:srgbClr val="303141"/>
                </a:solidFill>
                <a:latin typeface="Udemy Sans"/>
              </a:rPr>
              <a:t>Behaviour</a:t>
            </a:r>
            <a:r>
              <a:rPr lang="en-IN" b="0" i="0" dirty="0">
                <a:solidFill>
                  <a:srgbClr val="303141"/>
                </a:solidFill>
                <a:effectLst/>
                <a:latin typeface="Udemy Sans"/>
              </a:rPr>
              <a:t> of our characteristics</a:t>
            </a:r>
          </a:p>
          <a:p>
            <a:pPr marL="0" indent="0" algn="l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2602771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C2FC16-7B54-6D1F-C819-43A2627CE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Defences</a:t>
            </a:r>
            <a:r>
              <a:rPr lang="en-US" b="1" dirty="0"/>
              <a:t> (5/9)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285D95-FD73-23F8-C695-19235C032A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070434"/>
            <a:ext cx="10515600" cy="5209399"/>
          </a:xfrm>
        </p:spPr>
        <p:txBody>
          <a:bodyPr>
            <a:normAutofit lnSpcReduction="10000"/>
          </a:bodyPr>
          <a:lstStyle/>
          <a:p>
            <a:pPr marL="0" indent="0" algn="l">
              <a:buNone/>
            </a:pPr>
            <a:r>
              <a:rPr lang="en-US" b="1" dirty="0">
                <a:solidFill>
                  <a:srgbClr val="303141"/>
                </a:solidFill>
              </a:rPr>
              <a:t>Antivirus: </a:t>
            </a:r>
            <a:r>
              <a:rPr lang="en-US" dirty="0">
                <a:solidFill>
                  <a:srgbClr val="303141"/>
                </a:solidFill>
              </a:rPr>
              <a:t>antivirus is a software that is used to protect a computer from malware.</a:t>
            </a:r>
          </a:p>
          <a:p>
            <a:pPr marL="0" indent="0" algn="l">
              <a:buNone/>
            </a:pPr>
            <a:endParaRPr lang="en-US" dirty="0">
              <a:solidFill>
                <a:srgbClr val="303141"/>
              </a:solidFill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303141"/>
                </a:solidFill>
              </a:rPr>
              <a:t>How does an antivirus identify a virus?</a:t>
            </a:r>
          </a:p>
          <a:p>
            <a:pPr algn="l"/>
            <a:r>
              <a:rPr lang="en-IN" dirty="0">
                <a:solidFill>
                  <a:srgbClr val="303141"/>
                </a:solidFill>
              </a:rPr>
              <a:t>First rule</a:t>
            </a:r>
            <a:r>
              <a:rPr lang="en-US" dirty="0">
                <a:solidFill>
                  <a:srgbClr val="303141"/>
                </a:solidFill>
              </a:rPr>
              <a:t> is to use </a:t>
            </a:r>
            <a:r>
              <a:rPr lang="en-US" b="1" dirty="0">
                <a:solidFill>
                  <a:srgbClr val="303141"/>
                </a:solidFill>
              </a:rPr>
              <a:t>signature</a:t>
            </a:r>
            <a:r>
              <a:rPr lang="en-US" dirty="0">
                <a:solidFill>
                  <a:srgbClr val="303141"/>
                </a:solidFill>
              </a:rPr>
              <a:t>: a signature refers to a pattern of data or behavior that is known to be related to an already identified malware.</a:t>
            </a:r>
          </a:p>
          <a:p>
            <a:pPr algn="l"/>
            <a:r>
              <a:rPr lang="en-US" dirty="0">
                <a:solidFill>
                  <a:srgbClr val="303141"/>
                </a:solidFill>
              </a:rPr>
              <a:t>Second rule is to </a:t>
            </a:r>
            <a:r>
              <a:rPr lang="en-IN" dirty="0">
                <a:solidFill>
                  <a:srgbClr val="303141"/>
                </a:solidFill>
              </a:rPr>
              <a:t>the antivirus is to </a:t>
            </a:r>
            <a:r>
              <a:rPr lang="en-IN" b="1" dirty="0">
                <a:solidFill>
                  <a:srgbClr val="303141"/>
                </a:solidFill>
              </a:rPr>
              <a:t>use the </a:t>
            </a:r>
            <a:r>
              <a:rPr lang="en-US" b="1" dirty="0">
                <a:solidFill>
                  <a:srgbClr val="303141"/>
                </a:solidFill>
              </a:rPr>
              <a:t>Heuristic method </a:t>
            </a:r>
            <a:r>
              <a:rPr lang="en-US" dirty="0">
                <a:solidFill>
                  <a:srgbClr val="303141"/>
                </a:solidFill>
              </a:rPr>
              <a:t>where the antivirus is able to predict that a file is malicious by simply storing its behavior. (by Sandboxing)</a:t>
            </a:r>
          </a:p>
          <a:p>
            <a:pPr marL="0" indent="0" algn="l">
              <a:buNone/>
            </a:pPr>
            <a:endParaRPr lang="en-US" dirty="0">
              <a:solidFill>
                <a:srgbClr val="303141"/>
              </a:solidFill>
            </a:endParaRPr>
          </a:p>
          <a:p>
            <a:pPr marL="0" indent="0" algn="l">
              <a:buNone/>
            </a:pPr>
            <a:r>
              <a:rPr lang="en-US" b="1" dirty="0">
                <a:solidFill>
                  <a:srgbClr val="303141"/>
                </a:solidFill>
              </a:rPr>
              <a:t>F</a:t>
            </a:r>
            <a:r>
              <a:rPr lang="en-IN" b="1" dirty="0">
                <a:solidFill>
                  <a:srgbClr val="303141"/>
                </a:solidFill>
              </a:rPr>
              <a:t>alse positive</a:t>
            </a:r>
            <a:r>
              <a:rPr lang="en-IN" dirty="0">
                <a:solidFill>
                  <a:srgbClr val="303141"/>
                </a:solidFill>
              </a:rPr>
              <a:t>: </a:t>
            </a:r>
            <a:r>
              <a:rPr lang="en-US" dirty="0">
                <a:solidFill>
                  <a:srgbClr val="303141"/>
                </a:solidFill>
              </a:rPr>
              <a:t>A legitimate program was wrongly classified as a malware.</a:t>
            </a:r>
          </a:p>
          <a:p>
            <a:pPr marL="0" indent="0" algn="l">
              <a:buNone/>
            </a:pPr>
            <a:endParaRPr lang="en-US" dirty="0">
              <a:solidFill>
                <a:srgbClr val="303141"/>
              </a:solidFill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303141"/>
                </a:solidFill>
              </a:rPr>
              <a:t>Two types of antivirus actions: 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IN" b="1" dirty="0">
                <a:solidFill>
                  <a:srgbClr val="303141"/>
                </a:solidFill>
              </a:rPr>
              <a:t>On Access Scanning</a:t>
            </a:r>
            <a:r>
              <a:rPr lang="en-US" dirty="0">
                <a:solidFill>
                  <a:srgbClr val="303141"/>
                </a:solidFill>
              </a:rPr>
              <a:t>: where the antivirus constantly checks every file or program that is open.</a:t>
            </a:r>
          </a:p>
          <a:p>
            <a:pPr marL="457200" indent="-457200" algn="l">
              <a:buFont typeface="+mj-lt"/>
              <a:buAutoNum type="arabicPeriod"/>
            </a:pPr>
            <a:r>
              <a:rPr lang="en-US" b="1" dirty="0">
                <a:solidFill>
                  <a:srgbClr val="303141"/>
                </a:solidFill>
              </a:rPr>
              <a:t>Full System Scan</a:t>
            </a:r>
            <a:r>
              <a:rPr lang="en-US" dirty="0">
                <a:solidFill>
                  <a:srgbClr val="303141"/>
                </a:solidFill>
              </a:rPr>
              <a:t>: where the antivirus would want a full system scan.</a:t>
            </a:r>
          </a:p>
          <a:p>
            <a:pPr algn="l"/>
            <a:endParaRPr lang="en-US" b="0" i="0" dirty="0">
              <a:solidFill>
                <a:srgbClr val="303141"/>
              </a:solidFill>
              <a:effectLst/>
              <a:latin typeface="Udemy Sans"/>
            </a:endParaRPr>
          </a:p>
          <a:p>
            <a:pPr marL="0" indent="0" algn="l">
              <a:buNone/>
            </a:pPr>
            <a:endParaRPr lang="en-US" b="0" i="0" u="sng" dirty="0">
              <a:solidFill>
                <a:srgbClr val="521E9F"/>
              </a:solidFill>
              <a:effectLst/>
              <a:latin typeface="Udemy Sans"/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777237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83397-C1BB-0FCC-EFE5-DE55182F72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Defences</a:t>
            </a:r>
            <a:r>
              <a:rPr lang="en-US" b="1" dirty="0"/>
              <a:t> (6/9)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6BE523-5CE5-2093-BBA1-E07BC354A3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39014"/>
            <a:ext cx="10515600" cy="5209399"/>
          </a:xfrm>
        </p:spPr>
        <p:txBody>
          <a:bodyPr/>
          <a:lstStyle/>
          <a:p>
            <a:pPr algn="l"/>
            <a:r>
              <a:rPr lang="en-US" dirty="0">
                <a:solidFill>
                  <a:srgbClr val="303141"/>
                </a:solidFill>
                <a:latin typeface="Udemy Sans"/>
              </a:rPr>
              <a:t>Different antivirus systems will have different rates of detection.</a:t>
            </a:r>
          </a:p>
          <a:p>
            <a:pPr algn="l"/>
            <a:r>
              <a:rPr lang="en-US" dirty="0">
                <a:solidFill>
                  <a:srgbClr val="303141"/>
                </a:solidFill>
                <a:latin typeface="Udemy Sans"/>
              </a:rPr>
              <a:t>Some antiviruses would use lots of system resources </a:t>
            </a:r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like the processor, the memory, while others would not use quite as much.</a:t>
            </a:r>
          </a:p>
          <a:p>
            <a:pPr algn="l"/>
            <a:endParaRPr lang="en-US" dirty="0">
              <a:solidFill>
                <a:srgbClr val="303141"/>
              </a:solidFill>
              <a:latin typeface="Udemy Sans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303141"/>
                </a:solidFill>
                <a:latin typeface="Udemy Sans"/>
              </a:rPr>
              <a:t>Authentication methods: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rgbClr val="303141"/>
                </a:solidFill>
                <a:latin typeface="Udemy Sans"/>
              </a:rPr>
              <a:t>T</a:t>
            </a:r>
            <a:r>
              <a:rPr lang="en-IN" b="0" i="0" dirty="0">
                <a:solidFill>
                  <a:srgbClr val="303141"/>
                </a:solidFill>
                <a:effectLst/>
                <a:latin typeface="Udemy Sans"/>
              </a:rPr>
              <a:t>wo-factor authentication does improve security but is not foolproof.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rgbClr val="303141"/>
                </a:solidFill>
                <a:latin typeface="Udemy Sans"/>
              </a:rPr>
              <a:t>Three-factor is an improvement. 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rgbClr val="303141"/>
                </a:solidFill>
                <a:latin typeface="Udemy Sans"/>
              </a:rPr>
              <a:t>M</a:t>
            </a:r>
            <a:r>
              <a:rPr lang="en-IN" b="0" i="0" dirty="0">
                <a:solidFill>
                  <a:srgbClr val="303141"/>
                </a:solidFill>
                <a:effectLst/>
                <a:latin typeface="Udemy Sans"/>
              </a:rPr>
              <a:t>ulti-factor authentication </a:t>
            </a:r>
            <a:r>
              <a:rPr lang="en-IN" dirty="0">
                <a:solidFill>
                  <a:srgbClr val="303141"/>
                </a:solidFill>
                <a:latin typeface="Udemy Sans"/>
              </a:rPr>
              <a:t>can include: </a:t>
            </a:r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a time and location factor</a:t>
            </a:r>
            <a:r>
              <a:rPr lang="en-IN" dirty="0">
                <a:solidFill>
                  <a:srgbClr val="303141"/>
                </a:solidFill>
                <a:latin typeface="Udemy Sans"/>
              </a:rPr>
              <a:t>, inherence factor, knowledge factor and possession factor. </a:t>
            </a:r>
          </a:p>
        </p:txBody>
      </p:sp>
    </p:spTree>
    <p:extLst>
      <p:ext uri="{BB962C8B-B14F-4D97-AF65-F5344CB8AC3E}">
        <p14:creationId xmlns:p14="http://schemas.microsoft.com/office/powerpoint/2010/main" val="37915423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BA186-4958-CBB1-C488-AEE1DCF47D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Defences</a:t>
            </a:r>
            <a:r>
              <a:rPr lang="en-US" b="1" dirty="0"/>
              <a:t> (7/9)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98E5C6B-9B92-4496-9E90-E948AC14F9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Honeypot is computer system or network that acts as a decoy to lure cyber criminals. So, the main objective here is to study the attempts by the cyber criminals to gain unauthorized access.</a:t>
            </a:r>
          </a:p>
          <a:p>
            <a:pPr marL="0" indent="0">
              <a:buNone/>
            </a:pPr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Two major types of Honeypots:</a:t>
            </a:r>
          </a:p>
          <a:p>
            <a:pPr algn="l"/>
            <a:r>
              <a:rPr lang="en-IN" b="1" dirty="0">
                <a:solidFill>
                  <a:srgbClr val="303141"/>
                </a:solidFill>
                <a:latin typeface="Udemy Sans"/>
              </a:rPr>
              <a:t>Production Honeypot: </a:t>
            </a:r>
            <a:r>
              <a:rPr lang="en-IN" dirty="0">
                <a:solidFill>
                  <a:srgbClr val="303141"/>
                </a:solidFill>
                <a:latin typeface="Udemy Sans"/>
              </a:rPr>
              <a:t>T</a:t>
            </a:r>
            <a:r>
              <a:rPr lang="en-US" i="0" dirty="0">
                <a:solidFill>
                  <a:srgbClr val="303141"/>
                </a:solidFill>
                <a:effectLst/>
                <a:latin typeface="Udemy Sans"/>
              </a:rPr>
              <a:t>hese </a:t>
            </a:r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are placed inside of a real production network. They are put in there, along with real servers and real networks, </a:t>
            </a:r>
          </a:p>
          <a:p>
            <a:pPr algn="l"/>
            <a:r>
              <a:rPr lang="en-IN" b="1" dirty="0">
                <a:solidFill>
                  <a:srgbClr val="303141"/>
                </a:solidFill>
                <a:latin typeface="Udemy Sans"/>
              </a:rPr>
              <a:t>Research Honeypot</a:t>
            </a:r>
            <a:r>
              <a:rPr lang="en-IN" dirty="0">
                <a:solidFill>
                  <a:srgbClr val="303141"/>
                </a:solidFill>
                <a:latin typeface="Udemy Sans"/>
              </a:rPr>
              <a:t>: These are </a:t>
            </a:r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run to enable a close analysis of how attacks develop and progress</a:t>
            </a:r>
          </a:p>
          <a:p>
            <a:pPr marL="0" indent="0" algn="l">
              <a:buNone/>
            </a:pPr>
            <a:endParaRPr lang="en-US" b="1" dirty="0">
              <a:solidFill>
                <a:srgbClr val="303141"/>
              </a:solidFill>
              <a:latin typeface="Udemy Sans"/>
            </a:endParaRPr>
          </a:p>
          <a:p>
            <a:pPr marL="0" indent="0" algn="l">
              <a:buNone/>
            </a:pPr>
            <a:r>
              <a:rPr lang="en-US" b="1" dirty="0">
                <a:solidFill>
                  <a:srgbClr val="303141"/>
                </a:solidFill>
                <a:latin typeface="Udemy Sans"/>
              </a:rPr>
              <a:t>A</a:t>
            </a:r>
            <a:r>
              <a:rPr lang="en-US" b="1" i="0" dirty="0">
                <a:solidFill>
                  <a:srgbClr val="303141"/>
                </a:solidFill>
                <a:effectLst/>
                <a:latin typeface="Udemy Sans"/>
              </a:rPr>
              <a:t> </a:t>
            </a:r>
            <a:r>
              <a:rPr lang="en-US" b="1" dirty="0">
                <a:solidFill>
                  <a:srgbClr val="303141"/>
                </a:solidFill>
                <a:latin typeface="Udemy Sans"/>
              </a:rPr>
              <a:t>D</a:t>
            </a:r>
            <a:r>
              <a:rPr lang="en-US" b="1" i="0" dirty="0">
                <a:solidFill>
                  <a:srgbClr val="303141"/>
                </a:solidFill>
                <a:effectLst/>
                <a:latin typeface="Udemy Sans"/>
              </a:rPr>
              <a:t>emilitarized </a:t>
            </a:r>
            <a:r>
              <a:rPr lang="en-US" b="1" dirty="0">
                <a:solidFill>
                  <a:srgbClr val="303141"/>
                </a:solidFill>
                <a:latin typeface="Udemy Sans"/>
              </a:rPr>
              <a:t>Z</a:t>
            </a:r>
            <a:r>
              <a:rPr lang="en-US" b="1" i="0" dirty="0">
                <a:solidFill>
                  <a:srgbClr val="303141"/>
                </a:solidFill>
                <a:effectLst/>
                <a:latin typeface="Udemy Sans"/>
              </a:rPr>
              <a:t>one (DMZ) </a:t>
            </a:r>
            <a:r>
              <a:rPr lang="en-US" b="0" i="0" dirty="0">
                <a:solidFill>
                  <a:srgbClr val="303141"/>
                </a:solidFill>
                <a:effectLst/>
                <a:latin typeface="Udemy Sans"/>
              </a:rPr>
              <a:t>is a physical, or a logical, sub-network that separates a local 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area network from other untrusted networks. The real objective behind DMZs is to add an additional layer of security.</a:t>
            </a:r>
          </a:p>
          <a:p>
            <a:pPr algn="l"/>
            <a:endParaRPr lang="en-US" b="0" i="0" u="sng" dirty="0">
              <a:solidFill>
                <a:srgbClr val="521E9F"/>
              </a:solidFill>
              <a:effectLst/>
              <a:latin typeface="Udemy Sans"/>
            </a:endParaRPr>
          </a:p>
          <a:p>
            <a:pPr algn="l"/>
            <a:endParaRPr lang="en-US" b="0" i="0" dirty="0">
              <a:solidFill>
                <a:srgbClr val="303141"/>
              </a:solidFill>
              <a:effectLst/>
              <a:latin typeface="Udemy Sans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303141"/>
              </a:solidFill>
              <a:latin typeface="Udemy Sans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0591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2BAB28-7F8D-44C2-7648-1DD1958301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Defences</a:t>
            </a:r>
            <a:r>
              <a:rPr lang="en-US" b="1" dirty="0"/>
              <a:t> (8/9)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FED0FD-0B69-074E-AD21-81E244968E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l">
              <a:buNone/>
            </a:pPr>
            <a:r>
              <a:rPr lang="en-US" b="1" dirty="0">
                <a:solidFill>
                  <a:srgbClr val="303141"/>
                </a:solidFill>
                <a:latin typeface="Udemy Sans"/>
              </a:rPr>
              <a:t>Wireless security 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is the prevention of unauthorized access, but it could also be the prevention of damage to computers using wireless networks.</a:t>
            </a:r>
          </a:p>
          <a:p>
            <a:pPr marL="0" indent="0">
              <a:buNone/>
            </a:pPr>
            <a:endParaRPr lang="en-US" dirty="0">
              <a:solidFill>
                <a:srgbClr val="303141"/>
              </a:solidFill>
              <a:latin typeface="Udemy Sans"/>
            </a:endParaRPr>
          </a:p>
          <a:p>
            <a:pPr marL="0" indent="0">
              <a:buNone/>
            </a:pPr>
            <a:r>
              <a:rPr lang="en-US" dirty="0">
                <a:solidFill>
                  <a:srgbClr val="303141"/>
                </a:solidFill>
                <a:latin typeface="Udemy Sans"/>
              </a:rPr>
              <a:t>There are two main objectives that wireless security tries to achieve:</a:t>
            </a: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rgbClr val="303141"/>
                </a:solidFill>
                <a:latin typeface="Udemy Sans"/>
              </a:rPr>
              <a:t>Encryption</a:t>
            </a:r>
            <a:endParaRPr lang="en-US" dirty="0">
              <a:solidFill>
                <a:srgbClr val="303141"/>
              </a:solidFill>
              <a:latin typeface="Udemy Sans"/>
            </a:endParaRPr>
          </a:p>
          <a:p>
            <a:pPr marL="457200" indent="-457200">
              <a:buFont typeface="+mj-lt"/>
              <a:buAutoNum type="arabicPeriod"/>
            </a:pPr>
            <a:r>
              <a:rPr lang="en-IN" dirty="0">
                <a:solidFill>
                  <a:srgbClr val="303141"/>
                </a:solidFill>
                <a:latin typeface="Udemy Sans"/>
              </a:rPr>
              <a:t>Authentication</a:t>
            </a:r>
          </a:p>
        </p:txBody>
      </p:sp>
    </p:spTree>
    <p:extLst>
      <p:ext uri="{BB962C8B-B14F-4D97-AF65-F5344CB8AC3E}">
        <p14:creationId xmlns:p14="http://schemas.microsoft.com/office/powerpoint/2010/main" val="7796494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97CBB-26EA-C48F-1483-DEF6A1031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2800" b="1" dirty="0"/>
              <a:t>Defences</a:t>
            </a:r>
            <a:r>
              <a:rPr lang="en-US" b="1" dirty="0"/>
              <a:t> (9/9)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6624F-9A89-3635-155E-C35363C59E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4724"/>
            <a:ext cx="10515600" cy="5209399"/>
          </a:xfrm>
        </p:spPr>
        <p:txBody>
          <a:bodyPr/>
          <a:lstStyle/>
          <a:p>
            <a:pPr marL="0" indent="0" algn="l">
              <a:buNone/>
            </a:pPr>
            <a:r>
              <a:rPr lang="en-US" dirty="0">
                <a:solidFill>
                  <a:srgbClr val="303141"/>
                </a:solidFill>
                <a:latin typeface="Udemy Sans"/>
              </a:rPr>
              <a:t>Actual protocols for Wireless Security:</a:t>
            </a:r>
          </a:p>
          <a:p>
            <a:pPr algn="l"/>
            <a:r>
              <a:rPr lang="en-US" b="1" dirty="0">
                <a:solidFill>
                  <a:srgbClr val="303141"/>
                </a:solidFill>
                <a:latin typeface="Udemy Sans"/>
              </a:rPr>
              <a:t>WEP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: W</a:t>
            </a:r>
            <a:r>
              <a:rPr lang="en-IN" dirty="0">
                <a:solidFill>
                  <a:srgbClr val="303141"/>
                </a:solidFill>
                <a:latin typeface="Udemy Sans"/>
              </a:rPr>
              <a:t>ired Equivalent Privacy</a:t>
            </a:r>
            <a:endParaRPr lang="en-US" dirty="0">
              <a:solidFill>
                <a:srgbClr val="303141"/>
              </a:solidFill>
              <a:latin typeface="Udemy Sans"/>
            </a:endParaRPr>
          </a:p>
          <a:p>
            <a:pPr algn="l"/>
            <a:r>
              <a:rPr lang="en-US" b="1" dirty="0">
                <a:solidFill>
                  <a:srgbClr val="303141"/>
                </a:solidFill>
                <a:latin typeface="Udemy Sans"/>
              </a:rPr>
              <a:t>WPA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: </a:t>
            </a:r>
            <a:r>
              <a:rPr lang="en-IN" dirty="0">
                <a:solidFill>
                  <a:srgbClr val="303141"/>
                </a:solidFill>
                <a:latin typeface="Udemy Sans"/>
              </a:rPr>
              <a:t>Wi-Fi Protected Access </a:t>
            </a:r>
            <a:endParaRPr lang="en-US" dirty="0">
              <a:solidFill>
                <a:srgbClr val="303141"/>
              </a:solidFill>
              <a:latin typeface="Udemy Sans"/>
            </a:endParaRPr>
          </a:p>
          <a:p>
            <a:pPr algn="l"/>
            <a:r>
              <a:rPr lang="en-US" b="1" dirty="0">
                <a:solidFill>
                  <a:srgbClr val="303141"/>
                </a:solidFill>
                <a:latin typeface="Udemy Sans"/>
              </a:rPr>
              <a:t>WPA v2 &amp; v3</a:t>
            </a:r>
            <a:r>
              <a:rPr lang="en-US" dirty="0">
                <a:solidFill>
                  <a:srgbClr val="303141"/>
                </a:solidFill>
                <a:latin typeface="Udemy Sans"/>
              </a:rPr>
              <a:t>: Uses the advanced encryption standard, AES.</a:t>
            </a:r>
          </a:p>
          <a:p>
            <a:pPr marL="0" indent="0" algn="l">
              <a:buNone/>
            </a:pPr>
            <a:endParaRPr lang="en-US" b="0" i="0" dirty="0">
              <a:solidFill>
                <a:srgbClr val="303141"/>
              </a:solidFill>
              <a:effectLst/>
              <a:latin typeface="Udemy Sans"/>
            </a:endParaRPr>
          </a:p>
          <a:p>
            <a:pPr marL="0" indent="0" algn="l">
              <a:buNone/>
            </a:pPr>
            <a:r>
              <a:rPr lang="en-US" dirty="0">
                <a:solidFill>
                  <a:srgbClr val="303141"/>
                </a:solidFill>
                <a:latin typeface="Udemy Sans"/>
              </a:rPr>
              <a:t>Passphrases are typically a lot longer in length than a password. </a:t>
            </a:r>
          </a:p>
          <a:p>
            <a:pPr marL="0" indent="0" algn="l">
              <a:buNone/>
            </a:pPr>
            <a:r>
              <a:rPr lang="en-US" dirty="0">
                <a:solidFill>
                  <a:srgbClr val="303141"/>
                </a:solidFill>
                <a:latin typeface="Udemy Sans"/>
              </a:rPr>
              <a:t>Unlike passwords where you cannot add spaces, in a passphrase you can add spaces.</a:t>
            </a:r>
          </a:p>
          <a:p>
            <a:pPr algn="l"/>
            <a:endParaRPr lang="en-US" b="0" i="0" dirty="0">
              <a:solidFill>
                <a:srgbClr val="303141"/>
              </a:solidFill>
              <a:effectLst/>
              <a:latin typeface="Udemy Sans"/>
            </a:endParaRPr>
          </a:p>
          <a:p>
            <a:pPr marL="0" indent="0" algn="l">
              <a:buNone/>
            </a:pPr>
            <a:endParaRPr lang="en-US" b="0" i="0" dirty="0">
              <a:solidFill>
                <a:srgbClr val="303141"/>
              </a:solidFill>
              <a:effectLst/>
              <a:latin typeface="Udemy Sans"/>
            </a:endParaRPr>
          </a:p>
          <a:p>
            <a:endParaRPr lang="en-US" b="1" i="0" dirty="0">
              <a:solidFill>
                <a:srgbClr val="303141"/>
              </a:solidFill>
              <a:effectLst/>
              <a:latin typeface="Udemy Sans"/>
            </a:endParaRP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96874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403</TotalTime>
  <Words>848</Words>
  <Application>Microsoft Office PowerPoint</Application>
  <PresentationFormat>Widescreen</PresentationFormat>
  <Paragraphs>94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Essentials of CyberSecurity</vt:lpstr>
      <vt:lpstr>Defences (1/9)</vt:lpstr>
      <vt:lpstr>Defences (2/9)</vt:lpstr>
      <vt:lpstr>Defences (3/9)</vt:lpstr>
      <vt:lpstr>Defences (4/9)</vt:lpstr>
      <vt:lpstr>Defences (5/9)</vt:lpstr>
      <vt:lpstr>Defences (6/9)</vt:lpstr>
      <vt:lpstr>Defences (7/9)</vt:lpstr>
      <vt:lpstr>Defences (8/9)</vt:lpstr>
      <vt:lpstr>Defences (9/9)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Aparajita Sharma</dc:creator>
  <cp:lastModifiedBy>Aparajita Sharma</cp:lastModifiedBy>
  <cp:revision>33</cp:revision>
  <dcterms:created xsi:type="dcterms:W3CDTF">2025-03-04T05:35:51Z</dcterms:created>
  <dcterms:modified xsi:type="dcterms:W3CDTF">2025-03-10T05:14:32Z</dcterms:modified>
</cp:coreProperties>
</file>