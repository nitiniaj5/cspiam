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48" r:id="rId1"/>
  </p:sldMasterIdLst>
  <p:sldIdLst>
    <p:sldId id="256" r:id="rId2"/>
    <p:sldId id="258" r:id="rId3"/>
    <p:sldId id="259" r:id="rId4"/>
    <p:sldId id="257"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58" autoAdjust="0"/>
    <p:restoredTop sz="94660"/>
  </p:normalViewPr>
  <p:slideViewPr>
    <p:cSldViewPr snapToGrid="0">
      <p:cViewPr>
        <p:scale>
          <a:sx n="60" d="100"/>
          <a:sy n="60" d="100"/>
        </p:scale>
        <p:origin x="784" y="-1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91012-0DC3-FEC7-83C3-550EECD892C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7533600-1D17-5C72-2E31-DB53BBD2E44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18FA2B5-B901-4B9A-CFC0-EDE64DD16F09}"/>
              </a:ext>
            </a:extLst>
          </p:cNvPr>
          <p:cNvSpPr>
            <a:spLocks noGrp="1"/>
          </p:cNvSpPr>
          <p:nvPr>
            <p:ph type="dt" sz="half" idx="10"/>
          </p:nvPr>
        </p:nvSpPr>
        <p:spPr/>
        <p:txBody>
          <a:bodyPr/>
          <a:lstStyle/>
          <a:p>
            <a:fld id="{70666AB9-185F-49B8-ACD4-138D293583C7}" type="datetimeFigureOut">
              <a:rPr lang="en-IN" smtClean="0"/>
              <a:t>04-03-2025</a:t>
            </a:fld>
            <a:endParaRPr lang="en-IN"/>
          </a:p>
        </p:txBody>
      </p:sp>
      <p:sp>
        <p:nvSpPr>
          <p:cNvPr id="5" name="Footer Placeholder 4">
            <a:extLst>
              <a:ext uri="{FF2B5EF4-FFF2-40B4-BE49-F238E27FC236}">
                <a16:creationId xmlns:a16="http://schemas.microsoft.com/office/drawing/2014/main" id="{05C6941F-8DB5-8AB5-1525-F4A4674D16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E4E6D0-64A6-B786-6502-A3F5C1FDB865}"/>
              </a:ext>
            </a:extLst>
          </p:cNvPr>
          <p:cNvSpPr>
            <a:spLocks noGrp="1"/>
          </p:cNvSpPr>
          <p:nvPr>
            <p:ph type="sldNum" sz="quarter" idx="12"/>
          </p:nvPr>
        </p:nvSpPr>
        <p:spPr/>
        <p:txBody>
          <a:bodyPr/>
          <a:lstStyle/>
          <a:p>
            <a:fld id="{B8F2321E-FB7B-4C43-8CE3-B68B4F09D3DB}" type="slidenum">
              <a:rPr lang="en-IN" smtClean="0"/>
              <a:t>‹#›</a:t>
            </a:fld>
            <a:endParaRPr lang="en-IN"/>
          </a:p>
        </p:txBody>
      </p:sp>
    </p:spTree>
    <p:extLst>
      <p:ext uri="{BB962C8B-B14F-4D97-AF65-F5344CB8AC3E}">
        <p14:creationId xmlns:p14="http://schemas.microsoft.com/office/powerpoint/2010/main" val="34238369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F2A5A-DA41-4C3D-E7C4-B191BF6F488D}"/>
              </a:ext>
            </a:extLst>
          </p:cNvPr>
          <p:cNvSpPr>
            <a:spLocks noGrp="1"/>
          </p:cNvSpPr>
          <p:nvPr>
            <p:ph type="title"/>
          </p:nvPr>
        </p:nvSpPr>
        <p:spPr>
          <a:xfrm>
            <a:off x="838200" y="365126"/>
            <a:ext cx="10515600" cy="602438"/>
          </a:xfrm>
        </p:spPr>
        <p:txBody>
          <a:bodyPr>
            <a:noAutofit/>
          </a:bodyPr>
          <a:lstStyle>
            <a:lvl1pPr>
              <a:defRPr sz="2800">
                <a:latin typeface="Calibri" panose="020F0502020204030204" pitchFamily="34" charset="0"/>
                <a:ea typeface="Calibri" panose="020F0502020204030204" pitchFamily="34" charset="0"/>
                <a:cs typeface="Calibri" panose="020F0502020204030204" pitchFamily="34" charset="0"/>
              </a:defRPr>
            </a:lvl1p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CB01AC92-F513-E4D6-5E8E-61B503C20D8F}"/>
              </a:ext>
            </a:extLst>
          </p:cNvPr>
          <p:cNvSpPr>
            <a:spLocks noGrp="1"/>
          </p:cNvSpPr>
          <p:nvPr>
            <p:ph idx="1"/>
          </p:nvPr>
        </p:nvSpPr>
        <p:spPr>
          <a:xfrm>
            <a:off x="838200" y="967564"/>
            <a:ext cx="10515600" cy="5209399"/>
          </a:xfrm>
        </p:spPr>
        <p:txBody>
          <a:bodyPr/>
          <a:lstStyle>
            <a:lvl1pPr>
              <a:defRPr sz="2200"/>
            </a:lvl1pPr>
            <a:lvl2pPr>
              <a:defRPr sz="2000"/>
            </a:lvl2pPr>
            <a:lvl3pPr>
              <a:defRPr sz="1800"/>
            </a:lvl3pPr>
            <a:lvl4pPr>
              <a:defRPr sz="16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B9BCABBE-6628-5F40-A550-1A6780D26FD8}"/>
              </a:ext>
            </a:extLst>
          </p:cNvPr>
          <p:cNvSpPr>
            <a:spLocks noGrp="1"/>
          </p:cNvSpPr>
          <p:nvPr>
            <p:ph type="dt" sz="half" idx="10"/>
          </p:nvPr>
        </p:nvSpPr>
        <p:spPr/>
        <p:txBody>
          <a:bodyPr/>
          <a:lstStyle/>
          <a:p>
            <a:fld id="{70666AB9-185F-49B8-ACD4-138D293583C7}" type="datetimeFigureOut">
              <a:rPr lang="en-IN" smtClean="0"/>
              <a:t>04-03-2025</a:t>
            </a:fld>
            <a:endParaRPr lang="en-IN"/>
          </a:p>
        </p:txBody>
      </p:sp>
      <p:sp>
        <p:nvSpPr>
          <p:cNvPr id="5" name="Footer Placeholder 4">
            <a:extLst>
              <a:ext uri="{FF2B5EF4-FFF2-40B4-BE49-F238E27FC236}">
                <a16:creationId xmlns:a16="http://schemas.microsoft.com/office/drawing/2014/main" id="{A425BF14-E1B0-D269-FCF6-EDA0D1843B5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E7B3961-7F90-4B60-2396-10935B22E753}"/>
              </a:ext>
            </a:extLst>
          </p:cNvPr>
          <p:cNvSpPr>
            <a:spLocks noGrp="1"/>
          </p:cNvSpPr>
          <p:nvPr>
            <p:ph type="sldNum" sz="quarter" idx="12"/>
          </p:nvPr>
        </p:nvSpPr>
        <p:spPr/>
        <p:txBody>
          <a:bodyPr/>
          <a:lstStyle/>
          <a:p>
            <a:fld id="{B8F2321E-FB7B-4C43-8CE3-B68B4F09D3DB}" type="slidenum">
              <a:rPr lang="en-IN" smtClean="0"/>
              <a:t>‹#›</a:t>
            </a:fld>
            <a:endParaRPr lang="en-IN"/>
          </a:p>
        </p:txBody>
      </p:sp>
    </p:spTree>
    <p:extLst>
      <p:ext uri="{BB962C8B-B14F-4D97-AF65-F5344CB8AC3E}">
        <p14:creationId xmlns:p14="http://schemas.microsoft.com/office/powerpoint/2010/main" val="33711098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A17EA-3807-EB44-FE89-3447D805227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D298C99-EA21-A995-62E0-EAD947F99C5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BDBFBEF-8233-3E6D-F250-D665FCCE6D69}"/>
              </a:ext>
            </a:extLst>
          </p:cNvPr>
          <p:cNvSpPr>
            <a:spLocks noGrp="1"/>
          </p:cNvSpPr>
          <p:nvPr>
            <p:ph type="dt" sz="half" idx="10"/>
          </p:nvPr>
        </p:nvSpPr>
        <p:spPr/>
        <p:txBody>
          <a:bodyPr/>
          <a:lstStyle/>
          <a:p>
            <a:fld id="{70666AB9-185F-49B8-ACD4-138D293583C7}" type="datetimeFigureOut">
              <a:rPr lang="en-IN" smtClean="0"/>
              <a:t>04-03-2025</a:t>
            </a:fld>
            <a:endParaRPr lang="en-IN"/>
          </a:p>
        </p:txBody>
      </p:sp>
      <p:sp>
        <p:nvSpPr>
          <p:cNvPr id="5" name="Footer Placeholder 4">
            <a:extLst>
              <a:ext uri="{FF2B5EF4-FFF2-40B4-BE49-F238E27FC236}">
                <a16:creationId xmlns:a16="http://schemas.microsoft.com/office/drawing/2014/main" id="{4C32ABB1-6066-B6A0-25C8-CDB0DCA3A0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0571CAA-2C2B-B85C-E01E-4EFF0C8D063E}"/>
              </a:ext>
            </a:extLst>
          </p:cNvPr>
          <p:cNvSpPr>
            <a:spLocks noGrp="1"/>
          </p:cNvSpPr>
          <p:nvPr>
            <p:ph type="sldNum" sz="quarter" idx="12"/>
          </p:nvPr>
        </p:nvSpPr>
        <p:spPr/>
        <p:txBody>
          <a:bodyPr/>
          <a:lstStyle/>
          <a:p>
            <a:fld id="{B8F2321E-FB7B-4C43-8CE3-B68B4F09D3DB}" type="slidenum">
              <a:rPr lang="en-IN" smtClean="0"/>
              <a:t>‹#›</a:t>
            </a:fld>
            <a:endParaRPr lang="en-IN"/>
          </a:p>
        </p:txBody>
      </p:sp>
    </p:spTree>
    <p:extLst>
      <p:ext uri="{BB962C8B-B14F-4D97-AF65-F5344CB8AC3E}">
        <p14:creationId xmlns:p14="http://schemas.microsoft.com/office/powerpoint/2010/main" val="985622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A96A1-AF40-0265-DD55-415611FF6BF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4D9E10D-2675-31EB-D690-0E098EC336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5916309-3EE6-E361-C0CC-751C763A79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B4F0BF8-84EC-7649-CD0F-FECE9144CE0B}"/>
              </a:ext>
            </a:extLst>
          </p:cNvPr>
          <p:cNvSpPr>
            <a:spLocks noGrp="1"/>
          </p:cNvSpPr>
          <p:nvPr>
            <p:ph type="dt" sz="half" idx="10"/>
          </p:nvPr>
        </p:nvSpPr>
        <p:spPr/>
        <p:txBody>
          <a:bodyPr/>
          <a:lstStyle/>
          <a:p>
            <a:fld id="{70666AB9-185F-49B8-ACD4-138D293583C7}" type="datetimeFigureOut">
              <a:rPr lang="en-IN" smtClean="0"/>
              <a:t>04-03-2025</a:t>
            </a:fld>
            <a:endParaRPr lang="en-IN"/>
          </a:p>
        </p:txBody>
      </p:sp>
      <p:sp>
        <p:nvSpPr>
          <p:cNvPr id="6" name="Footer Placeholder 5">
            <a:extLst>
              <a:ext uri="{FF2B5EF4-FFF2-40B4-BE49-F238E27FC236}">
                <a16:creationId xmlns:a16="http://schemas.microsoft.com/office/drawing/2014/main" id="{600E0113-B8E3-166C-3C4E-512FD134278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BA8B4A-D772-FA20-C017-7F7B4308B4E6}"/>
              </a:ext>
            </a:extLst>
          </p:cNvPr>
          <p:cNvSpPr>
            <a:spLocks noGrp="1"/>
          </p:cNvSpPr>
          <p:nvPr>
            <p:ph type="sldNum" sz="quarter" idx="12"/>
          </p:nvPr>
        </p:nvSpPr>
        <p:spPr/>
        <p:txBody>
          <a:bodyPr/>
          <a:lstStyle/>
          <a:p>
            <a:fld id="{B8F2321E-FB7B-4C43-8CE3-B68B4F09D3DB}" type="slidenum">
              <a:rPr lang="en-IN" smtClean="0"/>
              <a:t>‹#›</a:t>
            </a:fld>
            <a:endParaRPr lang="en-IN"/>
          </a:p>
        </p:txBody>
      </p:sp>
    </p:spTree>
    <p:extLst>
      <p:ext uri="{BB962C8B-B14F-4D97-AF65-F5344CB8AC3E}">
        <p14:creationId xmlns:p14="http://schemas.microsoft.com/office/powerpoint/2010/main" val="4479567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489C8-A937-3BDF-9B77-02FC0E7F610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E25F8A4-65ED-C772-E2FC-8E2A054443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65485F8-B47C-9BF4-8CB7-849D43F643A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9253812-1E90-F597-C1E1-12F2B363DD1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3ACB64A-362B-8C7E-EBF6-0FA5ECE9266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7F4EA02-D062-05A6-6EA4-41056DFF621B}"/>
              </a:ext>
            </a:extLst>
          </p:cNvPr>
          <p:cNvSpPr>
            <a:spLocks noGrp="1"/>
          </p:cNvSpPr>
          <p:nvPr>
            <p:ph type="dt" sz="half" idx="10"/>
          </p:nvPr>
        </p:nvSpPr>
        <p:spPr/>
        <p:txBody>
          <a:bodyPr/>
          <a:lstStyle/>
          <a:p>
            <a:fld id="{70666AB9-185F-49B8-ACD4-138D293583C7}" type="datetimeFigureOut">
              <a:rPr lang="en-IN" smtClean="0"/>
              <a:t>04-03-2025</a:t>
            </a:fld>
            <a:endParaRPr lang="en-IN"/>
          </a:p>
        </p:txBody>
      </p:sp>
      <p:sp>
        <p:nvSpPr>
          <p:cNvPr id="8" name="Footer Placeholder 7">
            <a:extLst>
              <a:ext uri="{FF2B5EF4-FFF2-40B4-BE49-F238E27FC236}">
                <a16:creationId xmlns:a16="http://schemas.microsoft.com/office/drawing/2014/main" id="{76A81C9D-795E-B5F2-5739-AF304A50AC9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E2EC11B-A265-3ABB-6DB9-F08369B3E564}"/>
              </a:ext>
            </a:extLst>
          </p:cNvPr>
          <p:cNvSpPr>
            <a:spLocks noGrp="1"/>
          </p:cNvSpPr>
          <p:nvPr>
            <p:ph type="sldNum" sz="quarter" idx="12"/>
          </p:nvPr>
        </p:nvSpPr>
        <p:spPr/>
        <p:txBody>
          <a:bodyPr/>
          <a:lstStyle/>
          <a:p>
            <a:fld id="{B8F2321E-FB7B-4C43-8CE3-B68B4F09D3DB}" type="slidenum">
              <a:rPr lang="en-IN" smtClean="0"/>
              <a:t>‹#›</a:t>
            </a:fld>
            <a:endParaRPr lang="en-IN"/>
          </a:p>
        </p:txBody>
      </p:sp>
    </p:spTree>
    <p:extLst>
      <p:ext uri="{BB962C8B-B14F-4D97-AF65-F5344CB8AC3E}">
        <p14:creationId xmlns:p14="http://schemas.microsoft.com/office/powerpoint/2010/main" val="4492611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FEBF6-C97A-3DE4-A5A6-95997E2E6B8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DD3076D-6236-FD4B-178B-81E7AA0E27E4}"/>
              </a:ext>
            </a:extLst>
          </p:cNvPr>
          <p:cNvSpPr>
            <a:spLocks noGrp="1"/>
          </p:cNvSpPr>
          <p:nvPr>
            <p:ph type="dt" sz="half" idx="10"/>
          </p:nvPr>
        </p:nvSpPr>
        <p:spPr/>
        <p:txBody>
          <a:bodyPr/>
          <a:lstStyle/>
          <a:p>
            <a:fld id="{70666AB9-185F-49B8-ACD4-138D293583C7}" type="datetimeFigureOut">
              <a:rPr lang="en-IN" smtClean="0"/>
              <a:t>04-03-2025</a:t>
            </a:fld>
            <a:endParaRPr lang="en-IN"/>
          </a:p>
        </p:txBody>
      </p:sp>
      <p:sp>
        <p:nvSpPr>
          <p:cNvPr id="4" name="Footer Placeholder 3">
            <a:extLst>
              <a:ext uri="{FF2B5EF4-FFF2-40B4-BE49-F238E27FC236}">
                <a16:creationId xmlns:a16="http://schemas.microsoft.com/office/drawing/2014/main" id="{3CB53805-5348-EEE4-9F69-3D40EBAEAB8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7F928AD-6082-489B-E344-2BEF7C166E4F}"/>
              </a:ext>
            </a:extLst>
          </p:cNvPr>
          <p:cNvSpPr>
            <a:spLocks noGrp="1"/>
          </p:cNvSpPr>
          <p:nvPr>
            <p:ph type="sldNum" sz="quarter" idx="12"/>
          </p:nvPr>
        </p:nvSpPr>
        <p:spPr/>
        <p:txBody>
          <a:bodyPr/>
          <a:lstStyle/>
          <a:p>
            <a:fld id="{B8F2321E-FB7B-4C43-8CE3-B68B4F09D3DB}" type="slidenum">
              <a:rPr lang="en-IN" smtClean="0"/>
              <a:t>‹#›</a:t>
            </a:fld>
            <a:endParaRPr lang="en-IN"/>
          </a:p>
        </p:txBody>
      </p:sp>
    </p:spTree>
    <p:extLst>
      <p:ext uri="{BB962C8B-B14F-4D97-AF65-F5344CB8AC3E}">
        <p14:creationId xmlns:p14="http://schemas.microsoft.com/office/powerpoint/2010/main" val="39229091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E9AA99-FEBD-E9B4-E431-FE9A6DEE8959}"/>
              </a:ext>
            </a:extLst>
          </p:cNvPr>
          <p:cNvSpPr>
            <a:spLocks noGrp="1"/>
          </p:cNvSpPr>
          <p:nvPr>
            <p:ph type="dt" sz="half" idx="10"/>
          </p:nvPr>
        </p:nvSpPr>
        <p:spPr/>
        <p:txBody>
          <a:bodyPr/>
          <a:lstStyle/>
          <a:p>
            <a:fld id="{70666AB9-185F-49B8-ACD4-138D293583C7}" type="datetimeFigureOut">
              <a:rPr lang="en-IN" smtClean="0"/>
              <a:t>04-03-2025</a:t>
            </a:fld>
            <a:endParaRPr lang="en-IN"/>
          </a:p>
        </p:txBody>
      </p:sp>
      <p:sp>
        <p:nvSpPr>
          <p:cNvPr id="3" name="Footer Placeholder 2">
            <a:extLst>
              <a:ext uri="{FF2B5EF4-FFF2-40B4-BE49-F238E27FC236}">
                <a16:creationId xmlns:a16="http://schemas.microsoft.com/office/drawing/2014/main" id="{4D4FE354-2D74-A148-D922-AFA293EFA6D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DAAFD8E-C682-C76B-4673-302E3E4072C8}"/>
              </a:ext>
            </a:extLst>
          </p:cNvPr>
          <p:cNvSpPr>
            <a:spLocks noGrp="1"/>
          </p:cNvSpPr>
          <p:nvPr>
            <p:ph type="sldNum" sz="quarter" idx="12"/>
          </p:nvPr>
        </p:nvSpPr>
        <p:spPr/>
        <p:txBody>
          <a:bodyPr/>
          <a:lstStyle/>
          <a:p>
            <a:fld id="{B8F2321E-FB7B-4C43-8CE3-B68B4F09D3DB}" type="slidenum">
              <a:rPr lang="en-IN" smtClean="0"/>
              <a:t>‹#›</a:t>
            </a:fld>
            <a:endParaRPr lang="en-IN"/>
          </a:p>
        </p:txBody>
      </p:sp>
    </p:spTree>
    <p:extLst>
      <p:ext uri="{BB962C8B-B14F-4D97-AF65-F5344CB8AC3E}">
        <p14:creationId xmlns:p14="http://schemas.microsoft.com/office/powerpoint/2010/main" val="4138564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81DAD-ED74-CFD5-4F10-F592DA93F8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B57AC48-BECB-DA15-2935-9AD807C6DC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EAF5F26-7CB0-2D56-58FE-5A5D19747B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7C0DE6-C7AB-43F4-D107-70AB9BE950D0}"/>
              </a:ext>
            </a:extLst>
          </p:cNvPr>
          <p:cNvSpPr>
            <a:spLocks noGrp="1"/>
          </p:cNvSpPr>
          <p:nvPr>
            <p:ph type="dt" sz="half" idx="10"/>
          </p:nvPr>
        </p:nvSpPr>
        <p:spPr/>
        <p:txBody>
          <a:bodyPr/>
          <a:lstStyle/>
          <a:p>
            <a:fld id="{70666AB9-185F-49B8-ACD4-138D293583C7}" type="datetimeFigureOut">
              <a:rPr lang="en-IN" smtClean="0"/>
              <a:t>04-03-2025</a:t>
            </a:fld>
            <a:endParaRPr lang="en-IN"/>
          </a:p>
        </p:txBody>
      </p:sp>
      <p:sp>
        <p:nvSpPr>
          <p:cNvPr id="6" name="Footer Placeholder 5">
            <a:extLst>
              <a:ext uri="{FF2B5EF4-FFF2-40B4-BE49-F238E27FC236}">
                <a16:creationId xmlns:a16="http://schemas.microsoft.com/office/drawing/2014/main" id="{D7680CAF-AE38-96B9-1B00-81FE23B1B45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C9CCE2A-7ED3-7BDF-16D4-4ED01DCF0CE2}"/>
              </a:ext>
            </a:extLst>
          </p:cNvPr>
          <p:cNvSpPr>
            <a:spLocks noGrp="1"/>
          </p:cNvSpPr>
          <p:nvPr>
            <p:ph type="sldNum" sz="quarter" idx="12"/>
          </p:nvPr>
        </p:nvSpPr>
        <p:spPr/>
        <p:txBody>
          <a:bodyPr/>
          <a:lstStyle/>
          <a:p>
            <a:fld id="{B8F2321E-FB7B-4C43-8CE3-B68B4F09D3DB}" type="slidenum">
              <a:rPr lang="en-IN" smtClean="0"/>
              <a:t>‹#›</a:t>
            </a:fld>
            <a:endParaRPr lang="en-IN"/>
          </a:p>
        </p:txBody>
      </p:sp>
    </p:spTree>
    <p:extLst>
      <p:ext uri="{BB962C8B-B14F-4D97-AF65-F5344CB8AC3E}">
        <p14:creationId xmlns:p14="http://schemas.microsoft.com/office/powerpoint/2010/main" val="1638808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D39FF-22BC-D13B-AB78-524A26E945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673E5FD-3F72-F349-CCE4-62632E6A2B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E27E0E3-8950-AFA2-06CE-34EED51C3B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1B96A1-4027-4123-5DFF-3CE5051E3D40}"/>
              </a:ext>
            </a:extLst>
          </p:cNvPr>
          <p:cNvSpPr>
            <a:spLocks noGrp="1"/>
          </p:cNvSpPr>
          <p:nvPr>
            <p:ph type="dt" sz="half" idx="10"/>
          </p:nvPr>
        </p:nvSpPr>
        <p:spPr/>
        <p:txBody>
          <a:bodyPr/>
          <a:lstStyle/>
          <a:p>
            <a:fld id="{70666AB9-185F-49B8-ACD4-138D293583C7}" type="datetimeFigureOut">
              <a:rPr lang="en-IN" smtClean="0"/>
              <a:t>04-03-2025</a:t>
            </a:fld>
            <a:endParaRPr lang="en-IN"/>
          </a:p>
        </p:txBody>
      </p:sp>
      <p:sp>
        <p:nvSpPr>
          <p:cNvPr id="6" name="Footer Placeholder 5">
            <a:extLst>
              <a:ext uri="{FF2B5EF4-FFF2-40B4-BE49-F238E27FC236}">
                <a16:creationId xmlns:a16="http://schemas.microsoft.com/office/drawing/2014/main" id="{49802B74-B149-1A6C-DA84-F1F12203690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889ADA-BC17-9F2E-2893-525EE5E02745}"/>
              </a:ext>
            </a:extLst>
          </p:cNvPr>
          <p:cNvSpPr>
            <a:spLocks noGrp="1"/>
          </p:cNvSpPr>
          <p:nvPr>
            <p:ph type="sldNum" sz="quarter" idx="12"/>
          </p:nvPr>
        </p:nvSpPr>
        <p:spPr/>
        <p:txBody>
          <a:bodyPr/>
          <a:lstStyle/>
          <a:p>
            <a:fld id="{B8F2321E-FB7B-4C43-8CE3-B68B4F09D3DB}" type="slidenum">
              <a:rPr lang="en-IN" smtClean="0"/>
              <a:t>‹#›</a:t>
            </a:fld>
            <a:endParaRPr lang="en-IN"/>
          </a:p>
        </p:txBody>
      </p:sp>
    </p:spTree>
    <p:extLst>
      <p:ext uri="{BB962C8B-B14F-4D97-AF65-F5344CB8AC3E}">
        <p14:creationId xmlns:p14="http://schemas.microsoft.com/office/powerpoint/2010/main" val="356377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891CA-3CA8-BC13-26D8-8D313F7E359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ECFC1DA-22F7-804C-FABC-DE46E47D3C6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5DCE5FB-A2C6-2585-8115-CFFA82C763D4}"/>
              </a:ext>
            </a:extLst>
          </p:cNvPr>
          <p:cNvSpPr>
            <a:spLocks noGrp="1"/>
          </p:cNvSpPr>
          <p:nvPr>
            <p:ph type="dt" sz="half" idx="10"/>
          </p:nvPr>
        </p:nvSpPr>
        <p:spPr/>
        <p:txBody>
          <a:bodyPr/>
          <a:lstStyle/>
          <a:p>
            <a:fld id="{70666AB9-185F-49B8-ACD4-138D293583C7}" type="datetimeFigureOut">
              <a:rPr lang="en-IN" smtClean="0"/>
              <a:t>04-03-2025</a:t>
            </a:fld>
            <a:endParaRPr lang="en-IN"/>
          </a:p>
        </p:txBody>
      </p:sp>
      <p:sp>
        <p:nvSpPr>
          <p:cNvPr id="5" name="Footer Placeholder 4">
            <a:extLst>
              <a:ext uri="{FF2B5EF4-FFF2-40B4-BE49-F238E27FC236}">
                <a16:creationId xmlns:a16="http://schemas.microsoft.com/office/drawing/2014/main" id="{D5ABDEF3-1B5F-BB28-A37F-C27F6391E3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323989-4816-F338-784A-49A2D927C0B1}"/>
              </a:ext>
            </a:extLst>
          </p:cNvPr>
          <p:cNvSpPr>
            <a:spLocks noGrp="1"/>
          </p:cNvSpPr>
          <p:nvPr>
            <p:ph type="sldNum" sz="quarter" idx="12"/>
          </p:nvPr>
        </p:nvSpPr>
        <p:spPr/>
        <p:txBody>
          <a:bodyPr/>
          <a:lstStyle/>
          <a:p>
            <a:fld id="{B8F2321E-FB7B-4C43-8CE3-B68B4F09D3DB}" type="slidenum">
              <a:rPr lang="en-IN" smtClean="0"/>
              <a:t>‹#›</a:t>
            </a:fld>
            <a:endParaRPr lang="en-IN"/>
          </a:p>
        </p:txBody>
      </p:sp>
    </p:spTree>
    <p:extLst>
      <p:ext uri="{BB962C8B-B14F-4D97-AF65-F5344CB8AC3E}">
        <p14:creationId xmlns:p14="http://schemas.microsoft.com/office/powerpoint/2010/main" val="21222324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74B29E-7C2A-554F-ABD3-4ADC12E2FBE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BB9BFF4-6C95-C61D-E1E8-6625BEFA210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3DE5B5-2F35-0223-39E6-EE50B99873AF}"/>
              </a:ext>
            </a:extLst>
          </p:cNvPr>
          <p:cNvSpPr>
            <a:spLocks noGrp="1"/>
          </p:cNvSpPr>
          <p:nvPr>
            <p:ph type="dt" sz="half" idx="10"/>
          </p:nvPr>
        </p:nvSpPr>
        <p:spPr/>
        <p:txBody>
          <a:bodyPr/>
          <a:lstStyle/>
          <a:p>
            <a:fld id="{70666AB9-185F-49B8-ACD4-138D293583C7}" type="datetimeFigureOut">
              <a:rPr lang="en-IN" smtClean="0"/>
              <a:t>04-03-2025</a:t>
            </a:fld>
            <a:endParaRPr lang="en-IN"/>
          </a:p>
        </p:txBody>
      </p:sp>
      <p:sp>
        <p:nvSpPr>
          <p:cNvPr id="5" name="Footer Placeholder 4">
            <a:extLst>
              <a:ext uri="{FF2B5EF4-FFF2-40B4-BE49-F238E27FC236}">
                <a16:creationId xmlns:a16="http://schemas.microsoft.com/office/drawing/2014/main" id="{004DCD21-F6BD-BBB4-26EA-F5FD2CB458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D68EE4F-357E-F2F4-6B4F-864462137DA4}"/>
              </a:ext>
            </a:extLst>
          </p:cNvPr>
          <p:cNvSpPr>
            <a:spLocks noGrp="1"/>
          </p:cNvSpPr>
          <p:nvPr>
            <p:ph type="sldNum" sz="quarter" idx="12"/>
          </p:nvPr>
        </p:nvSpPr>
        <p:spPr/>
        <p:txBody>
          <a:bodyPr/>
          <a:lstStyle/>
          <a:p>
            <a:fld id="{B8F2321E-FB7B-4C43-8CE3-B68B4F09D3DB}" type="slidenum">
              <a:rPr lang="en-IN" smtClean="0"/>
              <a:t>‹#›</a:t>
            </a:fld>
            <a:endParaRPr lang="en-IN"/>
          </a:p>
        </p:txBody>
      </p:sp>
    </p:spTree>
    <p:extLst>
      <p:ext uri="{BB962C8B-B14F-4D97-AF65-F5344CB8AC3E}">
        <p14:creationId xmlns:p14="http://schemas.microsoft.com/office/powerpoint/2010/main" val="8902885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7AF60B-A48A-C2D6-3641-1AFBE5390B1D}"/>
              </a:ext>
            </a:extLst>
          </p:cNvPr>
          <p:cNvSpPr>
            <a:spLocks noGrp="1"/>
          </p:cNvSpPr>
          <p:nvPr>
            <p:ph type="title"/>
          </p:nvPr>
        </p:nvSpPr>
        <p:spPr>
          <a:xfrm>
            <a:off x="838200" y="365126"/>
            <a:ext cx="10515600" cy="613070"/>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CD4FFC6C-4072-55CE-C34D-81BE48524F21}"/>
              </a:ext>
            </a:extLst>
          </p:cNvPr>
          <p:cNvSpPr>
            <a:spLocks noGrp="1"/>
          </p:cNvSpPr>
          <p:nvPr>
            <p:ph type="body" idx="1"/>
          </p:nvPr>
        </p:nvSpPr>
        <p:spPr>
          <a:xfrm>
            <a:off x="838200" y="1201479"/>
            <a:ext cx="10515600" cy="497548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18939F60-571D-D111-82B5-31B97F5013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0666AB9-185F-49B8-ACD4-138D293583C7}" type="datetimeFigureOut">
              <a:rPr lang="en-IN" smtClean="0"/>
              <a:t>04-03-2025</a:t>
            </a:fld>
            <a:endParaRPr lang="en-IN"/>
          </a:p>
        </p:txBody>
      </p:sp>
      <p:sp>
        <p:nvSpPr>
          <p:cNvPr id="5" name="Footer Placeholder 4">
            <a:extLst>
              <a:ext uri="{FF2B5EF4-FFF2-40B4-BE49-F238E27FC236}">
                <a16:creationId xmlns:a16="http://schemas.microsoft.com/office/drawing/2014/main" id="{53F77DA9-FEE3-B79A-2D1A-4D4FC20AD1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57EEEEB5-2F2D-C810-0E6C-D1CE7E8B87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8F2321E-FB7B-4C43-8CE3-B68B4F09D3DB}" type="slidenum">
              <a:rPr lang="en-IN" smtClean="0"/>
              <a:t>‹#›</a:t>
            </a:fld>
            <a:endParaRPr lang="en-IN"/>
          </a:p>
        </p:txBody>
      </p:sp>
    </p:spTree>
    <p:extLst>
      <p:ext uri="{BB962C8B-B14F-4D97-AF65-F5344CB8AC3E}">
        <p14:creationId xmlns:p14="http://schemas.microsoft.com/office/powerpoint/2010/main" val="37588140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800" kern="1200">
          <a:solidFill>
            <a:schemeClr val="tx1"/>
          </a:solidFill>
          <a:latin typeface="Calibri" panose="020F0502020204030204" pitchFamily="34" charset="0"/>
          <a:ea typeface="Calibri" panose="020F0502020204030204" pitchFamily="34" charset="0"/>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80CF9-9E42-FB1A-BA55-4A70B4ADCC37}"/>
              </a:ext>
            </a:extLst>
          </p:cNvPr>
          <p:cNvSpPr>
            <a:spLocks noGrp="1"/>
          </p:cNvSpPr>
          <p:nvPr>
            <p:ph type="ctrTitle"/>
          </p:nvPr>
        </p:nvSpPr>
        <p:spPr/>
        <p:txBody>
          <a:bodyPr/>
          <a:lstStyle/>
          <a:p>
            <a:r>
              <a:rPr lang="en-US" dirty="0"/>
              <a:t>Essentials of CyberSecurity</a:t>
            </a:r>
            <a:endParaRPr lang="en-IN" dirty="0"/>
          </a:p>
        </p:txBody>
      </p:sp>
      <p:sp>
        <p:nvSpPr>
          <p:cNvPr id="3" name="Subtitle 2">
            <a:extLst>
              <a:ext uri="{FF2B5EF4-FFF2-40B4-BE49-F238E27FC236}">
                <a16:creationId xmlns:a16="http://schemas.microsoft.com/office/drawing/2014/main" id="{88073F0A-8E89-40C6-4EC4-73374D477BA1}"/>
              </a:ext>
            </a:extLst>
          </p:cNvPr>
          <p:cNvSpPr>
            <a:spLocks noGrp="1"/>
          </p:cNvSpPr>
          <p:nvPr>
            <p:ph type="subTitle" idx="1"/>
          </p:nvPr>
        </p:nvSpPr>
        <p:spPr/>
        <p:txBody>
          <a:bodyPr>
            <a:normAutofit/>
          </a:bodyPr>
          <a:lstStyle/>
          <a:p>
            <a:r>
              <a:rPr lang="en-US" sz="3800" b="1" dirty="0"/>
              <a:t>Malware</a:t>
            </a:r>
            <a:endParaRPr lang="en-IN" sz="3800" b="1" dirty="0"/>
          </a:p>
        </p:txBody>
      </p:sp>
    </p:spTree>
    <p:extLst>
      <p:ext uri="{BB962C8B-B14F-4D97-AF65-F5344CB8AC3E}">
        <p14:creationId xmlns:p14="http://schemas.microsoft.com/office/powerpoint/2010/main" val="39839208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D3643-A66B-5584-F694-FC5D425FB668}"/>
              </a:ext>
            </a:extLst>
          </p:cNvPr>
          <p:cNvSpPr>
            <a:spLocks noGrp="1"/>
          </p:cNvSpPr>
          <p:nvPr>
            <p:ph type="title"/>
          </p:nvPr>
        </p:nvSpPr>
        <p:spPr/>
        <p:txBody>
          <a:bodyPr>
            <a:normAutofit/>
          </a:bodyPr>
          <a:lstStyle/>
          <a:p>
            <a:r>
              <a:rPr lang="en-US" b="1" dirty="0"/>
              <a:t>Malware (1/9)</a:t>
            </a:r>
            <a:endParaRPr lang="en-IN" b="1" dirty="0"/>
          </a:p>
        </p:txBody>
      </p:sp>
      <p:sp>
        <p:nvSpPr>
          <p:cNvPr id="3" name="Content Placeholder 2">
            <a:extLst>
              <a:ext uri="{FF2B5EF4-FFF2-40B4-BE49-F238E27FC236}">
                <a16:creationId xmlns:a16="http://schemas.microsoft.com/office/drawing/2014/main" id="{A79D7960-85F9-E676-76D6-5761B1E4B199}"/>
              </a:ext>
            </a:extLst>
          </p:cNvPr>
          <p:cNvSpPr>
            <a:spLocks noGrp="1"/>
          </p:cNvSpPr>
          <p:nvPr>
            <p:ph idx="1"/>
          </p:nvPr>
        </p:nvSpPr>
        <p:spPr/>
        <p:txBody>
          <a:bodyPr/>
          <a:lstStyle/>
          <a:p>
            <a:pPr marL="0" indent="0">
              <a:buNone/>
            </a:pPr>
            <a:r>
              <a:rPr lang="en-US" b="1" dirty="0"/>
              <a:t>Definition: </a:t>
            </a:r>
            <a:r>
              <a:rPr lang="en-US" dirty="0"/>
              <a:t>Malware stands for malicious software. It is software or program that has the intent of causing harm or inconvenience either to you or your data.</a:t>
            </a:r>
          </a:p>
          <a:p>
            <a:pPr marL="0" indent="0">
              <a:buNone/>
            </a:pPr>
            <a:endParaRPr lang="en-US" dirty="0"/>
          </a:p>
          <a:p>
            <a:pPr marL="0" indent="0">
              <a:buNone/>
            </a:pPr>
            <a:r>
              <a:rPr lang="en-US" dirty="0"/>
              <a:t>Forms of Malware</a:t>
            </a:r>
            <a:r>
              <a:rPr lang="en-US" b="1" dirty="0"/>
              <a:t>: Virus and worms</a:t>
            </a:r>
          </a:p>
          <a:p>
            <a:pPr marL="0" indent="0" algn="l">
              <a:buNone/>
            </a:pPr>
            <a:r>
              <a:rPr lang="en-US" b="0" i="0" dirty="0">
                <a:solidFill>
                  <a:srgbClr val="303141"/>
                </a:solidFill>
                <a:effectLst/>
                <a:latin typeface="Udemy Sans"/>
              </a:rPr>
              <a:t>Malware are malicious code that is developed to change the way a computer or a network operates. They attack network systems, computers. </a:t>
            </a:r>
          </a:p>
          <a:p>
            <a:pPr marL="0" indent="0" algn="l">
              <a:buNone/>
            </a:pPr>
            <a:endParaRPr lang="en-US" dirty="0">
              <a:solidFill>
                <a:srgbClr val="303141"/>
              </a:solidFill>
              <a:latin typeface="Udemy Sans"/>
            </a:endParaRPr>
          </a:p>
          <a:p>
            <a:pPr marL="0" indent="0" algn="l">
              <a:buNone/>
            </a:pPr>
            <a:r>
              <a:rPr lang="en-US" dirty="0">
                <a:solidFill>
                  <a:srgbClr val="303141"/>
                </a:solidFill>
                <a:latin typeface="Udemy Sans"/>
              </a:rPr>
              <a:t>Difference between virus and worms:</a:t>
            </a:r>
          </a:p>
          <a:p>
            <a:pPr algn="l"/>
            <a:r>
              <a:rPr lang="en-US" b="1" i="0" dirty="0">
                <a:solidFill>
                  <a:srgbClr val="303141"/>
                </a:solidFill>
                <a:effectLst/>
                <a:latin typeface="Udemy Sans"/>
              </a:rPr>
              <a:t>Virus: </a:t>
            </a:r>
            <a:r>
              <a:rPr lang="en-US" b="0" i="0" dirty="0">
                <a:solidFill>
                  <a:srgbClr val="303141"/>
                </a:solidFill>
                <a:effectLst/>
                <a:latin typeface="Udemy Sans"/>
              </a:rPr>
              <a:t>virus would require an active host or an already infected system to run successfully</a:t>
            </a:r>
          </a:p>
          <a:p>
            <a:r>
              <a:rPr lang="en-US" b="1" i="0" dirty="0">
                <a:solidFill>
                  <a:srgbClr val="303141"/>
                </a:solidFill>
                <a:effectLst/>
                <a:latin typeface="Udemy Sans"/>
              </a:rPr>
              <a:t>Worm:  </a:t>
            </a:r>
            <a:r>
              <a:rPr lang="en-US" b="0" i="0" dirty="0">
                <a:solidFill>
                  <a:srgbClr val="303141"/>
                </a:solidFill>
                <a:effectLst/>
                <a:latin typeface="Udemy Sans"/>
              </a:rPr>
              <a:t>Is self replicating and self propagating</a:t>
            </a:r>
          </a:p>
          <a:p>
            <a:pPr marL="0" indent="0">
              <a:buNone/>
            </a:pPr>
            <a:endParaRPr lang="en-IN" dirty="0"/>
          </a:p>
        </p:txBody>
      </p:sp>
    </p:spTree>
    <p:extLst>
      <p:ext uri="{BB962C8B-B14F-4D97-AF65-F5344CB8AC3E}">
        <p14:creationId xmlns:p14="http://schemas.microsoft.com/office/powerpoint/2010/main" val="16164240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72123-9C68-0CE5-629A-F7CF95E23C79}"/>
              </a:ext>
            </a:extLst>
          </p:cNvPr>
          <p:cNvSpPr>
            <a:spLocks noGrp="1"/>
          </p:cNvSpPr>
          <p:nvPr>
            <p:ph type="title"/>
          </p:nvPr>
        </p:nvSpPr>
        <p:spPr/>
        <p:txBody>
          <a:bodyPr/>
          <a:lstStyle/>
          <a:p>
            <a:r>
              <a:rPr lang="en-US" b="1" dirty="0"/>
              <a:t>Malware (2/9)</a:t>
            </a:r>
            <a:endParaRPr lang="en-IN" dirty="0"/>
          </a:p>
        </p:txBody>
      </p:sp>
      <p:sp>
        <p:nvSpPr>
          <p:cNvPr id="3" name="Content Placeholder 2">
            <a:extLst>
              <a:ext uri="{FF2B5EF4-FFF2-40B4-BE49-F238E27FC236}">
                <a16:creationId xmlns:a16="http://schemas.microsoft.com/office/drawing/2014/main" id="{E3AEA77A-E7FE-276C-DDB7-EC1B18B695E1}"/>
              </a:ext>
            </a:extLst>
          </p:cNvPr>
          <p:cNvSpPr>
            <a:spLocks noGrp="1"/>
          </p:cNvSpPr>
          <p:nvPr>
            <p:ph idx="1"/>
          </p:nvPr>
        </p:nvSpPr>
        <p:spPr/>
        <p:txBody>
          <a:bodyPr>
            <a:normAutofit/>
          </a:bodyPr>
          <a:lstStyle/>
          <a:p>
            <a:pPr marL="0" indent="0">
              <a:buNone/>
            </a:pPr>
            <a:r>
              <a:rPr lang="en-US" sz="2200" dirty="0"/>
              <a:t>Stages of a Virus</a:t>
            </a:r>
          </a:p>
          <a:p>
            <a:pPr marL="0" indent="0">
              <a:buNone/>
            </a:pPr>
            <a:endParaRPr lang="en-IN" sz="2200" dirty="0"/>
          </a:p>
          <a:p>
            <a:endParaRPr lang="en-IN" dirty="0"/>
          </a:p>
        </p:txBody>
      </p:sp>
      <p:sp>
        <p:nvSpPr>
          <p:cNvPr id="4" name="Arrow: Pentagon 3">
            <a:extLst>
              <a:ext uri="{FF2B5EF4-FFF2-40B4-BE49-F238E27FC236}">
                <a16:creationId xmlns:a16="http://schemas.microsoft.com/office/drawing/2014/main" id="{AF107F66-21B4-F2AD-99CF-29E100B23030}"/>
              </a:ext>
            </a:extLst>
          </p:cNvPr>
          <p:cNvSpPr/>
          <p:nvPr/>
        </p:nvSpPr>
        <p:spPr>
          <a:xfrm>
            <a:off x="1569366" y="2222470"/>
            <a:ext cx="1748790" cy="720090"/>
          </a:xfrm>
          <a:prstGeom prst="homePlate">
            <a:avLst/>
          </a:prstGeom>
          <a:solidFill>
            <a:schemeClr val="bg2">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1</a:t>
            </a:r>
            <a:endParaRPr lang="en-IN" b="1" dirty="0">
              <a:solidFill>
                <a:srgbClr val="FF0000"/>
              </a:solidFill>
            </a:endParaRPr>
          </a:p>
        </p:txBody>
      </p:sp>
      <p:sp>
        <p:nvSpPr>
          <p:cNvPr id="5" name="Arrow: Chevron 4">
            <a:extLst>
              <a:ext uri="{FF2B5EF4-FFF2-40B4-BE49-F238E27FC236}">
                <a16:creationId xmlns:a16="http://schemas.microsoft.com/office/drawing/2014/main" id="{FB6D8D5A-8337-702B-B83F-5DCBFFBF5EF9}"/>
              </a:ext>
            </a:extLst>
          </p:cNvPr>
          <p:cNvSpPr/>
          <p:nvPr/>
        </p:nvSpPr>
        <p:spPr>
          <a:xfrm>
            <a:off x="3542946" y="2222470"/>
            <a:ext cx="2095500" cy="720090"/>
          </a:xfrm>
          <a:prstGeom prst="chevron">
            <a:avLst/>
          </a:prstGeom>
          <a:solidFill>
            <a:schemeClr val="bg2">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2</a:t>
            </a:r>
            <a:endParaRPr lang="en-IN" b="1" dirty="0">
              <a:solidFill>
                <a:srgbClr val="FF0000"/>
              </a:solidFill>
            </a:endParaRPr>
          </a:p>
        </p:txBody>
      </p:sp>
      <p:sp>
        <p:nvSpPr>
          <p:cNvPr id="6" name="Arrow: Chevron 5">
            <a:extLst>
              <a:ext uri="{FF2B5EF4-FFF2-40B4-BE49-F238E27FC236}">
                <a16:creationId xmlns:a16="http://schemas.microsoft.com/office/drawing/2014/main" id="{DAF027CD-81D0-A893-CB32-C28B6F0A2EA7}"/>
              </a:ext>
            </a:extLst>
          </p:cNvPr>
          <p:cNvSpPr/>
          <p:nvPr/>
        </p:nvSpPr>
        <p:spPr>
          <a:xfrm>
            <a:off x="5790846" y="2222470"/>
            <a:ext cx="2095500" cy="720090"/>
          </a:xfrm>
          <a:prstGeom prst="chevron">
            <a:avLst/>
          </a:prstGeom>
          <a:solidFill>
            <a:schemeClr val="bg2">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3</a:t>
            </a:r>
            <a:endParaRPr lang="en-IN" b="1" dirty="0">
              <a:solidFill>
                <a:srgbClr val="FF0000"/>
              </a:solidFill>
            </a:endParaRPr>
          </a:p>
        </p:txBody>
      </p:sp>
      <p:sp>
        <p:nvSpPr>
          <p:cNvPr id="7" name="Arrow: Chevron 6">
            <a:extLst>
              <a:ext uri="{FF2B5EF4-FFF2-40B4-BE49-F238E27FC236}">
                <a16:creationId xmlns:a16="http://schemas.microsoft.com/office/drawing/2014/main" id="{2AB99129-FDF3-B32A-6908-1770BB76147E}"/>
              </a:ext>
            </a:extLst>
          </p:cNvPr>
          <p:cNvSpPr/>
          <p:nvPr/>
        </p:nvSpPr>
        <p:spPr>
          <a:xfrm>
            <a:off x="8038746" y="2222470"/>
            <a:ext cx="1912620" cy="720090"/>
          </a:xfrm>
          <a:prstGeom prst="chevron">
            <a:avLst>
              <a:gd name="adj" fmla="val 53175"/>
            </a:avLst>
          </a:prstGeom>
          <a:solidFill>
            <a:schemeClr val="bg2">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4</a:t>
            </a:r>
            <a:endParaRPr lang="en-IN" b="1" dirty="0">
              <a:solidFill>
                <a:srgbClr val="FF0000"/>
              </a:solidFill>
            </a:endParaRPr>
          </a:p>
        </p:txBody>
      </p:sp>
      <p:sp>
        <p:nvSpPr>
          <p:cNvPr id="8" name="TextBox 7">
            <a:extLst>
              <a:ext uri="{FF2B5EF4-FFF2-40B4-BE49-F238E27FC236}">
                <a16:creationId xmlns:a16="http://schemas.microsoft.com/office/drawing/2014/main" id="{5E0690B9-BC33-1781-A327-8FA1CCD251B5}"/>
              </a:ext>
            </a:extLst>
          </p:cNvPr>
          <p:cNvSpPr txBox="1"/>
          <p:nvPr/>
        </p:nvSpPr>
        <p:spPr>
          <a:xfrm>
            <a:off x="1481902" y="3144821"/>
            <a:ext cx="1668780" cy="1323439"/>
          </a:xfrm>
          <a:prstGeom prst="rect">
            <a:avLst/>
          </a:prstGeom>
          <a:noFill/>
        </p:spPr>
        <p:txBody>
          <a:bodyPr wrap="square" rtlCol="0">
            <a:spAutoFit/>
          </a:bodyPr>
          <a:lstStyle/>
          <a:p>
            <a:pPr algn="l"/>
            <a:r>
              <a:rPr lang="en-US" sz="1600" b="0" i="0" dirty="0">
                <a:solidFill>
                  <a:srgbClr val="303141"/>
                </a:solidFill>
                <a:effectLst/>
                <a:latin typeface="Calibri" panose="020F0502020204030204" pitchFamily="34" charset="0"/>
                <a:ea typeface="Calibri" panose="020F0502020204030204" pitchFamily="34" charset="0"/>
                <a:cs typeface="Calibri" panose="020F0502020204030204" pitchFamily="34" charset="0"/>
              </a:rPr>
              <a:t>Typically, attaches  itself to an executable file or a word document</a:t>
            </a:r>
          </a:p>
          <a:p>
            <a:endParaRPr lang="en-IN" sz="1600" dirty="0">
              <a:latin typeface="Calibri" panose="020F0502020204030204" pitchFamily="34" charset="0"/>
              <a:ea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A21F5573-817A-E6C5-80CD-40C2F5DEA6C2}"/>
              </a:ext>
            </a:extLst>
          </p:cNvPr>
          <p:cNvSpPr txBox="1"/>
          <p:nvPr/>
        </p:nvSpPr>
        <p:spPr>
          <a:xfrm>
            <a:off x="3612189" y="3160209"/>
            <a:ext cx="1873194" cy="1077218"/>
          </a:xfrm>
          <a:prstGeom prst="rect">
            <a:avLst/>
          </a:prstGeom>
          <a:noFill/>
        </p:spPr>
        <p:txBody>
          <a:bodyPr wrap="square">
            <a:spAutoFit/>
          </a:bodyPr>
          <a:lstStyle/>
          <a:p>
            <a:pPr algn="l"/>
            <a:r>
              <a:rPr lang="en-US" sz="1600" dirty="0">
                <a:solidFill>
                  <a:srgbClr val="303141"/>
                </a:solidFill>
                <a:latin typeface="Calibri" panose="020F0502020204030204" pitchFamily="34" charset="0"/>
                <a:ea typeface="Calibri" panose="020F0502020204030204" pitchFamily="34" charset="0"/>
                <a:cs typeface="Calibri" panose="020F0502020204030204" pitchFamily="34" charset="0"/>
              </a:rPr>
              <a:t>Spread via email attachments, infected websites, and flash drives.</a:t>
            </a:r>
          </a:p>
        </p:txBody>
      </p:sp>
      <p:sp>
        <p:nvSpPr>
          <p:cNvPr id="11" name="TextBox 10">
            <a:extLst>
              <a:ext uri="{FF2B5EF4-FFF2-40B4-BE49-F238E27FC236}">
                <a16:creationId xmlns:a16="http://schemas.microsoft.com/office/drawing/2014/main" id="{EB1536E5-5B14-E2BE-E6E1-15623A06D262}"/>
              </a:ext>
            </a:extLst>
          </p:cNvPr>
          <p:cNvSpPr txBox="1"/>
          <p:nvPr/>
        </p:nvSpPr>
        <p:spPr>
          <a:xfrm>
            <a:off x="8221294" y="3148631"/>
            <a:ext cx="1730072" cy="830997"/>
          </a:xfrm>
          <a:prstGeom prst="rect">
            <a:avLst/>
          </a:prstGeom>
          <a:noFill/>
        </p:spPr>
        <p:txBody>
          <a:bodyPr wrap="square">
            <a:spAutoFit/>
          </a:bodyPr>
          <a:lstStyle/>
          <a:p>
            <a:pPr algn="l"/>
            <a:r>
              <a:rPr lang="en-US" sz="1600" dirty="0">
                <a:solidFill>
                  <a:srgbClr val="303141"/>
                </a:solidFill>
                <a:latin typeface="Calibri" panose="020F0502020204030204" pitchFamily="34" charset="0"/>
                <a:ea typeface="Calibri" panose="020F0502020204030204" pitchFamily="34" charset="0"/>
                <a:cs typeface="Calibri" panose="020F0502020204030204" pitchFamily="34" charset="0"/>
              </a:rPr>
              <a:t>Once activated, will go into course destruction mode</a:t>
            </a:r>
          </a:p>
        </p:txBody>
      </p:sp>
      <p:sp>
        <p:nvSpPr>
          <p:cNvPr id="12" name="TextBox 11">
            <a:extLst>
              <a:ext uri="{FF2B5EF4-FFF2-40B4-BE49-F238E27FC236}">
                <a16:creationId xmlns:a16="http://schemas.microsoft.com/office/drawing/2014/main" id="{CB9D42B9-FDFA-C130-7FC0-82CF71785616}"/>
              </a:ext>
            </a:extLst>
          </p:cNvPr>
          <p:cNvSpPr txBox="1"/>
          <p:nvPr/>
        </p:nvSpPr>
        <p:spPr>
          <a:xfrm>
            <a:off x="5960477" y="3160209"/>
            <a:ext cx="1873194" cy="1077218"/>
          </a:xfrm>
          <a:prstGeom prst="rect">
            <a:avLst/>
          </a:prstGeom>
          <a:noFill/>
        </p:spPr>
        <p:txBody>
          <a:bodyPr wrap="square">
            <a:spAutoFit/>
          </a:bodyPr>
          <a:lstStyle/>
          <a:p>
            <a:pPr algn="l"/>
            <a:r>
              <a:rPr lang="en-US" sz="1600" dirty="0">
                <a:solidFill>
                  <a:srgbClr val="303141"/>
                </a:solidFill>
                <a:latin typeface="Calibri" panose="020F0502020204030204" pitchFamily="34" charset="0"/>
                <a:ea typeface="Calibri" panose="020F0502020204030204" pitchFamily="34" charset="0"/>
                <a:cs typeface="Calibri" panose="020F0502020204030204" pitchFamily="34" charset="0"/>
              </a:rPr>
              <a:t>Will remain dormant until the infected file or system is activated</a:t>
            </a:r>
          </a:p>
        </p:txBody>
      </p:sp>
    </p:spTree>
    <p:extLst>
      <p:ext uri="{BB962C8B-B14F-4D97-AF65-F5344CB8AC3E}">
        <p14:creationId xmlns:p14="http://schemas.microsoft.com/office/powerpoint/2010/main" val="27201922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88494-2AF0-0A6A-306B-870A60668F92}"/>
              </a:ext>
            </a:extLst>
          </p:cNvPr>
          <p:cNvSpPr>
            <a:spLocks noGrp="1"/>
          </p:cNvSpPr>
          <p:nvPr>
            <p:ph type="title"/>
          </p:nvPr>
        </p:nvSpPr>
        <p:spPr/>
        <p:txBody>
          <a:bodyPr>
            <a:normAutofit/>
          </a:bodyPr>
          <a:lstStyle/>
          <a:p>
            <a:r>
              <a:rPr lang="en-US" b="1" dirty="0"/>
              <a:t>Attacks (3/6)</a:t>
            </a:r>
            <a:endParaRPr lang="en-IN" dirty="0"/>
          </a:p>
        </p:txBody>
      </p:sp>
      <p:sp>
        <p:nvSpPr>
          <p:cNvPr id="3" name="Content Placeholder 2">
            <a:extLst>
              <a:ext uri="{FF2B5EF4-FFF2-40B4-BE49-F238E27FC236}">
                <a16:creationId xmlns:a16="http://schemas.microsoft.com/office/drawing/2014/main" id="{EB5225A2-94B3-959D-4459-5068BFE045CC}"/>
              </a:ext>
            </a:extLst>
          </p:cNvPr>
          <p:cNvSpPr>
            <a:spLocks noGrp="1"/>
          </p:cNvSpPr>
          <p:nvPr>
            <p:ph idx="1"/>
          </p:nvPr>
        </p:nvSpPr>
        <p:spPr>
          <a:xfrm>
            <a:off x="838200" y="1116154"/>
            <a:ext cx="10191750" cy="5209399"/>
          </a:xfrm>
        </p:spPr>
        <p:txBody>
          <a:bodyPr>
            <a:normAutofit/>
          </a:bodyPr>
          <a:lstStyle/>
          <a:p>
            <a:pPr marL="0" indent="0" algn="l">
              <a:buNone/>
            </a:pPr>
            <a:r>
              <a:rPr lang="en-US" b="1" i="0" dirty="0">
                <a:solidFill>
                  <a:srgbClr val="303141"/>
                </a:solidFill>
                <a:effectLst/>
              </a:rPr>
              <a:t>W</a:t>
            </a:r>
            <a:r>
              <a:rPr lang="en-IN" b="1" i="0" dirty="0" err="1">
                <a:solidFill>
                  <a:srgbClr val="303141"/>
                </a:solidFill>
                <a:effectLst/>
              </a:rPr>
              <a:t>orms</a:t>
            </a:r>
            <a:r>
              <a:rPr lang="en-IN" b="1" i="0" dirty="0">
                <a:solidFill>
                  <a:srgbClr val="303141"/>
                </a:solidFill>
                <a:effectLst/>
              </a:rPr>
              <a:t> </a:t>
            </a:r>
            <a:r>
              <a:rPr lang="en-IN" i="0" dirty="0">
                <a:solidFill>
                  <a:srgbClr val="303141"/>
                </a:solidFill>
                <a:effectLst/>
              </a:rPr>
              <a:t>enter a systems via</a:t>
            </a:r>
          </a:p>
          <a:p>
            <a:pPr marL="457200" indent="-457200" algn="l">
              <a:buFont typeface="+mj-lt"/>
              <a:buAutoNum type="arabicPeriod"/>
            </a:pPr>
            <a:r>
              <a:rPr lang="en-IN" i="0" dirty="0">
                <a:solidFill>
                  <a:srgbClr val="303141"/>
                </a:solidFill>
                <a:effectLst/>
              </a:rPr>
              <a:t>Spread themselves</a:t>
            </a:r>
          </a:p>
          <a:p>
            <a:pPr marL="457200" indent="-457200" algn="l">
              <a:buFont typeface="+mj-lt"/>
              <a:buAutoNum type="arabicPeriod"/>
            </a:pPr>
            <a:r>
              <a:rPr lang="en-IN" dirty="0">
                <a:solidFill>
                  <a:srgbClr val="303141"/>
                </a:solidFill>
              </a:rPr>
              <a:t>Enter systems via network connections or downloaded files</a:t>
            </a:r>
          </a:p>
          <a:p>
            <a:pPr marL="0" indent="0" algn="l">
              <a:buNone/>
            </a:pPr>
            <a:endParaRPr lang="en-US" b="1" i="0" dirty="0">
              <a:solidFill>
                <a:srgbClr val="303141"/>
              </a:solidFill>
              <a:effectLst/>
            </a:endParaRPr>
          </a:p>
          <a:p>
            <a:pPr marL="0" indent="0" algn="l">
              <a:buNone/>
            </a:pPr>
            <a:r>
              <a:rPr lang="en-US" dirty="0">
                <a:solidFill>
                  <a:srgbClr val="303141"/>
                </a:solidFill>
              </a:rPr>
              <a:t>While Viruses vary widely in their objective, 99% of them are destructive – destroy files, or slow down system performance or cause no harm like latent viruses.</a:t>
            </a:r>
          </a:p>
          <a:p>
            <a:pPr marL="0" indent="0" algn="l">
              <a:buNone/>
            </a:pPr>
            <a:endParaRPr lang="en-US" i="0" dirty="0">
              <a:solidFill>
                <a:srgbClr val="303141"/>
              </a:solidFill>
              <a:effectLst/>
            </a:endParaRPr>
          </a:p>
          <a:p>
            <a:pPr marL="0" indent="0" algn="l">
              <a:buNone/>
            </a:pPr>
            <a:r>
              <a:rPr lang="en-US" dirty="0">
                <a:solidFill>
                  <a:srgbClr val="303141"/>
                </a:solidFill>
              </a:rPr>
              <a:t>Best ways to fight against viruses and worms:</a:t>
            </a:r>
          </a:p>
          <a:p>
            <a:pPr marL="457200" indent="-457200" algn="l">
              <a:buAutoNum type="arabicParenR"/>
            </a:pPr>
            <a:r>
              <a:rPr lang="en-US" i="0" dirty="0">
                <a:solidFill>
                  <a:srgbClr val="303141"/>
                </a:solidFill>
                <a:effectLst/>
              </a:rPr>
              <a:t>Antivirus products</a:t>
            </a:r>
          </a:p>
          <a:p>
            <a:pPr marL="457200" indent="-457200" algn="l">
              <a:buAutoNum type="arabicParenR"/>
            </a:pPr>
            <a:r>
              <a:rPr lang="en-US" dirty="0">
                <a:solidFill>
                  <a:srgbClr val="303141"/>
                </a:solidFill>
              </a:rPr>
              <a:t>Antimalware Products</a:t>
            </a:r>
          </a:p>
          <a:p>
            <a:pPr marL="457200" indent="-457200" algn="l">
              <a:buAutoNum type="arabicParenR"/>
            </a:pPr>
            <a:r>
              <a:rPr lang="en-US" i="0" dirty="0">
                <a:solidFill>
                  <a:srgbClr val="303141"/>
                </a:solidFill>
                <a:effectLst/>
              </a:rPr>
              <a:t>Res</a:t>
            </a:r>
            <a:r>
              <a:rPr lang="en-US" dirty="0">
                <a:solidFill>
                  <a:srgbClr val="303141"/>
                </a:solidFill>
              </a:rPr>
              <a:t>trict the use of flash drives</a:t>
            </a:r>
            <a:endParaRPr lang="en-US" i="0" dirty="0">
              <a:solidFill>
                <a:srgbClr val="303141"/>
              </a:solidFill>
              <a:effectLst/>
            </a:endParaRPr>
          </a:p>
        </p:txBody>
      </p:sp>
    </p:spTree>
    <p:extLst>
      <p:ext uri="{BB962C8B-B14F-4D97-AF65-F5344CB8AC3E}">
        <p14:creationId xmlns:p14="http://schemas.microsoft.com/office/powerpoint/2010/main" val="39297963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5084D-1900-9222-13D2-31D63F3FE711}"/>
              </a:ext>
            </a:extLst>
          </p:cNvPr>
          <p:cNvSpPr>
            <a:spLocks noGrp="1"/>
          </p:cNvSpPr>
          <p:nvPr>
            <p:ph type="title"/>
          </p:nvPr>
        </p:nvSpPr>
        <p:spPr/>
        <p:txBody>
          <a:bodyPr/>
          <a:lstStyle/>
          <a:p>
            <a:r>
              <a:rPr lang="en-US" b="1" dirty="0"/>
              <a:t>Attacks (4/6)</a:t>
            </a:r>
            <a:endParaRPr lang="en-IN" dirty="0"/>
          </a:p>
        </p:txBody>
      </p:sp>
      <p:sp>
        <p:nvSpPr>
          <p:cNvPr id="3" name="Content Placeholder 2">
            <a:extLst>
              <a:ext uri="{FF2B5EF4-FFF2-40B4-BE49-F238E27FC236}">
                <a16:creationId xmlns:a16="http://schemas.microsoft.com/office/drawing/2014/main" id="{A0D87F45-E947-CCBF-AF79-45569CE22F55}"/>
              </a:ext>
            </a:extLst>
          </p:cNvPr>
          <p:cNvSpPr>
            <a:spLocks noGrp="1"/>
          </p:cNvSpPr>
          <p:nvPr>
            <p:ph idx="1"/>
          </p:nvPr>
        </p:nvSpPr>
        <p:spPr>
          <a:xfrm>
            <a:off x="838200" y="997868"/>
            <a:ext cx="10515600" cy="5209399"/>
          </a:xfrm>
        </p:spPr>
        <p:txBody>
          <a:bodyPr/>
          <a:lstStyle/>
          <a:p>
            <a:pPr algn="l"/>
            <a:r>
              <a:rPr lang="en-US" dirty="0"/>
              <a:t>Trojans: </a:t>
            </a:r>
            <a:r>
              <a:rPr lang="en-US" b="0" i="0" dirty="0">
                <a:solidFill>
                  <a:srgbClr val="303141"/>
                </a:solidFill>
                <a:effectLst/>
              </a:rPr>
              <a:t>Trojans are extremely dangerous because on the surface they appear to be real software legitimate software. But actually malicious software looking to do harm.</a:t>
            </a:r>
          </a:p>
          <a:p>
            <a:pPr algn="l"/>
            <a:r>
              <a:rPr lang="en-US" b="0" i="0" dirty="0">
                <a:solidFill>
                  <a:srgbClr val="303141"/>
                </a:solidFill>
                <a:effectLst/>
              </a:rPr>
              <a:t>Trojan is a very powerful malware often disguised as legitimate software, implying a high degree of sophistication.</a:t>
            </a:r>
          </a:p>
          <a:p>
            <a:pPr algn="l"/>
            <a:r>
              <a:rPr lang="en-US" b="0" i="0" dirty="0">
                <a:solidFill>
                  <a:srgbClr val="303141"/>
                </a:solidFill>
                <a:effectLst/>
              </a:rPr>
              <a:t>While viruses and worms can self-replicate</a:t>
            </a:r>
            <a:r>
              <a:rPr lang="en-US" dirty="0">
                <a:solidFill>
                  <a:srgbClr val="303141"/>
                </a:solidFill>
              </a:rPr>
              <a:t>, Trojans cannot.</a:t>
            </a:r>
            <a:endParaRPr lang="en-US" b="0" i="0" dirty="0">
              <a:solidFill>
                <a:srgbClr val="303141"/>
              </a:solidFill>
              <a:effectLst/>
            </a:endParaRPr>
          </a:p>
          <a:p>
            <a:pPr marL="0" indent="0" algn="l">
              <a:buNone/>
            </a:pPr>
            <a:endParaRPr lang="en-US" dirty="0">
              <a:solidFill>
                <a:srgbClr val="303141"/>
              </a:solidFill>
            </a:endParaRPr>
          </a:p>
          <a:p>
            <a:pPr marL="0" indent="0" algn="l">
              <a:buNone/>
            </a:pPr>
            <a:r>
              <a:rPr lang="en-US" b="1" i="0" dirty="0">
                <a:solidFill>
                  <a:srgbClr val="303141"/>
                </a:solidFill>
                <a:effectLst/>
              </a:rPr>
              <a:t>Types of Trojans</a:t>
            </a:r>
          </a:p>
          <a:p>
            <a:pPr marL="457200" indent="-457200" algn="l">
              <a:buFont typeface="+mj-lt"/>
              <a:buAutoNum type="arabicPeriod"/>
            </a:pPr>
            <a:r>
              <a:rPr lang="en-IN" b="0" i="0" dirty="0">
                <a:solidFill>
                  <a:srgbClr val="303141"/>
                </a:solidFill>
                <a:effectLst/>
              </a:rPr>
              <a:t>Backdoor Trojan: </a:t>
            </a:r>
            <a:r>
              <a:rPr lang="en-US" dirty="0">
                <a:solidFill>
                  <a:srgbClr val="303141"/>
                </a:solidFill>
              </a:rPr>
              <a:t>A</a:t>
            </a:r>
            <a:r>
              <a:rPr lang="en-US" b="0" i="0" dirty="0">
                <a:solidFill>
                  <a:srgbClr val="303141"/>
                </a:solidFill>
                <a:effectLst/>
              </a:rPr>
              <a:t>llows a hacker unauthorized access to a system in order to control it.</a:t>
            </a:r>
          </a:p>
          <a:p>
            <a:pPr marL="457200" indent="-457200" algn="l">
              <a:buFont typeface="+mj-lt"/>
              <a:buAutoNum type="arabicPeriod"/>
            </a:pPr>
            <a:r>
              <a:rPr lang="en-IN" b="0" i="0" dirty="0">
                <a:solidFill>
                  <a:srgbClr val="303141"/>
                </a:solidFill>
                <a:effectLst/>
              </a:rPr>
              <a:t>Infostealer Trojan: </a:t>
            </a:r>
            <a:r>
              <a:rPr lang="en-US" b="0" i="0" dirty="0">
                <a:solidFill>
                  <a:srgbClr val="303141"/>
                </a:solidFill>
                <a:effectLst/>
              </a:rPr>
              <a:t> Steals data from infected computers</a:t>
            </a:r>
          </a:p>
          <a:p>
            <a:pPr marL="457200" indent="-457200" algn="l">
              <a:buFont typeface="+mj-lt"/>
              <a:buAutoNum type="arabicPeriod"/>
            </a:pPr>
            <a:r>
              <a:rPr lang="en-IN" b="0" i="0" dirty="0">
                <a:solidFill>
                  <a:srgbClr val="303141"/>
                </a:solidFill>
                <a:effectLst/>
              </a:rPr>
              <a:t>Trojan downloader</a:t>
            </a:r>
            <a:r>
              <a:rPr lang="en-US" dirty="0">
                <a:solidFill>
                  <a:srgbClr val="303141"/>
                </a:solidFill>
              </a:rPr>
              <a:t>: U</a:t>
            </a:r>
            <a:r>
              <a:rPr lang="en-US" b="0" i="0" dirty="0">
                <a:solidFill>
                  <a:srgbClr val="303141"/>
                </a:solidFill>
                <a:effectLst/>
              </a:rPr>
              <a:t>sed to download and install new versions of malware onto a system</a:t>
            </a:r>
          </a:p>
          <a:p>
            <a:pPr marL="457200" indent="-457200" algn="l">
              <a:buFont typeface="+mj-lt"/>
              <a:buAutoNum type="arabicPeriod"/>
            </a:pPr>
            <a:r>
              <a:rPr lang="en-IN" dirty="0">
                <a:solidFill>
                  <a:srgbClr val="303141"/>
                </a:solidFill>
              </a:rPr>
              <a:t>Trojan DDoS</a:t>
            </a:r>
            <a:r>
              <a:rPr lang="en-US" dirty="0">
                <a:solidFill>
                  <a:srgbClr val="303141"/>
                </a:solidFill>
              </a:rPr>
              <a:t>:  A</a:t>
            </a:r>
            <a:r>
              <a:rPr lang="en-US" b="0" i="0" dirty="0">
                <a:solidFill>
                  <a:srgbClr val="303141"/>
                </a:solidFill>
                <a:effectLst/>
              </a:rPr>
              <a:t>ble to conduct denial of service attacks against websites</a:t>
            </a:r>
            <a:endParaRPr lang="en-US" dirty="0"/>
          </a:p>
          <a:p>
            <a:pPr marL="0" indent="0" algn="l">
              <a:buNone/>
            </a:pPr>
            <a:endParaRPr lang="en-IN" dirty="0"/>
          </a:p>
        </p:txBody>
      </p:sp>
    </p:spTree>
    <p:extLst>
      <p:ext uri="{BB962C8B-B14F-4D97-AF65-F5344CB8AC3E}">
        <p14:creationId xmlns:p14="http://schemas.microsoft.com/office/powerpoint/2010/main" val="14260277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2FC16-7B54-6D1F-C819-43A2627CEF88}"/>
              </a:ext>
            </a:extLst>
          </p:cNvPr>
          <p:cNvSpPr>
            <a:spLocks noGrp="1"/>
          </p:cNvSpPr>
          <p:nvPr>
            <p:ph type="title"/>
          </p:nvPr>
        </p:nvSpPr>
        <p:spPr/>
        <p:txBody>
          <a:bodyPr/>
          <a:lstStyle/>
          <a:p>
            <a:r>
              <a:rPr lang="en-US" b="1" dirty="0"/>
              <a:t>Attacks (5/6)</a:t>
            </a:r>
            <a:endParaRPr lang="en-IN" dirty="0"/>
          </a:p>
        </p:txBody>
      </p:sp>
      <p:sp>
        <p:nvSpPr>
          <p:cNvPr id="3" name="Content Placeholder 2">
            <a:extLst>
              <a:ext uri="{FF2B5EF4-FFF2-40B4-BE49-F238E27FC236}">
                <a16:creationId xmlns:a16="http://schemas.microsoft.com/office/drawing/2014/main" id="{75285D95-FD73-23F8-C695-19235C032AA4}"/>
              </a:ext>
            </a:extLst>
          </p:cNvPr>
          <p:cNvSpPr>
            <a:spLocks noGrp="1"/>
          </p:cNvSpPr>
          <p:nvPr>
            <p:ph idx="1"/>
          </p:nvPr>
        </p:nvSpPr>
        <p:spPr>
          <a:xfrm>
            <a:off x="923260" y="967564"/>
            <a:ext cx="10515600" cy="5209399"/>
          </a:xfrm>
        </p:spPr>
        <p:txBody>
          <a:bodyPr>
            <a:normAutofit/>
          </a:bodyPr>
          <a:lstStyle/>
          <a:p>
            <a:pPr algn="l"/>
            <a:r>
              <a:rPr lang="en-US" b="1" dirty="0">
                <a:solidFill>
                  <a:srgbClr val="303141"/>
                </a:solidFill>
              </a:rPr>
              <a:t>Adware:</a:t>
            </a:r>
            <a:r>
              <a:rPr lang="en-US" dirty="0">
                <a:solidFill>
                  <a:srgbClr val="303141"/>
                </a:solidFill>
              </a:rPr>
              <a:t>  Would be a program that displays unwanted banner advertisements. They are very often bundled within software that is installed. C</a:t>
            </a:r>
            <a:r>
              <a:rPr lang="en-US" b="0" i="0" dirty="0">
                <a:solidFill>
                  <a:srgbClr val="303141"/>
                </a:solidFill>
                <a:effectLst/>
              </a:rPr>
              <a:t>ertain adware can be more malicious as they can hijack your browser, start or search pages.</a:t>
            </a:r>
          </a:p>
          <a:p>
            <a:pPr algn="l"/>
            <a:r>
              <a:rPr lang="en-US" b="1" dirty="0">
                <a:solidFill>
                  <a:srgbClr val="303141"/>
                </a:solidFill>
              </a:rPr>
              <a:t>Spyware</a:t>
            </a:r>
            <a:r>
              <a:rPr lang="en-US" dirty="0">
                <a:solidFill>
                  <a:srgbClr val="303141"/>
                </a:solidFill>
              </a:rPr>
              <a:t>: </a:t>
            </a:r>
            <a:r>
              <a:rPr lang="en-US" b="0" i="0" dirty="0">
                <a:solidFill>
                  <a:srgbClr val="303141"/>
                </a:solidFill>
                <a:effectLst/>
              </a:rPr>
              <a:t>are a form of adware that track web usage.</a:t>
            </a:r>
          </a:p>
          <a:p>
            <a:pPr marL="0" indent="0" algn="l">
              <a:buNone/>
            </a:pPr>
            <a:r>
              <a:rPr lang="en-US" dirty="0">
                <a:solidFill>
                  <a:srgbClr val="303141"/>
                </a:solidFill>
              </a:rPr>
              <a:t>Best is to avoid downloading free software.</a:t>
            </a:r>
          </a:p>
          <a:p>
            <a:pPr marL="0" indent="0" algn="l">
              <a:buNone/>
            </a:pPr>
            <a:endParaRPr lang="en-US" b="0" i="0" dirty="0">
              <a:solidFill>
                <a:srgbClr val="303141"/>
              </a:solidFill>
              <a:effectLst/>
            </a:endParaRPr>
          </a:p>
          <a:p>
            <a:pPr marL="0" indent="0" algn="l">
              <a:buNone/>
            </a:pPr>
            <a:r>
              <a:rPr lang="en-US" b="1" dirty="0">
                <a:solidFill>
                  <a:srgbClr val="303141"/>
                </a:solidFill>
              </a:rPr>
              <a:t>Ransomware: </a:t>
            </a:r>
            <a:r>
              <a:rPr lang="en-US" dirty="0">
                <a:solidFill>
                  <a:srgbClr val="303141"/>
                </a:solidFill>
              </a:rPr>
              <a:t>Is data hijack by cyber criminals.</a:t>
            </a:r>
          </a:p>
          <a:p>
            <a:pPr marL="457200" indent="-457200" algn="l">
              <a:buFont typeface="+mj-lt"/>
              <a:buAutoNum type="arabicPeriod"/>
            </a:pPr>
            <a:r>
              <a:rPr lang="en-US" b="1" dirty="0">
                <a:solidFill>
                  <a:srgbClr val="303141"/>
                </a:solidFill>
              </a:rPr>
              <a:t>Data access: </a:t>
            </a:r>
            <a:r>
              <a:rPr lang="en-US" dirty="0">
                <a:solidFill>
                  <a:srgbClr val="303141"/>
                </a:solidFill>
              </a:rPr>
              <a:t>Files get encrypted so that owner of files is no longer able to access them until and unless a ransom is paid, and the owner is handed the decryption key.</a:t>
            </a:r>
          </a:p>
          <a:p>
            <a:pPr marL="457200" indent="-457200" algn="l">
              <a:buFont typeface="+mj-lt"/>
              <a:buAutoNum type="arabicPeriod"/>
            </a:pPr>
            <a:r>
              <a:rPr lang="en-US" b="1" i="0" dirty="0">
                <a:solidFill>
                  <a:srgbClr val="303141"/>
                </a:solidFill>
                <a:effectLst/>
              </a:rPr>
              <a:t>Data Sensitivity </a:t>
            </a:r>
            <a:r>
              <a:rPr lang="en-US" i="0" dirty="0">
                <a:solidFill>
                  <a:srgbClr val="303141"/>
                </a:solidFill>
                <a:effectLst/>
              </a:rPr>
              <a:t>Data that is confidential, personal, sensitive and being made public could damage reputation.</a:t>
            </a:r>
          </a:p>
          <a:p>
            <a:pPr marL="0" indent="0" algn="l">
              <a:buNone/>
            </a:pPr>
            <a:r>
              <a:rPr lang="en-US" i="0" dirty="0">
                <a:solidFill>
                  <a:srgbClr val="303141"/>
                </a:solidFill>
                <a:effectLst/>
              </a:rPr>
              <a:t>Hackers can also deploy Ransomware as a Service.</a:t>
            </a:r>
            <a:endParaRPr lang="en-IN" dirty="0"/>
          </a:p>
        </p:txBody>
      </p:sp>
    </p:spTree>
    <p:extLst>
      <p:ext uri="{BB962C8B-B14F-4D97-AF65-F5344CB8AC3E}">
        <p14:creationId xmlns:p14="http://schemas.microsoft.com/office/powerpoint/2010/main" val="42777237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83397-C1BB-0FCC-EFE5-DE55182F7255}"/>
              </a:ext>
            </a:extLst>
          </p:cNvPr>
          <p:cNvSpPr>
            <a:spLocks noGrp="1"/>
          </p:cNvSpPr>
          <p:nvPr>
            <p:ph type="title"/>
          </p:nvPr>
        </p:nvSpPr>
        <p:spPr/>
        <p:txBody>
          <a:bodyPr/>
          <a:lstStyle/>
          <a:p>
            <a:r>
              <a:rPr lang="en-US" b="1" dirty="0"/>
              <a:t>Attacks (6/6)</a:t>
            </a:r>
            <a:endParaRPr lang="en-IN" dirty="0"/>
          </a:p>
        </p:txBody>
      </p:sp>
      <p:sp>
        <p:nvSpPr>
          <p:cNvPr id="3" name="Content Placeholder 2">
            <a:extLst>
              <a:ext uri="{FF2B5EF4-FFF2-40B4-BE49-F238E27FC236}">
                <a16:creationId xmlns:a16="http://schemas.microsoft.com/office/drawing/2014/main" id="{426BE523-5CE5-2093-BBA1-E07BC354A370}"/>
              </a:ext>
            </a:extLst>
          </p:cNvPr>
          <p:cNvSpPr>
            <a:spLocks noGrp="1"/>
          </p:cNvSpPr>
          <p:nvPr>
            <p:ph idx="1"/>
          </p:nvPr>
        </p:nvSpPr>
        <p:spPr>
          <a:xfrm>
            <a:off x="838200" y="1085851"/>
            <a:ext cx="10515600" cy="5209399"/>
          </a:xfrm>
        </p:spPr>
        <p:txBody>
          <a:bodyPr>
            <a:normAutofit lnSpcReduction="10000"/>
          </a:bodyPr>
          <a:lstStyle/>
          <a:p>
            <a:pPr marL="0" indent="0">
              <a:buNone/>
            </a:pPr>
            <a:r>
              <a:rPr lang="en-US" dirty="0"/>
              <a:t>Defense against Ransomware:</a:t>
            </a:r>
          </a:p>
          <a:p>
            <a:pPr marL="457200" indent="-457200">
              <a:buFont typeface="+mj-lt"/>
              <a:buAutoNum type="arabicPeriod"/>
            </a:pPr>
            <a:r>
              <a:rPr lang="en-US" dirty="0"/>
              <a:t>Backups</a:t>
            </a:r>
          </a:p>
          <a:p>
            <a:pPr marL="457200" indent="-457200">
              <a:buFont typeface="+mj-lt"/>
              <a:buAutoNum type="arabicPeriod"/>
            </a:pPr>
            <a:r>
              <a:rPr lang="en-US" dirty="0"/>
              <a:t>Security Training</a:t>
            </a:r>
          </a:p>
          <a:p>
            <a:pPr marL="457200" indent="-457200" algn="l">
              <a:buFont typeface="+mj-lt"/>
              <a:buAutoNum type="arabicPeriod"/>
            </a:pPr>
            <a:r>
              <a:rPr lang="en-US" dirty="0"/>
              <a:t>Efficient Disaster Recovery Plans: </a:t>
            </a:r>
            <a:r>
              <a:rPr lang="en-US" b="0" i="0" dirty="0">
                <a:solidFill>
                  <a:srgbClr val="303141"/>
                </a:solidFill>
                <a:effectLst/>
              </a:rPr>
              <a:t>are plans that have been created that would allow a company to respond in a very efficient manner should they get hacked</a:t>
            </a:r>
          </a:p>
          <a:p>
            <a:pPr marL="0" indent="0">
              <a:buNone/>
            </a:pPr>
            <a:endParaRPr lang="en-IN" dirty="0"/>
          </a:p>
          <a:p>
            <a:pPr marL="0" indent="0">
              <a:buNone/>
            </a:pPr>
            <a:r>
              <a:rPr lang="en-IN" dirty="0"/>
              <a:t>Other types of Malware: </a:t>
            </a:r>
          </a:p>
          <a:p>
            <a:pPr marL="0" indent="0">
              <a:buNone/>
            </a:pPr>
            <a:r>
              <a:rPr lang="en-IN" b="1" dirty="0"/>
              <a:t>Rootkits: </a:t>
            </a:r>
            <a:r>
              <a:rPr lang="en-IN" dirty="0"/>
              <a:t>Hide and strike when Opportunity arises and allow other malware to hide in plain sight by disguising them as real essential files. Simple solution is to wipe out the hard drive.</a:t>
            </a:r>
          </a:p>
          <a:p>
            <a:pPr marL="0" indent="0">
              <a:buNone/>
            </a:pPr>
            <a:r>
              <a:rPr lang="en-IN" b="1" dirty="0"/>
              <a:t>Browser Hijacker: </a:t>
            </a:r>
            <a:r>
              <a:rPr lang="en-IN" dirty="0"/>
              <a:t>Hijack a victim’s browser and redirect to specific pages where they can provide ads to the victims. </a:t>
            </a:r>
          </a:p>
          <a:p>
            <a:pPr marL="0" indent="0">
              <a:buNone/>
            </a:pPr>
            <a:r>
              <a:rPr lang="en-IN" b="1" dirty="0"/>
              <a:t>Rogue Security Software: </a:t>
            </a:r>
            <a:r>
              <a:rPr lang="en-IN" dirty="0"/>
              <a:t>They pretend to be good programs to remove malware, but are malware themselves. Once installed, once activated, they turn off any real security software available.</a:t>
            </a:r>
          </a:p>
        </p:txBody>
      </p:sp>
    </p:spTree>
    <p:extLst>
      <p:ext uri="{BB962C8B-B14F-4D97-AF65-F5344CB8AC3E}">
        <p14:creationId xmlns:p14="http://schemas.microsoft.com/office/powerpoint/2010/main" val="37915423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320</TotalTime>
  <Words>610</Words>
  <Application>Microsoft Office PowerPoint</Application>
  <PresentationFormat>Widescreen</PresentationFormat>
  <Paragraphs>61</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Arial</vt:lpstr>
      <vt:lpstr>Calibri</vt:lpstr>
      <vt:lpstr>Udemy Sans</vt:lpstr>
      <vt:lpstr>Office Theme</vt:lpstr>
      <vt:lpstr>Essentials of CyberSecurity</vt:lpstr>
      <vt:lpstr>Malware (1/9)</vt:lpstr>
      <vt:lpstr>Malware (2/9)</vt:lpstr>
      <vt:lpstr>Attacks (3/6)</vt:lpstr>
      <vt:lpstr>Attacks (4/6)</vt:lpstr>
      <vt:lpstr>Attacks (5/6)</vt:lpstr>
      <vt:lpstr>Attacks (6/6)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Aparajita Sharma</dc:creator>
  <cp:lastModifiedBy>Aparajita Sharma</cp:lastModifiedBy>
  <cp:revision>21</cp:revision>
  <dcterms:created xsi:type="dcterms:W3CDTF">2025-03-04T05:35:51Z</dcterms:created>
  <dcterms:modified xsi:type="dcterms:W3CDTF">2025-03-04T16:44:35Z</dcterms:modified>
</cp:coreProperties>
</file>