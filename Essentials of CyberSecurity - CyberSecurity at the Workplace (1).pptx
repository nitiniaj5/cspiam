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 snapToGrid="0">
      <p:cViewPr>
        <p:scale>
          <a:sx n="60" d="100"/>
          <a:sy n="60" d="100"/>
        </p:scale>
        <p:origin x="78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1012-0DC3-FEC7-83C3-550EECD89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33600-1D17-5C72-2E31-DB53BBD2E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FA2B5-B901-4B9A-CFC0-EDE64DD16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6941F-8DB5-8AB5-1525-F4A4674D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4E6D0-64A6-B786-6502-A3F5C1FD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83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2A5A-DA41-4C3D-E7C4-B191BF6F4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438"/>
          </a:xfrm>
        </p:spPr>
        <p:txBody>
          <a:bodyPr>
            <a:noAutofit/>
          </a:bodyPr>
          <a:lstStyle>
            <a:lvl1pPr>
              <a:def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1AC92-F513-E4D6-5E8E-61B503C20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564"/>
            <a:ext cx="10515600" cy="5209399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CABBE-6628-5F40-A550-1A6780D26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5BF14-E1B0-D269-FCF6-EDA0D184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B3961-7F90-4B60-2396-10935B22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10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17EA-3807-EB44-FE89-3447D805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98C99-EA21-A995-62E0-EAD947F99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BFBEF-8233-3E6D-F250-D665FCCE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ABB1-6066-B6A0-25C8-CDB0DCA3A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71CAA-2C2B-B85C-E01E-4EFF0C8D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6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96A1-AF40-0265-DD55-415611FF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9E10D-2675-31EB-D690-0E098EC33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16309-3EE6-E361-C0CC-751C763A7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F0BF8-84EC-7649-CD0F-FECE9144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E0113-B8E3-166C-3C4E-512FD1342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A8B4A-D772-FA20-C017-7F7B4308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95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489C8-A937-3BDF-9B77-02FC0E7F6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5F8A4-65ED-C772-E2FC-8E2A05444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485F8-B47C-9BF4-8CB7-849D43F64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53812-1E90-F597-C1E1-12F2B363D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ACB64A-362B-8C7E-EBF6-0FA5ECE92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4EA02-D062-05A6-6EA4-41056DFF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81C9D-795E-B5F2-5739-AF304A50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2EC11B-A265-3ABB-6DB9-F08369B3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26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EBF6-C97A-3DE4-A5A6-95997E2E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3076D-6236-FD4B-178B-81E7AA0E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53805-5348-EEE4-9F69-3D40EBAE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928AD-6082-489B-E344-2BEF7C16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90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E9AA99-FEBD-E9B4-E431-FE9A6DEE8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FE354-2D74-A148-D922-AFA293EF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AFD8E-C682-C76B-4673-302E3E40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564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1DAD-ED74-CFD5-4F10-F592DA93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7AC48-BECB-DA15-2935-9AD807C6D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F5F26-7CB0-2D56-58FE-5A5D19747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C0DE6-C7AB-43F4-D107-70AB9BE9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80CAF-AE38-96B9-1B00-81FE23B1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CCE2A-7ED3-7BDF-16D4-4ED01DCF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80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39FF-22BC-D13B-AB78-524A26E9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3E5FD-3F72-F349-CCE4-62632E6A2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7E0E3-8950-AFA2-06CE-34EED51C3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B96A1-4027-4123-5DFF-3CE5051E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B74-B149-1A6C-DA84-F1F12203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89ADA-BC17-9F2E-2893-525EE5E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7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91CA-3CA8-BC13-26D8-8D313F7E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FC1DA-22F7-804C-FABC-DE46E47D3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CE5FB-A2C6-2585-8115-CFFA82C7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BDEF3-1B5F-BB28-A37F-C27F6391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23989-4816-F338-784A-49A2D927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23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4B29E-7C2A-554F-ABD3-4ADC12E2F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9BFF4-6C95-C61D-E1E8-6625BEFA2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DE5B5-2F35-0223-39E6-EE50B9987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CD21-F6BD-BBB4-26EA-F5FD2CB4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8EE4F-357E-F2F4-6B4F-86446213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8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AF60B-A48A-C2D6-3641-1AFBE539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FFC6C-4072-55CE-C34D-81BE48524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1479"/>
            <a:ext cx="10515600" cy="4975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39F60-571D-D111-82B5-31B97F501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66AB9-185F-49B8-ACD4-138D293583C7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77DA9-FEE3-B79A-2D1A-4D4FC20AD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EEEB5-2F2D-C810-0E6C-D1CE7E8B8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81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80CF9-9E42-FB1A-BA55-4A70B4ADC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Essentials of CyberSecurity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73F0A-8E89-40C6-4EC4-73374D477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CyberSecurity at the Workplace</a:t>
            </a:r>
            <a:endParaRPr lang="en-IN" sz="3800" b="1" dirty="0"/>
          </a:p>
        </p:txBody>
      </p:sp>
    </p:spTree>
    <p:extLst>
      <p:ext uri="{BB962C8B-B14F-4D97-AF65-F5344CB8AC3E}">
        <p14:creationId xmlns:p14="http://schemas.microsoft.com/office/powerpoint/2010/main" val="3983920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3643-A66B-5584-F694-FC5D425F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CyberSecurity at the Workplace </a:t>
            </a:r>
            <a:r>
              <a:rPr lang="en-US" b="1" dirty="0"/>
              <a:t> (1/6)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7960-85F9-E676-76D6-5761B1E4B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444"/>
            <a:ext cx="10515600" cy="52093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4 main sets of Polices for CyberSecurity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Security Policy</a:t>
            </a:r>
            <a:r>
              <a:rPr lang="en-US" dirty="0"/>
              <a:t>: This is a written document that describes how an organization will protect both its virtual and physical assets from threats.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BYOD Policy</a:t>
            </a:r>
            <a:r>
              <a:rPr lang="en-US" dirty="0"/>
              <a:t>: Describes the methods by which these assets are protected from threats.</a:t>
            </a:r>
          </a:p>
          <a:p>
            <a:pPr lvl="1"/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Identifies the assets that need to be protected.</a:t>
            </a:r>
          </a:p>
          <a:p>
            <a:pPr lvl="1"/>
            <a:r>
              <a:rPr lang="en-US" dirty="0"/>
              <a:t>Describes the kinds of data that employees can access.</a:t>
            </a:r>
          </a:p>
          <a:p>
            <a:pPr lvl="1"/>
            <a:r>
              <a:rPr lang="en-US" dirty="0">
                <a:solidFill>
                  <a:srgbClr val="303141"/>
                </a:solidFill>
                <a:latin typeface="Udemy Sans"/>
              </a:rPr>
              <a:t>D</a:t>
            </a:r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escribes how employees can access the data.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Incident Response Plan</a:t>
            </a:r>
            <a:r>
              <a:rPr lang="en-US" dirty="0"/>
              <a:t>: Is a set of policies and procedures that are used to identify, contain and eliminate cyberattacks. It is a policy that describes how employees cyberattacks but use their own personal device to access company data in a safe and secure manner. The whole objective of an Incident Response Plan is to allow an organization or a company to quickly detect and stop cyberattacks but also prevent the same kinds of attacks from occurring in the future.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Disaster Recovery Plan</a:t>
            </a:r>
            <a:r>
              <a:rPr lang="en-US" dirty="0"/>
              <a:t>: This is a plan that focuses on the restoration of critical systems after a disaster.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42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2123-9C68-0CE5-629A-F7CF95E2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CyberSecurity at the Workplace </a:t>
            </a:r>
            <a:r>
              <a:rPr lang="en-US" b="1" dirty="0"/>
              <a:t> (2/6)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EA77A-E7FE-276C-DDB7-EC1B18B69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u="sng" dirty="0">
                <a:solidFill>
                  <a:srgbClr val="303141"/>
                </a:solidFill>
                <a:latin typeface="Udemy Sans"/>
              </a:rPr>
              <a:t>Mobile Device Management Policies</a:t>
            </a:r>
          </a:p>
          <a:p>
            <a:pPr marL="457200" indent="-457200">
              <a:buAutoNum type="arabicPeriod"/>
            </a:pPr>
            <a:r>
              <a:rPr lang="en-US" sz="2200" b="1" dirty="0"/>
              <a:t>BYOD</a:t>
            </a:r>
            <a:r>
              <a:rPr lang="en-US" sz="2200" dirty="0"/>
              <a:t>: Bring Your Own Device (company monitored and popular)</a:t>
            </a:r>
          </a:p>
          <a:p>
            <a:pPr marL="457200" indent="-457200">
              <a:buAutoNum type="arabicPeriod"/>
            </a:pPr>
            <a:r>
              <a:rPr lang="en-US" b="1" dirty="0"/>
              <a:t>COBO</a:t>
            </a:r>
            <a:r>
              <a:rPr lang="en-US" dirty="0"/>
              <a:t>: Corporate-Owned, Business Only (most secure, pre-configured by IT Dept.)</a:t>
            </a:r>
          </a:p>
          <a:p>
            <a:pPr marL="457200" indent="-457200">
              <a:buAutoNum type="arabicPeriod"/>
            </a:pPr>
            <a:r>
              <a:rPr lang="en-US" sz="2200" b="1" dirty="0"/>
              <a:t>COPE</a:t>
            </a:r>
            <a:r>
              <a:rPr lang="en-US" sz="2200" dirty="0"/>
              <a:t>: Corporate-Owned, Personally Enabled (device company owned, but more lenient)</a:t>
            </a:r>
          </a:p>
          <a:p>
            <a:pPr marL="457200" indent="-457200">
              <a:buAutoNum type="arabicPeriod"/>
            </a:pPr>
            <a:r>
              <a:rPr lang="en-US" b="1" dirty="0"/>
              <a:t>CYOD</a:t>
            </a:r>
            <a:r>
              <a:rPr lang="en-US" dirty="0"/>
              <a:t>: Choose Your Own Device (least popular by Business)</a:t>
            </a:r>
            <a:endParaRPr lang="en-US" sz="2200" dirty="0"/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r>
              <a:rPr lang="en-US" sz="2200" b="1" dirty="0"/>
              <a:t>BYOD Policy: </a:t>
            </a:r>
          </a:p>
          <a:p>
            <a:r>
              <a:rPr lang="en-IN" dirty="0"/>
              <a:t>Must address both the concerns of the Employees and the Company.</a:t>
            </a:r>
          </a:p>
          <a:p>
            <a:r>
              <a:rPr lang="en-IN" dirty="0"/>
              <a:t>Must aim for a balance between Security and Ease of Access. </a:t>
            </a:r>
          </a:p>
        </p:txBody>
      </p:sp>
    </p:spTree>
    <p:extLst>
      <p:ext uri="{BB962C8B-B14F-4D97-AF65-F5344CB8AC3E}">
        <p14:creationId xmlns:p14="http://schemas.microsoft.com/office/powerpoint/2010/main" val="272019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8494-2AF0-0A6A-306B-870A6066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CyberSecurity at the Workplace </a:t>
            </a:r>
            <a:r>
              <a:rPr lang="en-US" b="1" dirty="0"/>
              <a:t> (3/6)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225A2-94B3-959D-4459-5068BFE04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154"/>
            <a:ext cx="10191750" cy="5209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BYOD Policy: </a:t>
            </a:r>
          </a:p>
          <a:p>
            <a:pPr marL="457200" indent="-457200">
              <a:buAutoNum type="arabicParenR"/>
            </a:pPr>
            <a:r>
              <a:rPr lang="en-IN" sz="2200" dirty="0"/>
              <a:t>Determine what devices will be permitted and wo will be allowed to use them.</a:t>
            </a:r>
          </a:p>
          <a:p>
            <a:pPr marL="457200" indent="-457200">
              <a:buAutoNum type="arabicParenR"/>
            </a:pPr>
            <a:r>
              <a:rPr lang="en-IN" dirty="0"/>
              <a:t>Determine the kind of company data that will be accessible</a:t>
            </a:r>
          </a:p>
          <a:p>
            <a:pPr marL="457200" indent="-457200">
              <a:buAutoNum type="arabicParenR"/>
            </a:pPr>
            <a:r>
              <a:rPr lang="en-IN" sz="2200" dirty="0"/>
              <a:t>Clearly state the right of the company to access, monitor and delete information from the employee owned devices</a:t>
            </a:r>
          </a:p>
          <a:p>
            <a:pPr marL="457200" indent="-457200">
              <a:buAutoNum type="arabicParenR"/>
            </a:pPr>
            <a:r>
              <a:rPr lang="en-IN" dirty="0"/>
              <a:t>Explain how the company will protect the employee’s personal data</a:t>
            </a:r>
          </a:p>
          <a:p>
            <a:pPr marL="457200" indent="-457200">
              <a:buAutoNum type="arabicParenR"/>
            </a:pPr>
            <a:r>
              <a:rPr lang="en-IN" sz="2200" dirty="0"/>
              <a:t>Dep</a:t>
            </a:r>
            <a:r>
              <a:rPr lang="en-IN" dirty="0"/>
              <a:t>loy mobile device management to partition the devices separating work data from personal files. </a:t>
            </a:r>
          </a:p>
          <a:p>
            <a:pPr marL="457200" indent="-457200">
              <a:buAutoNum type="arabicParenR"/>
            </a:pPr>
            <a:r>
              <a:rPr lang="en-IN" sz="2200" dirty="0"/>
              <a:t>E</a:t>
            </a:r>
            <a:r>
              <a:rPr lang="en-IN" dirty="0"/>
              <a:t>nforce use of strong passwords, anti-malware, and automatic lockup after period of inactivity.</a:t>
            </a:r>
          </a:p>
          <a:p>
            <a:pPr marL="457200" indent="-457200">
              <a:buAutoNum type="arabicParenR"/>
            </a:pPr>
            <a:r>
              <a:rPr lang="en-IN" sz="2200" dirty="0"/>
              <a:t>Est</a:t>
            </a:r>
            <a:r>
              <a:rPr lang="en-IN" dirty="0"/>
              <a:t>ablish protocols for lost or stolen devices</a:t>
            </a:r>
          </a:p>
          <a:p>
            <a:pPr marL="457200" indent="-457200">
              <a:buAutoNum type="arabicParenR"/>
            </a:pPr>
            <a:r>
              <a:rPr lang="en-IN" sz="2200" dirty="0"/>
              <a:t>Develop the policy in partnership </a:t>
            </a:r>
            <a:r>
              <a:rPr lang="en-IN" dirty="0"/>
              <a:t>with IT, Risk Management and Legal Counsel</a:t>
            </a:r>
          </a:p>
          <a:p>
            <a:pPr marL="457200" indent="-457200">
              <a:buAutoNum type="arabicParenR"/>
            </a:pPr>
            <a:r>
              <a:rPr lang="en-IN" sz="2200" dirty="0"/>
              <a:t>Revise current policies and protocols.</a:t>
            </a:r>
          </a:p>
        </p:txBody>
      </p:sp>
    </p:spTree>
    <p:extLst>
      <p:ext uri="{BB962C8B-B14F-4D97-AF65-F5344CB8AC3E}">
        <p14:creationId xmlns:p14="http://schemas.microsoft.com/office/powerpoint/2010/main" val="3929796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084D-1900-9222-13D2-31D63F3F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CyberSecurity at the Workplace </a:t>
            </a:r>
            <a:r>
              <a:rPr lang="en-US" b="1" dirty="0"/>
              <a:t> (4/6)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7F45-E947-CCBF-AF79-45569CE22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868"/>
            <a:ext cx="10515600" cy="5209399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b="1" dirty="0"/>
              <a:t>Cyber Warfare:</a:t>
            </a:r>
          </a:p>
          <a:p>
            <a:pPr marL="0" indent="0" algn="l">
              <a:buNone/>
            </a:pPr>
            <a:r>
              <a:rPr lang="en-US" dirty="0"/>
              <a:t>There is still a debate among experts as to what kind of activity constitutes cyber warfare and what that appropriate response can be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The </a:t>
            </a:r>
            <a:r>
              <a:rPr lang="en-US" b="1" dirty="0"/>
              <a:t>Tallinn Manual </a:t>
            </a:r>
            <a:r>
              <a:rPr lang="en-US" dirty="0"/>
              <a:t>explains when cyber attacks violate international law and how countries may respond to such violations. 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Types of Cyber Warfare Attacks</a:t>
            </a:r>
          </a:p>
          <a:p>
            <a:r>
              <a:rPr lang="en-US" dirty="0"/>
              <a:t>Espionage</a:t>
            </a:r>
          </a:p>
          <a:p>
            <a:r>
              <a:rPr lang="en-US" dirty="0"/>
              <a:t>Sabotage</a:t>
            </a:r>
          </a:p>
          <a:p>
            <a:r>
              <a:rPr lang="en-US" dirty="0"/>
              <a:t>DoS</a:t>
            </a:r>
          </a:p>
          <a:p>
            <a:r>
              <a:rPr lang="en-US" dirty="0"/>
              <a:t>Electrical Power Grid</a:t>
            </a:r>
          </a:p>
          <a:p>
            <a:r>
              <a:rPr lang="en-US" dirty="0"/>
              <a:t>Propaganda</a:t>
            </a:r>
          </a:p>
          <a:p>
            <a:r>
              <a:rPr lang="en-US" dirty="0"/>
              <a:t>Economic Disruption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6027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2FC16-7B54-6D1F-C819-43A2627C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CyberSecurity at the Workplace </a:t>
            </a:r>
            <a:r>
              <a:rPr lang="en-US" b="1" dirty="0"/>
              <a:t> (5/6)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85D95-FD73-23F8-C695-19235C032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434"/>
            <a:ext cx="10515600" cy="5209399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303141"/>
                </a:solidFill>
                <a:latin typeface="Udemy Sans"/>
              </a:rPr>
              <a:t>Lessons learnt:</a:t>
            </a:r>
          </a:p>
          <a:p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Non-act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ive accounts should be deleted</a:t>
            </a:r>
          </a:p>
          <a:p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Never to 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use the same password for work and personal tasks</a:t>
            </a:r>
          </a:p>
          <a:p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2-factor aut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hentication should be implemented</a:t>
            </a:r>
          </a:p>
          <a:p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Backups should be 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kept offline</a:t>
            </a:r>
            <a:endParaRPr lang="en-US" b="0" i="0" dirty="0">
              <a:solidFill>
                <a:srgbClr val="521E9F"/>
              </a:solidFill>
              <a:effectLst/>
              <a:latin typeface="Udemy San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72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3397-C1BB-0FCC-EFE5-DE55182F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CyberSecurity at the Workplace </a:t>
            </a:r>
            <a:r>
              <a:rPr lang="en-US" b="1" dirty="0"/>
              <a:t> (6/6)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BE523-5CE5-2093-BBA1-E07BC354A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014"/>
            <a:ext cx="10515600" cy="5209399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303141"/>
                </a:solidFill>
                <a:effectLst/>
                <a:latin typeface="Udemy Sans"/>
              </a:rPr>
              <a:t>Actionable Steps for Personal Security</a:t>
            </a:r>
          </a:p>
          <a:p>
            <a:r>
              <a:rPr lang="en-IN" i="0" dirty="0">
                <a:solidFill>
                  <a:srgbClr val="303141"/>
                </a:solidFill>
                <a:effectLst/>
                <a:latin typeface="Udemy Sans"/>
              </a:rPr>
              <a:t>Use a strong password</a:t>
            </a:r>
            <a:endParaRPr lang="en-US" dirty="0">
              <a:solidFill>
                <a:srgbClr val="303141"/>
              </a:solidFill>
              <a:latin typeface="Udemy Sans"/>
            </a:endParaRPr>
          </a:p>
          <a:p>
            <a:r>
              <a:rPr lang="en-IN" i="0" dirty="0">
                <a:solidFill>
                  <a:srgbClr val="303141"/>
                </a:solidFill>
                <a:effectLst/>
                <a:latin typeface="Udemy Sans"/>
              </a:rPr>
              <a:t>Password Variety</a:t>
            </a:r>
            <a:endParaRPr lang="en-US" i="0" dirty="0">
              <a:solidFill>
                <a:srgbClr val="303141"/>
              </a:solidFill>
              <a:effectLst/>
              <a:latin typeface="Udemy Sans"/>
            </a:endParaRPr>
          </a:p>
          <a:p>
            <a:r>
              <a:rPr lang="en-US" i="0" dirty="0">
                <a:solidFill>
                  <a:srgbClr val="303141"/>
                </a:solidFill>
                <a:effectLst/>
                <a:latin typeface="Udemy Sans"/>
              </a:rPr>
              <a:t>Deploy Multi Factor Authentication Methods</a:t>
            </a:r>
            <a:endParaRPr lang="en-US" dirty="0">
              <a:solidFill>
                <a:srgbClr val="303141"/>
              </a:solidFill>
              <a:latin typeface="Udemy Sans"/>
            </a:endParaRPr>
          </a:p>
          <a:p>
            <a:r>
              <a:rPr lang="en-IN" i="0" dirty="0">
                <a:solidFill>
                  <a:srgbClr val="303141"/>
                </a:solidFill>
                <a:effectLst/>
                <a:latin typeface="Udemy Sans"/>
              </a:rPr>
              <a:t>Use an Antivirus</a:t>
            </a:r>
            <a:endParaRPr lang="en-US" i="0" dirty="0">
              <a:solidFill>
                <a:srgbClr val="303141"/>
              </a:solidFill>
              <a:effectLst/>
              <a:latin typeface="Udemy Sans"/>
            </a:endParaRPr>
          </a:p>
          <a:p>
            <a:r>
              <a:rPr lang="en-IN" i="0" dirty="0">
                <a:solidFill>
                  <a:srgbClr val="303141"/>
                </a:solidFill>
                <a:effectLst/>
                <a:latin typeface="Udemy Sans"/>
              </a:rPr>
              <a:t>Watch out for HTTPS</a:t>
            </a:r>
            <a:endParaRPr lang="en-US" dirty="0">
              <a:solidFill>
                <a:srgbClr val="303141"/>
              </a:solidFill>
              <a:latin typeface="Udemy Sans"/>
            </a:endParaRPr>
          </a:p>
          <a:p>
            <a:r>
              <a:rPr lang="en-US" i="0" dirty="0">
                <a:solidFill>
                  <a:srgbClr val="303141"/>
                </a:solidFill>
                <a:effectLst/>
                <a:latin typeface="Udemy Sans"/>
              </a:rPr>
              <a:t>Change your routers default password</a:t>
            </a:r>
          </a:p>
          <a:p>
            <a:r>
              <a:rPr lang="en-IN" i="0" dirty="0">
                <a:solidFill>
                  <a:srgbClr val="303141"/>
                </a:solidFill>
                <a:effectLst/>
                <a:latin typeface="Udemy Sans"/>
              </a:rPr>
              <a:t>Use a standard account</a:t>
            </a:r>
          </a:p>
          <a:p>
            <a:r>
              <a:rPr lang="en-US" i="0" dirty="0">
                <a:solidFill>
                  <a:srgbClr val="303141"/>
                </a:solidFill>
                <a:effectLst/>
                <a:latin typeface="Udemy Sans"/>
              </a:rPr>
              <a:t>Be cautious at all times</a:t>
            </a:r>
          </a:p>
          <a:p>
            <a:r>
              <a:rPr lang="en-US" i="0" dirty="0">
                <a:solidFill>
                  <a:srgbClr val="303141"/>
                </a:solidFill>
                <a:effectLst/>
                <a:latin typeface="Udemy Sans"/>
              </a:rPr>
              <a:t>Don't store sensitive data on your PC</a:t>
            </a:r>
            <a:endParaRPr lang="en-IN" dirty="0"/>
          </a:p>
          <a:p>
            <a:pPr algn="l"/>
            <a:endParaRPr lang="en-IN" dirty="0">
              <a:solidFill>
                <a:srgbClr val="303141"/>
              </a:solidFill>
              <a:latin typeface="Udemy Sans"/>
            </a:endParaRPr>
          </a:p>
        </p:txBody>
      </p:sp>
    </p:spTree>
    <p:extLst>
      <p:ext uri="{BB962C8B-B14F-4D97-AF65-F5344CB8AC3E}">
        <p14:creationId xmlns:p14="http://schemas.microsoft.com/office/powerpoint/2010/main" val="379154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BA186-4958-CBB1-C488-AEE1DCF4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2662556"/>
            <a:ext cx="10515600" cy="602438"/>
          </a:xfrm>
        </p:spPr>
        <p:txBody>
          <a:bodyPr/>
          <a:lstStyle/>
          <a:p>
            <a:pPr algn="ctr"/>
            <a:r>
              <a:rPr lang="en-US" sz="2800" b="1" dirty="0"/>
              <a:t>THANK YOU!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E5C6B-9B92-4496-9E90-E948AC14F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en-US" b="0" i="0" u="sng" dirty="0">
              <a:solidFill>
                <a:srgbClr val="521E9F"/>
              </a:solidFill>
              <a:effectLst/>
              <a:latin typeface="Udemy Sans"/>
            </a:endParaRPr>
          </a:p>
          <a:p>
            <a:pPr algn="l"/>
            <a:endParaRPr lang="en-US" b="0" i="0" dirty="0">
              <a:solidFill>
                <a:srgbClr val="303141"/>
              </a:solidFill>
              <a:effectLst/>
              <a:latin typeface="Udemy Sans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303141"/>
              </a:solidFill>
              <a:latin typeface="Udemy San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591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562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Udemy Sans</vt:lpstr>
      <vt:lpstr>Office Theme</vt:lpstr>
      <vt:lpstr>Essentials of CyberSecurity</vt:lpstr>
      <vt:lpstr>CyberSecurity at the Workplace  (1/6)</vt:lpstr>
      <vt:lpstr>CyberSecurity at the Workplace  (2/6)</vt:lpstr>
      <vt:lpstr>CyberSecurity at the Workplace  (3/6)</vt:lpstr>
      <vt:lpstr>CyberSecurity at the Workplace  (4/6)</vt:lpstr>
      <vt:lpstr>CyberSecurity at the Workplace  (5/6)</vt:lpstr>
      <vt:lpstr>CyberSecurity at the Workplace  (6/6)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Aparajita Sharma</dc:creator>
  <cp:lastModifiedBy>Aparajita Sharma</cp:lastModifiedBy>
  <cp:revision>34</cp:revision>
  <dcterms:created xsi:type="dcterms:W3CDTF">2025-03-04T05:35:51Z</dcterms:created>
  <dcterms:modified xsi:type="dcterms:W3CDTF">2025-03-05T06:18:28Z</dcterms:modified>
</cp:coreProperties>
</file>