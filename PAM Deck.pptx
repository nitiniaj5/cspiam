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slideLayouts/slideLayout13.xml" ContentType="application/vnd.openxmlformats-officedocument.presentationml.slideLayout+xml"/>
  <Override PartName="/ppt/theme/theme6.xml" ContentType="application/vnd.openxmlformats-officedocument.theme+xml"/>
  <Override PartName="/ppt/slideLayouts/slideLayout14.xml" ContentType="application/vnd.openxmlformats-officedocument.presentationml.slideLayout+xml"/>
  <Override PartName="/ppt/theme/theme7.xml" ContentType="application/vnd.openxmlformats-officedocument.theme+xml"/>
  <Override PartName="/ppt/slideLayouts/slideLayout15.xml" ContentType="application/vnd.openxmlformats-officedocument.presentationml.slideLayout+xml"/>
  <Override PartName="/ppt/theme/theme8.xml" ContentType="application/vnd.openxmlformats-officedocument.theme+xml"/>
  <Override PartName="/ppt/slideLayouts/slideLayout16.xml" ContentType="application/vnd.openxmlformats-officedocument.presentationml.slideLayout+xml"/>
  <Override PartName="/ppt/theme/theme9.xml" ContentType="application/vnd.openxmlformats-officedocument.theme+xml"/>
  <Override PartName="/ppt/slideLayouts/slideLayout17.xml" ContentType="application/vnd.openxmlformats-officedocument.presentationml.slideLayout+xml"/>
  <Override PartName="/ppt/theme/theme10.xml" ContentType="application/vnd.openxmlformats-officedocument.theme+xml"/>
  <Override PartName="/ppt/slideLayouts/slideLayout18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3" r:id="rId4"/>
    <p:sldMasterId id="2147483823" r:id="rId5"/>
    <p:sldMasterId id="2147483827" r:id="rId6"/>
    <p:sldMasterId id="2147483822" r:id="rId7"/>
    <p:sldMasterId id="2147483857" r:id="rId8"/>
    <p:sldMasterId id="2147483871" r:id="rId9"/>
    <p:sldMasterId id="2147483873" r:id="rId10"/>
    <p:sldMasterId id="2147483848" r:id="rId11"/>
    <p:sldMasterId id="2147483867" r:id="rId12"/>
    <p:sldMasterId id="2147483853" r:id="rId13"/>
    <p:sldMasterId id="2147483869" r:id="rId14"/>
  </p:sldMasterIdLst>
  <p:notesMasterIdLst>
    <p:notesMasterId r:id="rId49"/>
  </p:notesMasterIdLst>
  <p:handoutMasterIdLst>
    <p:handoutMasterId r:id="rId50"/>
  </p:handoutMasterIdLst>
  <p:sldIdLst>
    <p:sldId id="2142532975" r:id="rId15"/>
    <p:sldId id="2142532989" r:id="rId16"/>
    <p:sldId id="2142533038" r:id="rId17"/>
    <p:sldId id="2142533040" r:id="rId18"/>
    <p:sldId id="2142533045" r:id="rId19"/>
    <p:sldId id="2147482075" r:id="rId20"/>
    <p:sldId id="2142533039" r:id="rId21"/>
    <p:sldId id="2147482076" r:id="rId22"/>
    <p:sldId id="2142533043" r:id="rId23"/>
    <p:sldId id="2142533041" r:id="rId24"/>
    <p:sldId id="2142533042" r:id="rId25"/>
    <p:sldId id="2142533046" r:id="rId26"/>
    <p:sldId id="2142533047" r:id="rId27"/>
    <p:sldId id="2142533044" r:id="rId28"/>
    <p:sldId id="2142533048" r:id="rId29"/>
    <p:sldId id="2142533049" r:id="rId30"/>
    <p:sldId id="2147482085" r:id="rId31"/>
    <p:sldId id="2147482086" r:id="rId32"/>
    <p:sldId id="2147482087" r:id="rId33"/>
    <p:sldId id="2147482088" r:id="rId34"/>
    <p:sldId id="2147482089" r:id="rId35"/>
    <p:sldId id="2147482090" r:id="rId36"/>
    <p:sldId id="2147482091" r:id="rId37"/>
    <p:sldId id="2147482077" r:id="rId38"/>
    <p:sldId id="2147482078" r:id="rId39"/>
    <p:sldId id="2147482079" r:id="rId40"/>
    <p:sldId id="2147482092" r:id="rId41"/>
    <p:sldId id="2147482080" r:id="rId42"/>
    <p:sldId id="2142533050" r:id="rId43"/>
    <p:sldId id="2147482081" r:id="rId44"/>
    <p:sldId id="2147482082" r:id="rId45"/>
    <p:sldId id="2147482074" r:id="rId46"/>
    <p:sldId id="258" r:id="rId47"/>
    <p:sldId id="285" r:id="rId48"/>
  </p:sldIdLst>
  <p:sldSz cx="9144000" cy="5143500" type="screen16x9"/>
  <p:notesSz cx="20104100" cy="11315700"/>
  <p:defaultTextStyle>
    <a:defPPr>
      <a:defRPr lang="en-US"/>
    </a:defPPr>
    <a:lvl1pPr marL="0" algn="l" defTabSz="415546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1pPr>
    <a:lvl2pPr marL="207773" algn="l" defTabSz="415546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2pPr>
    <a:lvl3pPr marL="415546" algn="l" defTabSz="415546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3pPr>
    <a:lvl4pPr marL="623318" algn="l" defTabSz="415546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4pPr>
    <a:lvl5pPr marL="831090" algn="l" defTabSz="415546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5pPr>
    <a:lvl6pPr marL="1038863" algn="l" defTabSz="415546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6pPr>
    <a:lvl7pPr marL="1246636" algn="l" defTabSz="415546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7pPr>
    <a:lvl8pPr marL="1454409" algn="l" defTabSz="415546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8pPr>
    <a:lvl9pPr marL="1662182" algn="l" defTabSz="415546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vanti Mukul" initials="AM" lastIdx="134" clrIdx="0">
    <p:extLst>
      <p:ext uri="{19B8F6BF-5375-455C-9EA6-DF929625EA0E}">
        <p15:presenceInfo xmlns:p15="http://schemas.microsoft.com/office/powerpoint/2012/main" userId="S::1561747@TCS.com::b915b143-710a-4e7a-a06a-915d3c266981" providerId="AD"/>
      </p:ext>
    </p:extLst>
  </p:cmAuthor>
  <p:cmAuthor id="2" name="Kapil  Krishnan" initials="KK" lastIdx="81" clrIdx="1">
    <p:extLst>
      <p:ext uri="{19B8F6BF-5375-455C-9EA6-DF929625EA0E}">
        <p15:presenceInfo xmlns:p15="http://schemas.microsoft.com/office/powerpoint/2012/main" userId="S::571206@TCS.com::f34fbc68-f4bd-41fd-a210-a6e9abee1cae" providerId="AD"/>
      </p:ext>
    </p:extLst>
  </p:cmAuthor>
  <p:cmAuthor id="3" name="Milind" initials="M" lastIdx="1" clrIdx="2">
    <p:extLst>
      <p:ext uri="{19B8F6BF-5375-455C-9EA6-DF929625EA0E}">
        <p15:presenceInfo xmlns:p15="http://schemas.microsoft.com/office/powerpoint/2012/main" userId="S::106465@TCS.com::6f0e4f12-3889-446c-9da4-4330ec04817d" providerId="AD"/>
      </p:ext>
    </p:extLst>
  </p:cmAuthor>
  <p:cmAuthor id="4" name="Sreenivasa Chakravarti" initials="SC" lastIdx="7" clrIdx="3">
    <p:extLst>
      <p:ext uri="{19B8F6BF-5375-455C-9EA6-DF929625EA0E}">
        <p15:presenceInfo xmlns:p15="http://schemas.microsoft.com/office/powerpoint/2012/main" userId="S::132743@TCS.com::aa4a9113-4e87-47be-963d-67c84a2112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84C4"/>
    <a:srgbClr val="1E2323"/>
    <a:srgbClr val="C1FFE0"/>
    <a:srgbClr val="FFB200"/>
    <a:srgbClr val="FFDBC9"/>
    <a:srgbClr val="A9F1EE"/>
    <a:srgbClr val="8FFFC7"/>
    <a:srgbClr val="FF93A8"/>
    <a:srgbClr val="FFE1E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48F234-4325-4412-475F-B3D35458FEE3}" v="8" dt="2025-09-03T12:42:32.1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4.xml"/><Relationship Id="rId26" Type="http://schemas.openxmlformats.org/officeDocument/2006/relationships/slide" Target="slides/slide12.xml"/><Relationship Id="rId39" Type="http://schemas.openxmlformats.org/officeDocument/2006/relationships/slide" Target="slides/slide25.xml"/><Relationship Id="rId21" Type="http://schemas.openxmlformats.org/officeDocument/2006/relationships/slide" Target="slides/slide7.xml"/><Relationship Id="rId34" Type="http://schemas.openxmlformats.org/officeDocument/2006/relationships/slide" Target="slides/slide20.xml"/><Relationship Id="rId42" Type="http://schemas.openxmlformats.org/officeDocument/2006/relationships/slide" Target="slides/slide28.xml"/><Relationship Id="rId47" Type="http://schemas.openxmlformats.org/officeDocument/2006/relationships/slide" Target="slides/slide33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2.xml"/><Relationship Id="rId29" Type="http://schemas.openxmlformats.org/officeDocument/2006/relationships/slide" Target="slides/slide15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0.xml"/><Relationship Id="rId32" Type="http://schemas.openxmlformats.org/officeDocument/2006/relationships/slide" Target="slides/slide18.xml"/><Relationship Id="rId37" Type="http://schemas.openxmlformats.org/officeDocument/2006/relationships/slide" Target="slides/slide23.xml"/><Relationship Id="rId40" Type="http://schemas.openxmlformats.org/officeDocument/2006/relationships/slide" Target="slides/slide26.xml"/><Relationship Id="rId45" Type="http://schemas.openxmlformats.org/officeDocument/2006/relationships/slide" Target="slides/slide31.xml"/><Relationship Id="rId53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8.xml"/><Relationship Id="rId27" Type="http://schemas.openxmlformats.org/officeDocument/2006/relationships/slide" Target="slides/slide13.xml"/><Relationship Id="rId30" Type="http://schemas.openxmlformats.org/officeDocument/2006/relationships/slide" Target="slides/slide16.xml"/><Relationship Id="rId35" Type="http://schemas.openxmlformats.org/officeDocument/2006/relationships/slide" Target="slides/slide21.xml"/><Relationship Id="rId43" Type="http://schemas.openxmlformats.org/officeDocument/2006/relationships/slide" Target="slides/slide29.xml"/><Relationship Id="rId48" Type="http://schemas.openxmlformats.org/officeDocument/2006/relationships/slide" Target="slides/slide34.xml"/><Relationship Id="rId56" Type="http://schemas.microsoft.com/office/2016/11/relationships/changesInfo" Target="changesInfos/changesInfo1.xml"/><Relationship Id="rId8" Type="http://schemas.openxmlformats.org/officeDocument/2006/relationships/slideMaster" Target="slideMasters/slideMaster5.xml"/><Relationship Id="rId51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3.xml"/><Relationship Id="rId25" Type="http://schemas.openxmlformats.org/officeDocument/2006/relationships/slide" Target="slides/slide11.xml"/><Relationship Id="rId33" Type="http://schemas.openxmlformats.org/officeDocument/2006/relationships/slide" Target="slides/slide19.xml"/><Relationship Id="rId38" Type="http://schemas.openxmlformats.org/officeDocument/2006/relationships/slide" Target="slides/slide24.xml"/><Relationship Id="rId46" Type="http://schemas.openxmlformats.org/officeDocument/2006/relationships/slide" Target="slides/slide32.xml"/><Relationship Id="rId20" Type="http://schemas.openxmlformats.org/officeDocument/2006/relationships/slide" Target="slides/slide6.xml"/><Relationship Id="rId41" Type="http://schemas.openxmlformats.org/officeDocument/2006/relationships/slide" Target="slides/slide2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1.xml"/><Relationship Id="rId23" Type="http://schemas.openxmlformats.org/officeDocument/2006/relationships/slide" Target="slides/slide9.xml"/><Relationship Id="rId28" Type="http://schemas.openxmlformats.org/officeDocument/2006/relationships/slide" Target="slides/slide14.xml"/><Relationship Id="rId36" Type="http://schemas.openxmlformats.org/officeDocument/2006/relationships/slide" Target="slides/slide22.xml"/><Relationship Id="rId49" Type="http://schemas.openxmlformats.org/officeDocument/2006/relationships/notesMaster" Target="notesMasters/notesMaster1.xml"/><Relationship Id="rId57" Type="http://schemas.microsoft.com/office/2015/10/relationships/revisionInfo" Target="revisionInfo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17.xml"/><Relationship Id="rId44" Type="http://schemas.openxmlformats.org/officeDocument/2006/relationships/slide" Target="slides/slide30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nmesh Mudvikar" userId="6227078e-8f0a-46ef-8643-33b07650c3ca" providerId="ADAL" clId="{EA29EA68-CFE1-4C64-837A-2A187643672E}"/>
    <pc:docChg chg="sldOrd">
      <pc:chgData name="Unmesh Mudvikar" userId="6227078e-8f0a-46ef-8643-33b07650c3ca" providerId="ADAL" clId="{EA29EA68-CFE1-4C64-837A-2A187643672E}" dt="2024-02-02T23:21:28.953" v="0" actId="20578"/>
      <pc:docMkLst>
        <pc:docMk/>
      </pc:docMkLst>
      <pc:sldChg chg="ord">
        <pc:chgData name="Unmesh Mudvikar" userId="6227078e-8f0a-46ef-8643-33b07650c3ca" providerId="ADAL" clId="{EA29EA68-CFE1-4C64-837A-2A187643672E}" dt="2024-02-02T23:21:28.953" v="0" actId="20578"/>
        <pc:sldMkLst>
          <pc:docMk/>
          <pc:sldMk cId="2005753924" sldId="2142532975"/>
        </pc:sldMkLst>
      </pc:sldChg>
    </pc:docChg>
  </pc:docChgLst>
  <pc:docChgLst>
    <pc:chgData name="Chandan Arya" userId="854ad466-c6a6-4f95-b7a8-65d8c5e78861" providerId="ADAL" clId="{2FA9E72E-3AF1-4752-8B95-45F3BDE1FED5}"/>
    <pc:docChg chg="modSld sldOrd">
      <pc:chgData name="Chandan Arya" userId="854ad466-c6a6-4f95-b7a8-65d8c5e78861" providerId="ADAL" clId="{2FA9E72E-3AF1-4752-8B95-45F3BDE1FED5}" dt="2024-02-03T14:53:50.953" v="1"/>
      <pc:docMkLst>
        <pc:docMk/>
      </pc:docMkLst>
      <pc:sldChg chg="ord">
        <pc:chgData name="Chandan Arya" userId="854ad466-c6a6-4f95-b7a8-65d8c5e78861" providerId="ADAL" clId="{2FA9E72E-3AF1-4752-8B95-45F3BDE1FED5}" dt="2024-02-03T14:53:50.953" v="1"/>
        <pc:sldMkLst>
          <pc:docMk/>
          <pc:sldMk cId="2459395709" sldId="2142533018"/>
        </pc:sldMkLst>
      </pc:sldChg>
    </pc:docChg>
  </pc:docChgLst>
  <pc:docChgLst>
    <pc:chgData name="GRANDHI MANIDEEPAK" userId="S::1125310@tcs.com::f349f5a9-8d36-4747-8f3a-876d94ba5fdf" providerId="AD" clId="Web-{0AF7CF9F-FADF-31F5-747D-5CB960D60613}"/>
    <pc:docChg chg="modSld">
      <pc:chgData name="GRANDHI MANIDEEPAK" userId="S::1125310@tcs.com::f349f5a9-8d36-4747-8f3a-876d94ba5fdf" providerId="AD" clId="Web-{0AF7CF9F-FADF-31F5-747D-5CB960D60613}" dt="2025-06-06T07:42:44.543" v="0" actId="14100"/>
      <pc:docMkLst>
        <pc:docMk/>
      </pc:docMkLst>
      <pc:sldChg chg="modSp">
        <pc:chgData name="GRANDHI MANIDEEPAK" userId="S::1125310@tcs.com::f349f5a9-8d36-4747-8f3a-876d94ba5fdf" providerId="AD" clId="Web-{0AF7CF9F-FADF-31F5-747D-5CB960D60613}" dt="2025-06-06T07:42:44.543" v="0" actId="14100"/>
        <pc:sldMkLst>
          <pc:docMk/>
          <pc:sldMk cId="1127298696" sldId="2147482076"/>
        </pc:sldMkLst>
      </pc:sldChg>
    </pc:docChg>
  </pc:docChgLst>
  <pc:docChgLst>
    <pc:chgData name="Pavithra Shankar" userId="S::1895299@tcs.com::1f6f2e46-b107-4fc5-a7e0-296210de6fbd" providerId="AD" clId="Web-{2748F234-4325-4412-475F-B3D35458FEE3}"/>
    <pc:docChg chg="addSld delSld">
      <pc:chgData name="Pavithra Shankar" userId="S::1895299@tcs.com::1f6f2e46-b107-4fc5-a7e0-296210de6fbd" providerId="AD" clId="Web-{2748F234-4325-4412-475F-B3D35458FEE3}" dt="2025-09-03T12:42:32.143" v="7"/>
      <pc:docMkLst>
        <pc:docMk/>
      </pc:docMkLst>
      <pc:sldChg chg="new del">
        <pc:chgData name="Pavithra Shankar" userId="S::1895299@tcs.com::1f6f2e46-b107-4fc5-a7e0-296210de6fbd" providerId="AD" clId="Web-{2748F234-4325-4412-475F-B3D35458FEE3}" dt="2025-09-03T12:42:29.596" v="4"/>
        <pc:sldMkLst>
          <pc:docMk/>
          <pc:sldMk cId="3561390021" sldId="2147482093"/>
        </pc:sldMkLst>
      </pc:sldChg>
      <pc:sldChg chg="new del">
        <pc:chgData name="Pavithra Shankar" userId="S::1895299@tcs.com::1f6f2e46-b107-4fc5-a7e0-296210de6fbd" providerId="AD" clId="Web-{2748F234-4325-4412-475F-B3D35458FEE3}" dt="2025-09-03T12:42:30.252" v="5"/>
        <pc:sldMkLst>
          <pc:docMk/>
          <pc:sldMk cId="2284123943" sldId="2147482094"/>
        </pc:sldMkLst>
      </pc:sldChg>
      <pc:sldChg chg="new del">
        <pc:chgData name="Pavithra Shankar" userId="S::1895299@tcs.com::1f6f2e46-b107-4fc5-a7e0-296210de6fbd" providerId="AD" clId="Web-{2748F234-4325-4412-475F-B3D35458FEE3}" dt="2025-09-03T12:42:31.455" v="6"/>
        <pc:sldMkLst>
          <pc:docMk/>
          <pc:sldMk cId="2264131025" sldId="2147482095"/>
        </pc:sldMkLst>
      </pc:sldChg>
      <pc:sldChg chg="new del">
        <pc:chgData name="Pavithra Shankar" userId="S::1895299@tcs.com::1f6f2e46-b107-4fc5-a7e0-296210de6fbd" providerId="AD" clId="Web-{2748F234-4325-4412-475F-B3D35458FEE3}" dt="2025-09-03T12:42:32.143" v="7"/>
        <pc:sldMkLst>
          <pc:docMk/>
          <pc:sldMk cId="2032928478" sldId="2147482096"/>
        </pc:sldMkLst>
      </pc:sldChg>
    </pc:docChg>
  </pc:docChgLst>
  <pc:docChgLst>
    <pc:chgData name="Amit Yadav" userId="fcfb48f8-fb82-4055-8e09-9978973f0070" providerId="ADAL" clId="{93C504E5-3849-447B-8DBA-38D6363D9B6F}"/>
    <pc:docChg chg="delSld modSld">
      <pc:chgData name="Amit Yadav" userId="fcfb48f8-fb82-4055-8e09-9978973f0070" providerId="ADAL" clId="{93C504E5-3849-447B-8DBA-38D6363D9B6F}" dt="2025-06-06T06:54:31.239" v="18" actId="12"/>
      <pc:docMkLst>
        <pc:docMk/>
      </pc:docMkLst>
      <pc:sldChg chg="del">
        <pc:chgData name="Amit Yadav" userId="fcfb48f8-fb82-4055-8e09-9978973f0070" providerId="ADAL" clId="{93C504E5-3849-447B-8DBA-38D6363D9B6F}" dt="2025-06-06T06:53:44.899" v="0" actId="47"/>
        <pc:sldMkLst>
          <pc:docMk/>
          <pc:sldMk cId="2459395709" sldId="2142533018"/>
        </pc:sldMkLst>
      </pc:sldChg>
      <pc:sldChg chg="modSp mod">
        <pc:chgData name="Amit Yadav" userId="fcfb48f8-fb82-4055-8e09-9978973f0070" providerId="ADAL" clId="{93C504E5-3849-447B-8DBA-38D6363D9B6F}" dt="2025-06-06T06:54:31.239" v="18" actId="12"/>
        <pc:sldMkLst>
          <pc:docMk/>
          <pc:sldMk cId="3910789609" sldId="214748207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F93363-4B1F-4C8E-A6A8-E59E73B1D5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F94A02-2C6F-4C3E-B8A6-F4E320ED10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53A15D-369C-476E-A4FD-27B2714E554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DC65AE-70C1-456E-BDCB-3BF147736C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6D416F-24FB-46D6-8460-CBAA61BA37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1387138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F4DE49-BEC2-4CDB-9AEE-41A7BC71E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377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16:58:27.3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0 101 24575,'34'-2'0,"-1"-2"0,62-14 0,-34 6 0,38-8 0,-46 7 0,1 4 0,1 1 0,59 0 0,-59 4-1365,-40 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16:58:33.16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0 105 24575,'1813'-105'0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16:58:37.1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664 642 24506,'-664'-275'0,"1282"-91"0,-1236 732 0,2655-511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16:58:46.6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0 147 24575,'1'1'0,"-1"1"0,1-1 0,-1 0 0,1 1 0,0-1 0,0 0 0,-1 0 0,1 1 0,0-1 0,0 0 0,0 0 0,0 0 0,1 0 0,-1 0 0,0 0 0,0-1 0,1 1 0,-1 0 0,0 0 0,1-1 0,-1 1 0,1-1 0,-1 0 0,0 1 0,1-1 0,-1 0 0,1 0 0,-1 0 0,1 0 0,-1 0 0,1 0 0,-1 0 0,3-1 0,52-3 0,31-10 0,163-4 0,18 10 0,-126 2 0,-137 6 0,12 1 0,0-2 0,0 0 0,0-1 0,0-1 0,0 0 0,0-2 0,21-7 0,-16 4 0,1 2 0,-1 1 0,1 0 0,0 2 0,28-1 0,48-8 0,-47 5 0,1 2 0,0 2 0,56 6 0,95-6 0,-99-14 0,-68 10 0,0 2 0,56-2 0,394 38 0,-305-24 0,0-1 0,-116 2 0,-28-2 0,0-2 0,0-2 0,1-1 0,49-6 0,-25-1-13,106 5-1,-83 2-1324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16:58:47.70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24575,'1'0'0,"-1"1"0,1 0 0,0 0 0,-1-1 0,1 1 0,0-1 0,0 1 0,0-1 0,0 1 0,-1-1 0,1 1 0,0-1 0,0 0 0,0 0 0,0 1 0,0-1 0,0 0 0,0 0 0,0 0 0,0 0 0,1 0 0,30 2 0,-27-2 0,611 3 0,-542-11-1365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D8B44-2349-4EE3-B0D0-553C8A2F62DF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6388" y="1414463"/>
            <a:ext cx="6791325" cy="381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5125"/>
            <a:ext cx="16084550" cy="44561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D9C5E5-9620-4FBC-AD03-52B8306EE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417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5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4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603580F-5462-4AFE-8624-11AE662CBD6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egular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egula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6676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8A457-80B8-3ABF-1567-EBE8EFC16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C70F37-B49E-0168-2281-737CE349EE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10220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D8D87-8B94-4E76-9CDA-6586738B0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4D5C33-AE96-4EA1-B2BB-AAA290AC8A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72884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BE381-38C8-4224-A4AC-6073EF1F1A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3053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6952C-B92A-E0F0-9FC7-5840F1F9E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62920D-8CE8-A232-AC89-DA77B5CC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7DCFA-BE89-B3EB-6900-AA9719E54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E64DF-7C31-4DB3-A1DF-A71968DC3A79}" type="datetimeFigureOut">
              <a:rPr lang="en-GB" smtClean="0"/>
              <a:t>03/09/2025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C4625-B015-2970-B95A-54D044C70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C19A1-0566-4016-8BC5-13D65BAAA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F2A46-C9ED-40BC-8510-83B032C498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763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FBA29-C8B7-4C4E-8C81-C75566523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FD4E52-5098-4AC2-91CF-F352A63268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1DB09D-AE21-9742-A82E-F4BBAAA55C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5750" y="843558"/>
            <a:ext cx="8673409" cy="371159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IN"/>
            </a:lvl5pPr>
          </a:lstStyle>
          <a:p>
            <a:pPr marL="171450" lvl="0" indent="-171450" defTabSz="415546">
              <a:lnSpc>
                <a:spcPct val="150000"/>
              </a:lnSpc>
            </a:pPr>
            <a:r>
              <a:rPr lang="en-US"/>
              <a:t>Click to edit Master text styles</a:t>
            </a:r>
          </a:p>
          <a:p>
            <a:pPr lvl="1" defTabSz="415546">
              <a:lnSpc>
                <a:spcPct val="150000"/>
              </a:lnSpc>
              <a:buFont typeface="Calibri" panose="020F0502020204030204" pitchFamily="34" charset="0"/>
              <a:buChar char="―"/>
            </a:pPr>
            <a:r>
              <a:rPr lang="en-US"/>
              <a:t>Second level</a:t>
            </a:r>
          </a:p>
          <a:p>
            <a:pPr lvl="2" defTabSz="415546">
              <a:lnSpc>
                <a:spcPct val="150000"/>
              </a:lnSpc>
            </a:pPr>
            <a:r>
              <a:rPr lang="en-US"/>
              <a:t>Third level</a:t>
            </a:r>
          </a:p>
          <a:p>
            <a:pPr lvl="3" defTabSz="415546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/>
              <a:t>Fourth level</a:t>
            </a:r>
          </a:p>
          <a:p>
            <a:pPr lvl="4" defTabSz="415546">
              <a:lnSpc>
                <a:spcPct val="150000"/>
              </a:lnSpc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373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D8D87-8B94-4E76-9CDA-6586738B0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4D5C33-AE96-4EA1-B2BB-AAA290AC8A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18961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BE381-38C8-4224-A4AC-6073EF1F1A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73983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2546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7A939-6BD5-6D9A-C6E0-773DC6558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12" y="2226193"/>
            <a:ext cx="2650475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>
              <a:defRPr lang="en-IN" sz="2200" dirty="0"/>
            </a:lvl1pPr>
          </a:lstStyle>
          <a:p>
            <a:pPr marL="5776" lvl="0">
              <a:lnSpc>
                <a:spcPct val="100000"/>
              </a:lnSpc>
              <a:spcBef>
                <a:spcPts val="43"/>
              </a:spcBef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616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BEEE02B-3029-990C-12ED-A955CA7D5C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88868" y="4803998"/>
            <a:ext cx="1100528" cy="14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435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200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50" lvl="0" indent="-171450" defTabSz="914355">
              <a:buClr>
                <a:srgbClr val="808285"/>
              </a:buClr>
            </a:pPr>
            <a:r>
              <a:rPr lang="en-US"/>
              <a:t>Date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9950366-8950-4BD8-A107-00F386B8B2D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98264" y="1354933"/>
            <a:ext cx="4745736" cy="3163094"/>
          </a:xfrm>
          <a:noFill/>
          <a:ln>
            <a:noFill/>
          </a:ln>
        </p:spPr>
        <p:txBody>
          <a:bodyPr vert="horz" wrap="square" lIns="0" tIns="17145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3600" b="1">
                <a:solidFill>
                  <a:schemeClr val="bg1"/>
                </a:solidFill>
              </a:defRPr>
            </a:lvl1pPr>
          </a:lstStyle>
          <a:p>
            <a:pPr marL="571500" lvl="0" indent="-571500" algn="ctr">
              <a:buClr>
                <a:srgbClr val="80828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939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200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chemeClr val="tx1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50" lvl="0" indent="-171450" defTabSz="914355">
              <a:buClr>
                <a:srgbClr val="808285"/>
              </a:buClr>
            </a:pPr>
            <a:r>
              <a:rPr lang="en-US"/>
              <a:t>Date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9950366-8950-4BD8-A107-00F386B8B2D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98264" y="1354933"/>
            <a:ext cx="4745736" cy="3163094"/>
          </a:xfrm>
          <a:noFill/>
          <a:ln>
            <a:noFill/>
          </a:ln>
        </p:spPr>
        <p:txBody>
          <a:bodyPr vert="horz" wrap="square" lIns="0" tIns="17145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3600" b="1">
                <a:solidFill>
                  <a:schemeClr val="tx1"/>
                </a:solidFill>
              </a:defRPr>
            </a:lvl1pPr>
          </a:lstStyle>
          <a:p>
            <a:pPr marL="571500" lvl="0" indent="-571500" algn="ctr">
              <a:buClr>
                <a:srgbClr val="80828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683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200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50" lvl="0" indent="-171450" defTabSz="914355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6103992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200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chemeClr val="tx1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50" lvl="0" indent="-171450" defTabSz="914355">
              <a:buClr>
                <a:srgbClr val="808285"/>
              </a:buClr>
            </a:pPr>
            <a:r>
              <a:rPr lang="en-US"/>
              <a:t>Date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9950366-8950-4BD8-A107-00F386B8B2D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98264" y="1354933"/>
            <a:ext cx="4745736" cy="3163094"/>
          </a:xfrm>
          <a:noFill/>
          <a:ln>
            <a:noFill/>
          </a:ln>
        </p:spPr>
        <p:txBody>
          <a:bodyPr vert="horz" wrap="square" lIns="0" tIns="17145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3600" b="1">
                <a:solidFill>
                  <a:schemeClr val="tx1"/>
                </a:solidFill>
              </a:defRPr>
            </a:lvl1pPr>
          </a:lstStyle>
          <a:p>
            <a:pPr marL="571500" lvl="0" indent="-571500" algn="ctr">
              <a:buClr>
                <a:srgbClr val="80828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170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97239-289B-4797-A845-B94F72C3D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4749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7484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31252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563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microsoft.com/office/2007/relationships/hdphoto" Target="../media/hdphoto2.wdp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8.svg"/></Relationships>
</file>

<file path=ppt/slideMasters/_rels/slideMaster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9.png"/><Relationship Id="rId7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2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image" Target="../media/image10.sv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8.svg"/></Relationships>
</file>

<file path=ppt/slideMasters/_rels/slideMaster7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9.png"/><Relationship Id="rId7" Type="http://schemas.openxmlformats.org/officeDocument/2006/relationships/image" Target="../media/image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4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image" Target="../media/image10.sv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8.svg"/></Relationships>
</file>

<file path=ppt/slideMasters/_rels/slideMaster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9.png"/><Relationship Id="rId7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6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openxmlformats.org/officeDocument/2006/relationships/image" Target="../media/image10.svg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8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4E41C23-2A04-440A-A439-8B36022F5942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ADBEFC-FA18-4CB3-8943-7B03BFC04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92" y="107915"/>
            <a:ext cx="7886195" cy="5530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62E987-DCEA-4D36-A8D6-3A4C817A4EDF}"/>
              </a:ext>
            </a:extLst>
          </p:cNvPr>
          <p:cNvCxnSpPr/>
          <p:nvPr userDrawn="1"/>
        </p:nvCxnSpPr>
        <p:spPr>
          <a:xfrm>
            <a:off x="4565002" y="4942596"/>
            <a:ext cx="0" cy="12717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6AC0F397-9BF6-4594-946F-74C8A8FA01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81524" y="4942596"/>
            <a:ext cx="1876425" cy="127170"/>
          </a:xfrm>
          <a:prstGeom prst="rect">
            <a:avLst/>
          </a:prstGeom>
        </p:spPr>
        <p:txBody>
          <a:bodyPr vert="horz" lIns="64008" tIns="45720" rIns="91440" bIns="45720" rtlCol="0" anchor="ctr"/>
          <a:lstStyle>
            <a:lvl1pPr>
              <a:defRPr lang="en-US" sz="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TCS Confidential</a:t>
            </a:r>
          </a:p>
        </p:txBody>
      </p:sp>
      <p:sp>
        <p:nvSpPr>
          <p:cNvPr id="28" name="Rectangle 71">
            <a:extLst>
              <a:ext uri="{FF2B5EF4-FFF2-40B4-BE49-F238E27FC236}">
                <a16:creationId xmlns:a16="http://schemas.microsoft.com/office/drawing/2014/main" id="{D6FF4C5E-6B0C-4334-B3AE-3C2ABAF43B4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99348" y="4942596"/>
            <a:ext cx="300588" cy="127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fld id="{13B55AB4-0D57-4FBE-946B-A81E4A9D2A4C}" type="slidenum">
              <a:rPr lang="en-US" sz="700" noProof="0" smtClean="0"/>
              <a:pPr lvl="0"/>
              <a:t>‹#›</a:t>
            </a:fld>
            <a:r>
              <a:rPr lang="en-US" sz="700" noProof="0"/>
              <a:t> 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6F403C3-AECA-43E3-B70F-8CE8C20C79F8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4E84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3AF0D48-F837-443A-B742-FA8AFEE7A4BD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AFFEEF-BA33-4360-BE60-2A11102F0184}"/>
              </a:ext>
            </a:extLst>
          </p:cNvPr>
          <p:cNvSpPr/>
          <p:nvPr userDrawn="1"/>
        </p:nvSpPr>
        <p:spPr>
          <a:xfrm>
            <a:off x="3965" y="63763"/>
            <a:ext cx="215112" cy="395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F129F2-59C7-B08E-D41C-9CDA632C494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" r="728"/>
          <a:stretch/>
        </p:blipFill>
        <p:spPr>
          <a:xfrm>
            <a:off x="8428377" y="4647628"/>
            <a:ext cx="435969" cy="387958"/>
          </a:xfrm>
          <a:prstGeom prst="rect">
            <a:avLst/>
          </a:prstGeom>
        </p:spPr>
      </p:pic>
      <p:pic>
        <p:nvPicPr>
          <p:cNvPr id="5" name="Picture 4" descr="A close-up of a sign&#10;&#10;Description automatically generated">
            <a:extLst>
              <a:ext uri="{FF2B5EF4-FFF2-40B4-BE49-F238E27FC236}">
                <a16:creationId xmlns:a16="http://schemas.microsoft.com/office/drawing/2014/main" id="{2CF2A882-EE76-DB45-3EB3-B06F0005FFB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4733062"/>
            <a:ext cx="1266904" cy="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744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65" r:id="rId2"/>
    <p:sldLayoutId id="2147483866" r:id="rId3"/>
    <p:sldLayoutId id="2147483877" r:id="rId4"/>
  </p:sldLayoutIdLst>
  <p:hf sldNum="0" hdr="0" dt="0"/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lang="en-US" sz="2100" b="0" kern="0" baseline="0" dirty="0">
          <a:solidFill>
            <a:srgbClr val="4E84C4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355" rtl="0" eaLnBrk="1" latinLnBrk="0" hangingPunct="1">
        <a:lnSpc>
          <a:spcPct val="90000"/>
        </a:lnSpc>
        <a:spcBef>
          <a:spcPts val="1000"/>
        </a:spcBef>
        <a:buClr>
          <a:srgbClr val="007DC5"/>
        </a:buClr>
        <a:buFont typeface="Arial" panose="020B0604020202020204" pitchFamily="34" charset="0"/>
        <a:buChar char="•"/>
        <a:defRPr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171450" indent="-171450" algn="l" defTabSz="914355" rtl="0" eaLnBrk="1" latinLnBrk="0" hangingPunct="1">
        <a:lnSpc>
          <a:spcPct val="90000"/>
        </a:lnSpc>
        <a:spcBef>
          <a:spcPts val="500"/>
        </a:spcBef>
        <a:buClr>
          <a:srgbClr val="007DC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355" rtl="0" eaLnBrk="1" latinLnBrk="0" hangingPunct="1">
        <a:lnSpc>
          <a:spcPct val="90000"/>
        </a:lnSpc>
        <a:spcBef>
          <a:spcPts val="500"/>
        </a:spcBef>
        <a:buClr>
          <a:srgbClr val="007DC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71450" indent="-171450" algn="l" defTabSz="914355" rtl="0" eaLnBrk="1" latinLnBrk="0" hangingPunct="1">
        <a:lnSpc>
          <a:spcPct val="90000"/>
        </a:lnSpc>
        <a:spcBef>
          <a:spcPts val="500"/>
        </a:spcBef>
        <a:buClr>
          <a:srgbClr val="007DC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71450" indent="-171450" algn="l" defTabSz="914355" rtl="0" eaLnBrk="1" latinLnBrk="0" hangingPunct="1">
        <a:lnSpc>
          <a:spcPct val="90000"/>
        </a:lnSpc>
        <a:spcBef>
          <a:spcPts val="500"/>
        </a:spcBef>
        <a:buClr>
          <a:srgbClr val="007DC5"/>
        </a:buClr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620" userDrawn="1">
          <p15:clr>
            <a:srgbClr val="F26B43"/>
          </p15:clr>
        </p15:guide>
        <p15:guide id="3" orient="horz" pos="64" userDrawn="1">
          <p15:clr>
            <a:srgbClr val="F26B43"/>
          </p15:clr>
        </p15:guide>
        <p15:guide id="4" orient="horz" pos="418" userDrawn="1">
          <p15:clr>
            <a:srgbClr val="F26B43"/>
          </p15:clr>
        </p15:guide>
        <p15:guide id="5" orient="horz" pos="529" userDrawn="1">
          <p15:clr>
            <a:srgbClr val="F26B43"/>
          </p15:clr>
        </p15:guide>
        <p15:guide id="6" orient="horz" pos="2957" userDrawn="1">
          <p15:clr>
            <a:srgbClr val="F26B43"/>
          </p15:clr>
        </p15:guide>
        <p15:guide id="8" pos="5585" userDrawn="1">
          <p15:clr>
            <a:srgbClr val="F26B43"/>
          </p15:clr>
        </p15:guide>
        <p15:guide id="9" pos="180" userDrawn="1">
          <p15:clr>
            <a:srgbClr val="F26B43"/>
          </p15:clr>
        </p15:guide>
        <p15:guide id="10" orient="horz" pos="316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ADBEFC-FA18-4CB3-8943-7B03BFC04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92" y="107915"/>
            <a:ext cx="7886195" cy="5530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62E987-DCEA-4D36-A8D6-3A4C817A4EDF}"/>
              </a:ext>
            </a:extLst>
          </p:cNvPr>
          <p:cNvCxnSpPr/>
          <p:nvPr userDrawn="1"/>
        </p:nvCxnSpPr>
        <p:spPr>
          <a:xfrm>
            <a:off x="4565002" y="4942596"/>
            <a:ext cx="0" cy="12717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6AC0F397-9BF6-4594-946F-74C8A8FA01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81524" y="4942596"/>
            <a:ext cx="1876425" cy="127170"/>
          </a:xfrm>
          <a:prstGeom prst="rect">
            <a:avLst/>
          </a:prstGeom>
        </p:spPr>
        <p:txBody>
          <a:bodyPr vert="horz" lIns="64008" tIns="45720" rIns="91440" bIns="45720" rtlCol="0" anchor="ctr"/>
          <a:lstStyle>
            <a:lvl1pPr>
              <a:defRPr lang="en-US" sz="700">
                <a:solidFill>
                  <a:schemeClr val="bg1"/>
                </a:solidFill>
              </a:defRPr>
            </a:lvl1pPr>
          </a:lstStyle>
          <a:p>
            <a:r>
              <a:rPr lang="en-US"/>
              <a:t>TCS Confidential</a:t>
            </a:r>
          </a:p>
        </p:txBody>
      </p:sp>
      <p:sp>
        <p:nvSpPr>
          <p:cNvPr id="28" name="Rectangle 71">
            <a:extLst>
              <a:ext uri="{FF2B5EF4-FFF2-40B4-BE49-F238E27FC236}">
                <a16:creationId xmlns:a16="http://schemas.microsoft.com/office/drawing/2014/main" id="{D6FF4C5E-6B0C-4334-B3AE-3C2ABAF43B4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99348" y="4942596"/>
            <a:ext cx="300588" cy="127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fld id="{13B55AB4-0D57-4FBE-946B-A81E4A9D2A4C}" type="slidenum">
              <a:rPr lang="en-US" sz="700" noProof="0" smtClean="0">
                <a:solidFill>
                  <a:schemeClr val="bg1"/>
                </a:solidFill>
              </a:rPr>
              <a:pPr lvl="0"/>
              <a:t>‹#›</a:t>
            </a:fld>
            <a:r>
              <a:rPr lang="en-US" sz="700" noProof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6B849F-0F60-4E8F-BA8E-E91C2BE0ED3F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BB49C25-A889-40F6-B435-4920BCF97B82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4E84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8E09A9F-6EB0-438C-A1AF-E44A166E116F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06B8FF-CF61-4E23-AD6E-7102A245AB65}"/>
              </a:ext>
            </a:extLst>
          </p:cNvPr>
          <p:cNvSpPr/>
          <p:nvPr userDrawn="1"/>
        </p:nvSpPr>
        <p:spPr>
          <a:xfrm>
            <a:off x="24260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F832A92-7EC0-48A4-AB00-6AD52B706E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5201" t="38245" r="4369" b="37400"/>
          <a:stretch/>
        </p:blipFill>
        <p:spPr>
          <a:xfrm>
            <a:off x="285750" y="4731770"/>
            <a:ext cx="1210439" cy="3260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F0862DB-D752-9721-B469-8AEB67A96A3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" r="728"/>
          <a:stretch/>
        </p:blipFill>
        <p:spPr>
          <a:xfrm>
            <a:off x="8422281" y="4647628"/>
            <a:ext cx="435969" cy="387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06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</p:sldLayoutIdLst>
  <p:hf sldNum="0" hdr="0" dt="0"/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lang="en-US" sz="2100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88" indent="-228588" algn="l" defTabSz="914355" rtl="0" eaLnBrk="1" latinLnBrk="0" hangingPunct="1">
        <a:lnSpc>
          <a:spcPct val="90000"/>
        </a:lnSpc>
        <a:spcBef>
          <a:spcPts val="1000"/>
        </a:spcBef>
        <a:buClr>
          <a:srgbClr val="007DC5"/>
        </a:buClr>
        <a:buFont typeface="Arial" panose="020B0604020202020204" pitchFamily="34" charset="0"/>
        <a:buChar char="•"/>
        <a:defRPr lang="en-US" sz="12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379362" indent="-171450" algn="l" defTabSz="914355" rtl="0" eaLnBrk="1" latinLnBrk="0" hangingPunct="1">
        <a:lnSpc>
          <a:spcPct val="90000"/>
        </a:lnSpc>
        <a:spcBef>
          <a:spcPts val="500"/>
        </a:spcBef>
        <a:buClr>
          <a:srgbClr val="007DC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587272" indent="-171450" algn="l" defTabSz="914355" rtl="0" eaLnBrk="1" latinLnBrk="0" hangingPunct="1">
        <a:lnSpc>
          <a:spcPct val="90000"/>
        </a:lnSpc>
        <a:spcBef>
          <a:spcPts val="500"/>
        </a:spcBef>
        <a:buClr>
          <a:srgbClr val="007DC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795184" indent="-171450" algn="l" defTabSz="914355" rtl="0" eaLnBrk="1" latinLnBrk="0" hangingPunct="1">
        <a:lnSpc>
          <a:spcPct val="90000"/>
        </a:lnSpc>
        <a:spcBef>
          <a:spcPts val="500"/>
        </a:spcBef>
        <a:buClr>
          <a:srgbClr val="007DC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003096" indent="-171450" algn="l" defTabSz="914355" rtl="0" eaLnBrk="1" latinLnBrk="0" hangingPunct="1">
        <a:lnSpc>
          <a:spcPct val="90000"/>
        </a:lnSpc>
        <a:spcBef>
          <a:spcPts val="500"/>
        </a:spcBef>
        <a:buClr>
          <a:srgbClr val="007DC5"/>
        </a:buClr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620" userDrawn="1">
          <p15:clr>
            <a:srgbClr val="F26B43"/>
          </p15:clr>
        </p15:guide>
        <p15:guide id="3" orient="horz" pos="64" userDrawn="1">
          <p15:clr>
            <a:srgbClr val="F26B43"/>
          </p15:clr>
        </p15:guide>
        <p15:guide id="4" orient="horz" pos="418" userDrawn="1">
          <p15:clr>
            <a:srgbClr val="F26B43"/>
          </p15:clr>
        </p15:guide>
        <p15:guide id="5" orient="horz" pos="529" userDrawn="1">
          <p15:clr>
            <a:srgbClr val="F26B43"/>
          </p15:clr>
        </p15:guide>
        <p15:guide id="6" orient="horz" pos="2957" userDrawn="1">
          <p15:clr>
            <a:srgbClr val="F26B43"/>
          </p15:clr>
        </p15:guide>
        <p15:guide id="8" pos="5585" userDrawn="1">
          <p15:clr>
            <a:srgbClr val="F26B43"/>
          </p15:clr>
        </p15:guide>
        <p15:guide id="9" pos="180" userDrawn="1">
          <p15:clr>
            <a:srgbClr val="F26B43"/>
          </p15:clr>
        </p15:guide>
        <p15:guide id="10" orient="horz" pos="3168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DF83842-6792-443C-8ADD-548A11D67CE1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3AF219F-7EEE-4E0A-BE98-F63760BECB6A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94CA941-F2C4-474E-A1C0-87930FACB8D8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750701-58D4-4101-89A4-E4C0613A06D1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EC3F55E-80C5-FA58-BEE1-B1EA909AB2F1}"/>
              </a:ext>
            </a:extLst>
          </p:cNvPr>
          <p:cNvGrpSpPr/>
          <p:nvPr userDrawn="1"/>
        </p:nvGrpSpPr>
        <p:grpSpPr>
          <a:xfrm>
            <a:off x="288868" y="100726"/>
            <a:ext cx="8577320" cy="504363"/>
            <a:chOff x="288868" y="100726"/>
            <a:chExt cx="8577320" cy="504363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0485C5A4-B4D1-7A55-6E82-3E12E35D3F5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5201" t="38245" r="4369" b="37400"/>
            <a:stretch/>
          </p:blipFill>
          <p:spPr>
            <a:xfrm>
              <a:off x="288868" y="188632"/>
              <a:ext cx="1546276" cy="416457"/>
            </a:xfrm>
            <a:prstGeom prst="rect">
              <a:avLst/>
            </a:prstGeom>
          </p:spPr>
        </p:pic>
        <p:pic>
          <p:nvPicPr>
            <p:cNvPr id="4" name="Picture 3" descr="A white logo on a black background&#10;&#10;Description automatically generated">
              <a:extLst>
                <a:ext uri="{FF2B5EF4-FFF2-40B4-BE49-F238E27FC236}">
                  <a16:creationId xmlns:a16="http://schemas.microsoft.com/office/drawing/2014/main" id="{2EED0747-E087-BD83-3541-DFDDE1A9317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0" t="24814" r="21396" b="24815"/>
            <a:stretch/>
          </p:blipFill>
          <p:spPr>
            <a:xfrm>
              <a:off x="8322775" y="100726"/>
              <a:ext cx="543413" cy="4835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80885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75" r:id="rId2"/>
    <p:sldLayoutId id="2147483829" r:id="rId3"/>
  </p:sldLayoutIdLst>
  <p:hf sldNum="0" hdr="0" dt="0"/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lang="en-US" sz="2100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88" indent="-228588" algn="l" defTabSz="914355" rtl="0" eaLnBrk="1" latinLnBrk="0" hangingPunct="1">
        <a:lnSpc>
          <a:spcPct val="90000"/>
        </a:lnSpc>
        <a:spcBef>
          <a:spcPts val="1000"/>
        </a:spcBef>
        <a:buClr>
          <a:srgbClr val="E41165"/>
        </a:buClr>
        <a:buFont typeface="Arial" panose="020B0604020202020204" pitchFamily="34" charset="0"/>
        <a:buChar char="•"/>
        <a:defRPr lang="en-US" sz="12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685766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E4116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114294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600120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2057297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620" userDrawn="1">
          <p15:clr>
            <a:srgbClr val="F26B43"/>
          </p15:clr>
        </p15:guide>
        <p15:guide id="3" orient="horz" pos="64" userDrawn="1">
          <p15:clr>
            <a:srgbClr val="F26B43"/>
          </p15:clr>
        </p15:guide>
        <p15:guide id="4" orient="horz" pos="360" userDrawn="1">
          <p15:clr>
            <a:srgbClr val="F26B43"/>
          </p15:clr>
        </p15:guide>
        <p15:guide id="5" orient="horz" pos="529" userDrawn="1">
          <p15:clr>
            <a:srgbClr val="F26B43"/>
          </p15:clr>
        </p15:guide>
        <p15:guide id="6" orient="horz" pos="2957" userDrawn="1">
          <p15:clr>
            <a:srgbClr val="F26B43"/>
          </p15:clr>
        </p15:guide>
        <p15:guide id="8" pos="5585" userDrawn="1">
          <p15:clr>
            <a:srgbClr val="F26B43"/>
          </p15:clr>
        </p15:guide>
        <p15:guide id="9" pos="180" userDrawn="1">
          <p15:clr>
            <a:srgbClr val="F26B43"/>
          </p15:clr>
        </p15:guide>
        <p15:guide id="10" orient="horz" pos="3168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39" y="1276352"/>
            <a:ext cx="4042988" cy="38151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7FA0A2-4E48-428C-81A4-88A7A7B8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7191" y="2136844"/>
            <a:ext cx="4042988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8600" lvl="0" indent="-228600">
              <a:buClr>
                <a:srgbClr val="808285"/>
              </a:buClr>
            </a:pPr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79B3712-8251-4209-A6B2-D68E8DDA02B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88868" y="4803998"/>
            <a:ext cx="1100528" cy="14472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85DA422-34A4-42C4-B88D-8E0E3D2E20D8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C0BBD5-766E-4A60-979B-6D5475DC8CF6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CB82FAD-D870-4603-AD13-A81E1BF404DA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1AA33-B6EC-4360-84C1-7F601A5C35DD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0F0D78C-B29C-D6E3-421C-5E1F2CFF49EF}"/>
              </a:ext>
            </a:extLst>
          </p:cNvPr>
          <p:cNvGrpSpPr/>
          <p:nvPr userDrawn="1"/>
        </p:nvGrpSpPr>
        <p:grpSpPr>
          <a:xfrm>
            <a:off x="288868" y="100726"/>
            <a:ext cx="8577320" cy="504363"/>
            <a:chOff x="288868" y="100726"/>
            <a:chExt cx="8577320" cy="504363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AE6A9286-7515-B34E-F9E0-CC5D213043D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5201" t="38245" r="4369" b="37400"/>
            <a:stretch/>
          </p:blipFill>
          <p:spPr>
            <a:xfrm>
              <a:off x="288868" y="188632"/>
              <a:ext cx="1546276" cy="416457"/>
            </a:xfrm>
            <a:prstGeom prst="rect">
              <a:avLst/>
            </a:prstGeom>
          </p:spPr>
        </p:pic>
        <p:pic>
          <p:nvPicPr>
            <p:cNvPr id="8" name="Picture 7" descr="A white logo on a black background&#10;&#10;Description automatically generated">
              <a:extLst>
                <a:ext uri="{FF2B5EF4-FFF2-40B4-BE49-F238E27FC236}">
                  <a16:creationId xmlns:a16="http://schemas.microsoft.com/office/drawing/2014/main" id="{C286A17B-5A85-3952-D3BD-ED9858AF86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0" t="24814" r="21396" b="24815"/>
            <a:stretch/>
          </p:blipFill>
          <p:spPr>
            <a:xfrm>
              <a:off x="8322775" y="100726"/>
              <a:ext cx="543413" cy="4835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95749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400" b="0" i="0" kern="0" spc="-5" baseline="0" dirty="0">
          <a:solidFill>
            <a:srgbClr val="F4F3F9"/>
          </a:solidFill>
          <a:latin typeface="Calibri"/>
          <a:ea typeface="+mj-ea"/>
          <a:cs typeface="Calibri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 smtClean="0">
          <a:solidFill>
            <a:srgbClr val="4E84C4"/>
          </a:solidFill>
          <a:latin typeface="Calibri"/>
          <a:ea typeface="+mn-ea"/>
          <a:cs typeface="Calibri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 userDrawn="1">
          <p15:clr>
            <a:srgbClr val="F26B43"/>
          </p15:clr>
        </p15:guide>
        <p15:guide id="2" orient="horz" pos="2852" userDrawn="1">
          <p15:clr>
            <a:srgbClr val="F26B43"/>
          </p15:clr>
        </p15:guide>
        <p15:guide id="3" orient="horz" pos="360" userDrawn="1">
          <p15:clr>
            <a:srgbClr val="F26B43"/>
          </p15:clr>
        </p15:guide>
        <p15:guide id="4" orient="horz" pos="846" userDrawn="1">
          <p15:clr>
            <a:srgbClr val="F26B43"/>
          </p15:clr>
        </p15:guide>
        <p15:guide id="5" pos="180" userDrawn="1">
          <p15:clr>
            <a:srgbClr val="F26B43"/>
          </p15:clr>
        </p15:guide>
        <p15:guide id="6" pos="558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99" y="1276352"/>
            <a:ext cx="4042988" cy="38151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7FA0A2-4E48-428C-81A4-88A7A7B8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999" y="2136844"/>
            <a:ext cx="4042988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8600" lvl="0" indent="-228600">
              <a:buClr>
                <a:srgbClr val="808285"/>
              </a:buClr>
            </a:pPr>
            <a:r>
              <a:rPr lang="en-US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A4006B-35B5-4917-8DF4-E3AC5FD8F234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FC735E-CC28-4305-8172-FA3E342C4919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F6E633C-CDA1-4590-8A4C-EC1DEA930983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DE660D-A715-4BFA-88E2-2E56B38B4814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6D7662B-6688-CAC7-D14E-03F1D90577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93999" y="4824533"/>
            <a:ext cx="1100528" cy="1447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28DAE3-AA29-9371-70A6-3D9B530829A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" r="728"/>
          <a:stretch/>
        </p:blipFill>
        <p:spPr>
          <a:xfrm>
            <a:off x="8324797" y="115698"/>
            <a:ext cx="531300" cy="472793"/>
          </a:xfrm>
          <a:prstGeom prst="rect">
            <a:avLst/>
          </a:prstGeom>
        </p:spPr>
      </p:pic>
      <p:pic>
        <p:nvPicPr>
          <p:cNvPr id="6" name="Picture 5" descr="A close-up of a sign&#10;&#10;Description automatically generated">
            <a:extLst>
              <a:ext uri="{FF2B5EF4-FFF2-40B4-BE49-F238E27FC236}">
                <a16:creationId xmlns:a16="http://schemas.microsoft.com/office/drawing/2014/main" id="{FC2F10CA-84F2-4431-2E92-490D4D41C07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99" y="184608"/>
            <a:ext cx="1691383" cy="403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707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400" b="0" i="0" kern="0" spc="-5" baseline="0" dirty="0">
          <a:solidFill>
            <a:schemeClr val="tx1"/>
          </a:solidFill>
          <a:latin typeface="Calibri"/>
          <a:ea typeface="+mj-ea"/>
          <a:cs typeface="Calibri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 smtClean="0">
          <a:solidFill>
            <a:srgbClr val="4E84C4"/>
          </a:solidFill>
          <a:latin typeface="Calibri"/>
          <a:ea typeface="+mn-ea"/>
          <a:cs typeface="Calibri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 userDrawn="1">
          <p15:clr>
            <a:srgbClr val="F26B43"/>
          </p15:clr>
        </p15:guide>
        <p15:guide id="2" orient="horz" pos="2852" userDrawn="1">
          <p15:clr>
            <a:srgbClr val="F26B43"/>
          </p15:clr>
        </p15:guide>
        <p15:guide id="3" orient="horz" pos="360" userDrawn="1">
          <p15:clr>
            <a:srgbClr val="F26B43"/>
          </p15:clr>
        </p15:guide>
        <p15:guide id="4" orient="horz" pos="846" userDrawn="1">
          <p15:clr>
            <a:srgbClr val="F26B43"/>
          </p15:clr>
        </p15:guide>
        <p15:guide id="5" pos="180" userDrawn="1">
          <p15:clr>
            <a:srgbClr val="F26B43"/>
          </p15:clr>
        </p15:guide>
        <p15:guide id="6" pos="5580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39" y="1276352"/>
            <a:ext cx="4042988" cy="38151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7FA0A2-4E48-428C-81A4-88A7A7B8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7191" y="2136844"/>
            <a:ext cx="4042988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8600" lvl="0" indent="-228600">
              <a:buClr>
                <a:srgbClr val="808285"/>
              </a:buClr>
            </a:pPr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79B3712-8251-4209-A6B2-D68E8DDA02B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88868" y="4803998"/>
            <a:ext cx="1100528" cy="14472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85DA422-34A4-42C4-B88D-8E0E3D2E20D8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C0BBD5-766E-4A60-979B-6D5475DC8CF6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CB82FAD-D870-4603-AD13-A81E1BF404DA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1AA33-B6EC-4360-84C1-7F601A5C35DD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0F0D78C-B29C-D6E3-421C-5E1F2CFF49EF}"/>
              </a:ext>
            </a:extLst>
          </p:cNvPr>
          <p:cNvGrpSpPr/>
          <p:nvPr userDrawn="1"/>
        </p:nvGrpSpPr>
        <p:grpSpPr>
          <a:xfrm>
            <a:off x="288868" y="100726"/>
            <a:ext cx="8577320" cy="504363"/>
            <a:chOff x="288868" y="100726"/>
            <a:chExt cx="8577320" cy="504363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AE6A9286-7515-B34E-F9E0-CC5D213043D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5201" t="38245" r="4369" b="37400"/>
            <a:stretch/>
          </p:blipFill>
          <p:spPr>
            <a:xfrm>
              <a:off x="288868" y="188632"/>
              <a:ext cx="1546276" cy="416457"/>
            </a:xfrm>
            <a:prstGeom prst="rect">
              <a:avLst/>
            </a:prstGeom>
          </p:spPr>
        </p:pic>
        <p:pic>
          <p:nvPicPr>
            <p:cNvPr id="8" name="Picture 7" descr="A white logo on a black background&#10;&#10;Description automatically generated">
              <a:extLst>
                <a:ext uri="{FF2B5EF4-FFF2-40B4-BE49-F238E27FC236}">
                  <a16:creationId xmlns:a16="http://schemas.microsoft.com/office/drawing/2014/main" id="{C286A17B-5A85-3952-D3BD-ED9858AF86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0" t="24814" r="21396" b="24815"/>
            <a:stretch/>
          </p:blipFill>
          <p:spPr>
            <a:xfrm>
              <a:off x="8322775" y="100726"/>
              <a:ext cx="543413" cy="4835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9491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400" b="0" i="0" kern="0" spc="-5" baseline="0" dirty="0">
          <a:solidFill>
            <a:srgbClr val="F4F3F9"/>
          </a:solidFill>
          <a:latin typeface="Calibri"/>
          <a:ea typeface="+mj-ea"/>
          <a:cs typeface="Calibri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 smtClean="0">
          <a:solidFill>
            <a:srgbClr val="4E84C4"/>
          </a:solidFill>
          <a:latin typeface="Calibri"/>
          <a:ea typeface="+mn-ea"/>
          <a:cs typeface="Calibri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 userDrawn="1">
          <p15:clr>
            <a:srgbClr val="F26B43"/>
          </p15:clr>
        </p15:guide>
        <p15:guide id="2" orient="horz" pos="2852" userDrawn="1">
          <p15:clr>
            <a:srgbClr val="F26B43"/>
          </p15:clr>
        </p15:guide>
        <p15:guide id="3" orient="horz" pos="360" userDrawn="1">
          <p15:clr>
            <a:srgbClr val="F26B43"/>
          </p15:clr>
        </p15:guide>
        <p15:guide id="4" orient="horz" pos="846" userDrawn="1">
          <p15:clr>
            <a:srgbClr val="F26B43"/>
          </p15:clr>
        </p15:guide>
        <p15:guide id="5" pos="180" userDrawn="1">
          <p15:clr>
            <a:srgbClr val="F26B43"/>
          </p15:clr>
        </p15:guide>
        <p15:guide id="6" pos="5580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99" y="1276352"/>
            <a:ext cx="4042988" cy="38151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7FA0A2-4E48-428C-81A4-88A7A7B8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999" y="2136844"/>
            <a:ext cx="4042988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8600" lvl="0" indent="-228600">
              <a:buClr>
                <a:srgbClr val="808285"/>
              </a:buClr>
            </a:pPr>
            <a:r>
              <a:rPr lang="en-US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A4006B-35B5-4917-8DF4-E3AC5FD8F234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FC735E-CC28-4305-8172-FA3E342C4919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F6E633C-CDA1-4590-8A4C-EC1DEA930983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DE660D-A715-4BFA-88E2-2E56B38B4814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6D7662B-6688-CAC7-D14E-03F1D90577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93999" y="4824533"/>
            <a:ext cx="1100528" cy="1447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28DAE3-AA29-9371-70A6-3D9B530829A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" r="728"/>
          <a:stretch/>
        </p:blipFill>
        <p:spPr>
          <a:xfrm>
            <a:off x="8324797" y="115698"/>
            <a:ext cx="531300" cy="472793"/>
          </a:xfrm>
          <a:prstGeom prst="rect">
            <a:avLst/>
          </a:prstGeom>
        </p:spPr>
      </p:pic>
      <p:pic>
        <p:nvPicPr>
          <p:cNvPr id="6" name="Picture 5" descr="A close-up of a sign&#10;&#10;Description automatically generated">
            <a:extLst>
              <a:ext uri="{FF2B5EF4-FFF2-40B4-BE49-F238E27FC236}">
                <a16:creationId xmlns:a16="http://schemas.microsoft.com/office/drawing/2014/main" id="{FC2F10CA-84F2-4431-2E92-490D4D41C07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99" y="184608"/>
            <a:ext cx="1691383" cy="403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53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400" b="0" i="0" kern="0" spc="-5" baseline="0" dirty="0">
          <a:solidFill>
            <a:schemeClr val="tx1"/>
          </a:solidFill>
          <a:latin typeface="Calibri"/>
          <a:ea typeface="+mj-ea"/>
          <a:cs typeface="Calibri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 smtClean="0">
          <a:solidFill>
            <a:srgbClr val="4E84C4"/>
          </a:solidFill>
          <a:latin typeface="Calibri"/>
          <a:ea typeface="+mn-ea"/>
          <a:cs typeface="Calibri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 userDrawn="1">
          <p15:clr>
            <a:srgbClr val="F26B43"/>
          </p15:clr>
        </p15:guide>
        <p15:guide id="2" orient="horz" pos="2852" userDrawn="1">
          <p15:clr>
            <a:srgbClr val="F26B43"/>
          </p15:clr>
        </p15:guide>
        <p15:guide id="3" orient="horz" pos="360" userDrawn="1">
          <p15:clr>
            <a:srgbClr val="F26B43"/>
          </p15:clr>
        </p15:guide>
        <p15:guide id="4" orient="horz" pos="846" userDrawn="1">
          <p15:clr>
            <a:srgbClr val="F26B43"/>
          </p15:clr>
        </p15:guide>
        <p15:guide id="5" pos="180" userDrawn="1">
          <p15:clr>
            <a:srgbClr val="F26B43"/>
          </p15:clr>
        </p15:guide>
        <p15:guide id="6" pos="5580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2FDCA02-8EB4-47A9-A509-2F2B8731F4E5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3CA6F19-D3DF-4413-AE2E-B9826B478333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2A1FE8A-07CC-43DC-98A3-0C47E8ED4E06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9FF134-DE23-4F75-9D1F-AEB44451BFD7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90DA33-8F02-4626-82E1-BCDA6726A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12" y="2227763"/>
            <a:ext cx="2650475" cy="68615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5776" lvl="0">
              <a:lnSpc>
                <a:spcPct val="100000"/>
              </a:lnSpc>
              <a:spcBef>
                <a:spcPts val="43"/>
              </a:spcBef>
            </a:pPr>
            <a:r>
              <a:rPr lang="en-US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EFAEF59-6E36-48A5-9AF1-73FF67090C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88868" y="4824533"/>
            <a:ext cx="1100528" cy="14472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2480F67-B89B-5E3E-7827-6B71C5009D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5201" t="38245" r="4369" b="37400"/>
          <a:stretch/>
        </p:blipFill>
        <p:spPr>
          <a:xfrm>
            <a:off x="288868" y="188632"/>
            <a:ext cx="1546276" cy="416457"/>
          </a:xfrm>
          <a:prstGeom prst="rect">
            <a:avLst/>
          </a:prstGeom>
        </p:spPr>
      </p:pic>
      <p:pic>
        <p:nvPicPr>
          <p:cNvPr id="5" name="Picture 4" descr="A white logo on a black background&#10;&#10;Description automatically generated">
            <a:extLst>
              <a:ext uri="{FF2B5EF4-FFF2-40B4-BE49-F238E27FC236}">
                <a16:creationId xmlns:a16="http://schemas.microsoft.com/office/drawing/2014/main" id="{5B293D47-DDA2-63DA-1050-6735F8FC07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0" t="24814" r="21396" b="24815"/>
          <a:stretch/>
        </p:blipFill>
        <p:spPr>
          <a:xfrm>
            <a:off x="8383180" y="100726"/>
            <a:ext cx="543413" cy="48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111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</p:sldLayoutIdLst>
  <p:hf sldNum="0" hdr="0" dt="0"/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lang="en-US" sz="2200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88" indent="-228588" algn="l" defTabSz="914355" rtl="0" eaLnBrk="1" latinLnBrk="0" hangingPunct="1">
        <a:lnSpc>
          <a:spcPct val="90000"/>
        </a:lnSpc>
        <a:spcBef>
          <a:spcPts val="1000"/>
        </a:spcBef>
        <a:buClr>
          <a:srgbClr val="E41165"/>
        </a:buClr>
        <a:buFont typeface="Arial" panose="020B0604020202020204" pitchFamily="34" charset="0"/>
        <a:buChar char="•"/>
        <a:defRPr lang="en-US" sz="12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685766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E4116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114294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600120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2057297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orient="horz" pos="64">
          <p15:clr>
            <a:srgbClr val="F26B43"/>
          </p15:clr>
        </p15:guide>
        <p15:guide id="4" orient="horz" pos="360">
          <p15:clr>
            <a:srgbClr val="F26B43"/>
          </p15:clr>
        </p15:guide>
        <p15:guide id="5" orient="horz" pos="529">
          <p15:clr>
            <a:srgbClr val="F26B43"/>
          </p15:clr>
        </p15:guide>
        <p15:guide id="6" orient="horz" pos="2957">
          <p15:clr>
            <a:srgbClr val="F26B43"/>
          </p15:clr>
        </p15:guide>
        <p15:guide id="8" pos="5585">
          <p15:clr>
            <a:srgbClr val="F26B43"/>
          </p15:clr>
        </p15:guide>
        <p15:guide id="9" pos="180">
          <p15:clr>
            <a:srgbClr val="F26B43"/>
          </p15:clr>
        </p15:guide>
        <p15:guide id="10" orient="horz" pos="3168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12" y="2227763"/>
            <a:ext cx="2650475" cy="68615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5776" lvl="0">
              <a:spcBef>
                <a:spcPts val="43"/>
              </a:spcBef>
            </a:pPr>
            <a:r>
              <a:rPr lang="en-US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6590AA-3667-48B3-87ED-C4A09CDFE164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97E1BD5-6100-419D-B8F9-30E03A565220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2A870BF-381A-4DEA-A865-45FBF81D3955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F7C01B-D556-417D-9E3D-AB40942B56A1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17305E2-6FBB-8A25-5385-E618C2F794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77812" y="4824533"/>
            <a:ext cx="1100528" cy="144727"/>
          </a:xfrm>
          <a:prstGeom prst="rect">
            <a:avLst/>
          </a:prstGeom>
        </p:spPr>
      </p:pic>
      <p:pic>
        <p:nvPicPr>
          <p:cNvPr id="8" name="Picture 7" descr="A close-up of a sign&#10;&#10;Description automatically generated">
            <a:extLst>
              <a:ext uri="{FF2B5EF4-FFF2-40B4-BE49-F238E27FC236}">
                <a16:creationId xmlns:a16="http://schemas.microsoft.com/office/drawing/2014/main" id="{A6772C0E-BE2D-07DD-5347-59C598B351B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12" y="184608"/>
            <a:ext cx="1691383" cy="4038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3718F7-DE7E-3A21-9F29-FB980F7F794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" r="728"/>
          <a:stretch/>
        </p:blipFill>
        <p:spPr>
          <a:xfrm>
            <a:off x="8326950" y="115698"/>
            <a:ext cx="531300" cy="47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931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200" b="0" i="0" kern="0" spc="-5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 smtClean="0">
          <a:solidFill>
            <a:srgbClr val="E41165"/>
          </a:solidFill>
          <a:latin typeface="Calibri"/>
          <a:ea typeface="+mn-ea"/>
          <a:cs typeface="Calibri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>
          <p15:clr>
            <a:srgbClr val="F26B43"/>
          </p15:clr>
        </p15:guide>
        <p15:guide id="2" orient="horz" pos="2852">
          <p15:clr>
            <a:srgbClr val="F26B43"/>
          </p15:clr>
        </p15:guide>
        <p15:guide id="3" orient="horz" pos="360">
          <p15:clr>
            <a:srgbClr val="F26B43"/>
          </p15:clr>
        </p15:guide>
        <p15:guide id="4" orient="horz" pos="1620" userDrawn="1">
          <p15:clr>
            <a:srgbClr val="F26B43"/>
          </p15:clr>
        </p15:guide>
        <p15:guide id="5" pos="180">
          <p15:clr>
            <a:srgbClr val="F26B43"/>
          </p15:clr>
        </p15:guide>
        <p15:guide id="6" pos="5580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8216FA1-4A56-46E6-BB77-D6006B7684D3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FEFDF6-0C60-43AA-ADD5-901E502E80B5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938AF1A-EA00-4882-84C6-CBA46A27A7C5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9FF134-DE23-4F75-9D1F-AEB44451BFD7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4BC39D-DEC7-4FC1-BFC5-98DE92A66721}"/>
              </a:ext>
            </a:extLst>
          </p:cNvPr>
          <p:cNvSpPr/>
          <p:nvPr userDrawn="1"/>
        </p:nvSpPr>
        <p:spPr>
          <a:xfrm>
            <a:off x="292098" y="2395468"/>
            <a:ext cx="2650475" cy="350737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lvl="0"/>
            <a:r>
              <a:rPr lang="en-US" sz="2200" b="0" kern="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37FEB07C-5878-4697-A42C-CB8DD47499D0}"/>
              </a:ext>
            </a:extLst>
          </p:cNvPr>
          <p:cNvSpPr txBox="1"/>
          <p:nvPr userDrawn="1"/>
        </p:nvSpPr>
        <p:spPr>
          <a:xfrm>
            <a:off x="288868" y="4927600"/>
            <a:ext cx="1902444" cy="10772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5776">
              <a:lnSpc>
                <a:spcPct val="100000"/>
              </a:lnSpc>
              <a:spcBef>
                <a:spcPts val="45"/>
              </a:spcBef>
            </a:pPr>
            <a:r>
              <a:rPr sz="700" b="0" spc="-2">
                <a:solidFill>
                  <a:schemeClr val="bg1"/>
                </a:solidFill>
                <a:latin typeface="Calibri"/>
                <a:cs typeface="Calibri"/>
              </a:rPr>
              <a:t>Copyright</a:t>
            </a:r>
            <a:r>
              <a:rPr sz="700" b="0" spc="-7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700" b="0">
                <a:solidFill>
                  <a:schemeClr val="bg1"/>
                </a:solidFill>
                <a:latin typeface="Calibri"/>
                <a:cs typeface="Calibri"/>
              </a:rPr>
              <a:t>©</a:t>
            </a:r>
            <a:r>
              <a:rPr sz="700" b="0" spc="-7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700" b="0">
                <a:solidFill>
                  <a:schemeClr val="bg1"/>
                </a:solidFill>
                <a:latin typeface="Calibri"/>
                <a:cs typeface="Calibri"/>
              </a:rPr>
              <a:t>202</a:t>
            </a:r>
            <a:r>
              <a:rPr lang="en-IN" sz="700" b="0">
                <a:solidFill>
                  <a:schemeClr val="bg1"/>
                </a:solidFill>
                <a:latin typeface="Calibri"/>
                <a:cs typeface="Calibri"/>
              </a:rPr>
              <a:t>4</a:t>
            </a:r>
            <a:r>
              <a:rPr sz="700" b="0" spc="-2">
                <a:solidFill>
                  <a:schemeClr val="bg1"/>
                </a:solidFill>
                <a:latin typeface="Calibri"/>
                <a:cs typeface="Calibri"/>
              </a:rPr>
              <a:t> Tata</a:t>
            </a:r>
            <a:r>
              <a:rPr sz="700" b="0" spc="-7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700" b="0" spc="-2">
                <a:solidFill>
                  <a:schemeClr val="bg1"/>
                </a:solidFill>
                <a:latin typeface="Calibri"/>
                <a:cs typeface="Calibri"/>
              </a:rPr>
              <a:t>Consultancy</a:t>
            </a:r>
            <a:r>
              <a:rPr sz="700" b="0" spc="-7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700" b="0" spc="-2">
                <a:solidFill>
                  <a:schemeClr val="bg1"/>
                </a:solidFill>
                <a:latin typeface="Calibri"/>
                <a:cs typeface="Calibri"/>
              </a:rPr>
              <a:t>Services Limited</a:t>
            </a:r>
            <a:endParaRPr sz="700" b="0">
              <a:solidFill>
                <a:schemeClr val="bg1"/>
              </a:solidFill>
              <a:latin typeface="Calibri"/>
              <a:cs typeface="Calibri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7600BCE-C87B-5B0A-0301-F38ED7B5A0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201" t="38245" r="4369" b="37400"/>
          <a:stretch/>
        </p:blipFill>
        <p:spPr>
          <a:xfrm>
            <a:off x="288868" y="188632"/>
            <a:ext cx="1546276" cy="416457"/>
          </a:xfrm>
          <a:prstGeom prst="rect">
            <a:avLst/>
          </a:prstGeom>
        </p:spPr>
      </p:pic>
      <p:pic>
        <p:nvPicPr>
          <p:cNvPr id="4" name="Picture 3" descr="A white logo on a black background&#10;&#10;Description automatically generated">
            <a:extLst>
              <a:ext uri="{FF2B5EF4-FFF2-40B4-BE49-F238E27FC236}">
                <a16:creationId xmlns:a16="http://schemas.microsoft.com/office/drawing/2014/main" id="{078D749F-9A1E-D7FD-4C7C-00FD0CEBD3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0" t="24814" r="21396" b="24815"/>
          <a:stretch/>
        </p:blipFill>
        <p:spPr>
          <a:xfrm>
            <a:off x="8383180" y="100726"/>
            <a:ext cx="543413" cy="48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3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</p:sldLayoutIdLst>
  <p:hf sldNum="0" hdr="0" dt="0"/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lang="en-US" sz="2200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88" indent="-228588" algn="l" defTabSz="914355" rtl="0" eaLnBrk="1" latinLnBrk="0" hangingPunct="1">
        <a:lnSpc>
          <a:spcPct val="90000"/>
        </a:lnSpc>
        <a:spcBef>
          <a:spcPts val="1000"/>
        </a:spcBef>
        <a:buClr>
          <a:srgbClr val="E41165"/>
        </a:buClr>
        <a:buFont typeface="Arial" panose="020B0604020202020204" pitchFamily="34" charset="0"/>
        <a:buChar char="•"/>
        <a:defRPr lang="en-US" sz="12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685766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E4116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114294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600120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2057297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orient="horz" pos="64">
          <p15:clr>
            <a:srgbClr val="F26B43"/>
          </p15:clr>
        </p15:guide>
        <p15:guide id="4" orient="horz" pos="360">
          <p15:clr>
            <a:srgbClr val="F26B43"/>
          </p15:clr>
        </p15:guide>
        <p15:guide id="5" orient="horz" pos="529">
          <p15:clr>
            <a:srgbClr val="F26B43"/>
          </p15:clr>
        </p15:guide>
        <p15:guide id="6" orient="horz" pos="2957">
          <p15:clr>
            <a:srgbClr val="F26B43"/>
          </p15:clr>
        </p15:guide>
        <p15:guide id="8" pos="5585">
          <p15:clr>
            <a:srgbClr val="F26B43"/>
          </p15:clr>
        </p15:guide>
        <p15:guide id="9" pos="180">
          <p15:clr>
            <a:srgbClr val="F26B43"/>
          </p15:clr>
        </p15:guide>
        <p15:guide id="10" orient="horz" pos="3168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9E663A1-B469-4477-ACD8-AF6930245A32}"/>
              </a:ext>
            </a:extLst>
          </p:cNvPr>
          <p:cNvSpPr/>
          <p:nvPr userDrawn="1"/>
        </p:nvSpPr>
        <p:spPr>
          <a:xfrm>
            <a:off x="292098" y="2395468"/>
            <a:ext cx="2650475" cy="350737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lvl="0"/>
            <a:r>
              <a:rPr lang="en-US" sz="2200" b="0" kern="0" baseline="0"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0722452D-299C-4935-8E11-CB749311D789}"/>
              </a:ext>
            </a:extLst>
          </p:cNvPr>
          <p:cNvSpPr txBox="1"/>
          <p:nvPr userDrawn="1"/>
        </p:nvSpPr>
        <p:spPr>
          <a:xfrm>
            <a:off x="288868" y="4927600"/>
            <a:ext cx="1902444" cy="10772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5776">
              <a:lnSpc>
                <a:spcPct val="100000"/>
              </a:lnSpc>
              <a:spcBef>
                <a:spcPts val="45"/>
              </a:spcBef>
            </a:pPr>
            <a:r>
              <a:rPr sz="700" b="0" spc="-2">
                <a:solidFill>
                  <a:schemeClr val="tx1"/>
                </a:solidFill>
                <a:latin typeface="Calibri"/>
                <a:cs typeface="Calibri"/>
              </a:rPr>
              <a:t>Copyright</a:t>
            </a:r>
            <a:r>
              <a:rPr sz="700" b="0" spc="-7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700" b="0">
                <a:solidFill>
                  <a:schemeClr val="tx1"/>
                </a:solidFill>
                <a:latin typeface="Calibri"/>
                <a:cs typeface="Calibri"/>
              </a:rPr>
              <a:t>©</a:t>
            </a:r>
            <a:r>
              <a:rPr sz="700" b="0" spc="-7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700" b="0">
                <a:solidFill>
                  <a:schemeClr val="tx1"/>
                </a:solidFill>
                <a:latin typeface="Calibri"/>
                <a:cs typeface="Calibri"/>
              </a:rPr>
              <a:t>202</a:t>
            </a:r>
            <a:r>
              <a:rPr lang="en-IN" sz="700" b="0">
                <a:solidFill>
                  <a:schemeClr val="tx1"/>
                </a:solidFill>
                <a:latin typeface="Calibri"/>
                <a:cs typeface="Calibri"/>
              </a:rPr>
              <a:t>4</a:t>
            </a:r>
            <a:r>
              <a:rPr sz="700" b="0" spc="-2">
                <a:solidFill>
                  <a:schemeClr val="tx1"/>
                </a:solidFill>
                <a:latin typeface="Calibri"/>
                <a:cs typeface="Calibri"/>
              </a:rPr>
              <a:t> Tata</a:t>
            </a:r>
            <a:r>
              <a:rPr sz="700" b="0" spc="-7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700" b="0" spc="-2">
                <a:solidFill>
                  <a:schemeClr val="tx1"/>
                </a:solidFill>
                <a:latin typeface="Calibri"/>
                <a:cs typeface="Calibri"/>
              </a:rPr>
              <a:t>Consultancy</a:t>
            </a:r>
            <a:r>
              <a:rPr sz="700" b="0" spc="-7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700" b="0" spc="-2">
                <a:solidFill>
                  <a:schemeClr val="tx1"/>
                </a:solidFill>
                <a:latin typeface="Calibri"/>
                <a:cs typeface="Calibri"/>
              </a:rPr>
              <a:t>Services Limited</a:t>
            </a:r>
            <a:endParaRPr sz="700" b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2E0E5C-42D9-44C3-89C1-D707CE9B147A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831B4C3-D5FA-4A30-BE4D-5CDA923C786E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1F9BF62-AEA7-458C-8360-8B032A2CF622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EB9762-CAFF-4D0A-B818-46287453272F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pic>
        <p:nvPicPr>
          <p:cNvPr id="8" name="Picture 7" descr="A close-up of a sign&#10;&#10;Description automatically generated">
            <a:extLst>
              <a:ext uri="{FF2B5EF4-FFF2-40B4-BE49-F238E27FC236}">
                <a16:creationId xmlns:a16="http://schemas.microsoft.com/office/drawing/2014/main" id="{696A3FD6-AFD8-9921-A2C4-3C91879387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098" y="184608"/>
            <a:ext cx="1691383" cy="4038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2D7C78C-6F27-7CB1-2717-5DCFBE81BDE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" r="728"/>
          <a:stretch/>
        </p:blipFill>
        <p:spPr>
          <a:xfrm>
            <a:off x="8326950" y="115698"/>
            <a:ext cx="531300" cy="47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999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200" b="0" i="0" kern="0" spc="-5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 smtClean="0">
          <a:solidFill>
            <a:srgbClr val="E41165"/>
          </a:solidFill>
          <a:latin typeface="Calibri"/>
          <a:ea typeface="+mn-ea"/>
          <a:cs typeface="Calibri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>
          <p15:clr>
            <a:srgbClr val="F26B43"/>
          </p15:clr>
        </p15:guide>
        <p15:guide id="2" orient="horz" pos="2852">
          <p15:clr>
            <a:srgbClr val="F26B43"/>
          </p15:clr>
        </p15:guide>
        <p15:guide id="3" orient="horz" pos="360">
          <p15:clr>
            <a:srgbClr val="F26B43"/>
          </p15:clr>
        </p15:guide>
        <p15:guide id="5" pos="180">
          <p15:clr>
            <a:srgbClr val="F26B43"/>
          </p15:clr>
        </p15:guide>
        <p15:guide id="6" pos="5580">
          <p15:clr>
            <a:srgbClr val="F26B43"/>
          </p15:clr>
        </p15:guide>
        <p15:guide id="7" orient="horz" pos="16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2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27.png"/><Relationship Id="rId4" Type="http://schemas.openxmlformats.org/officeDocument/2006/relationships/image" Target="../media/image24.png"/><Relationship Id="rId9" Type="http://schemas.openxmlformats.org/officeDocument/2006/relationships/customXml" Target="../ink/ink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sv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7E20636-631C-49E3-A5F8-C3D8684F9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5462" y="2075040"/>
            <a:ext cx="3287137" cy="1187449"/>
          </a:xfrm>
        </p:spPr>
        <p:txBody>
          <a:bodyPr/>
          <a:lstStyle/>
          <a:p>
            <a:pPr algn="ctr"/>
            <a:r>
              <a:rPr lang="en-US" dirty="0"/>
              <a:t>Privilege Access </a:t>
            </a:r>
            <a:br>
              <a:rPr lang="en-US" dirty="0"/>
            </a:br>
            <a:r>
              <a:rPr lang="en-US" dirty="0"/>
              <a:t>Management Training Program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3AF87-CC58-452E-9185-DF75969309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fld id="{816AD2CC-6F43-41C6-BAFE-FDD822A868A0}" type="datetime4">
              <a:rPr lang="en-US" smtClean="0"/>
              <a:t>September 3, 2025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F549E0-3180-7939-9B8E-EB59FFF96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75" y="952276"/>
            <a:ext cx="5902325" cy="371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753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377580A6-F87C-4C06-B827-5EB4EDA65156}"/>
              </a:ext>
            </a:extLst>
          </p:cNvPr>
          <p:cNvGrpSpPr/>
          <p:nvPr/>
        </p:nvGrpSpPr>
        <p:grpSpPr>
          <a:xfrm>
            <a:off x="1646076" y="4029452"/>
            <a:ext cx="570912" cy="419326"/>
            <a:chOff x="6759575" y="3000375"/>
            <a:chExt cx="906463" cy="746125"/>
          </a:xfrm>
          <a:solidFill>
            <a:srgbClr val="F4F3F9"/>
          </a:solidFill>
        </p:grpSpPr>
        <p:sp>
          <p:nvSpPr>
            <p:cNvPr id="50" name="Freeform 55">
              <a:extLst>
                <a:ext uri="{FF2B5EF4-FFF2-40B4-BE49-F238E27FC236}">
                  <a16:creationId xmlns:a16="http://schemas.microsoft.com/office/drawing/2014/main" id="{390FEAA2-E339-46C8-B1D7-7B5518F131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1400" y="3000375"/>
              <a:ext cx="274638" cy="358775"/>
            </a:xfrm>
            <a:custGeom>
              <a:avLst/>
              <a:gdLst>
                <a:gd name="T0" fmla="*/ 182 w 364"/>
                <a:gd name="T1" fmla="*/ 476 h 476"/>
                <a:gd name="T2" fmla="*/ 152 w 364"/>
                <a:gd name="T3" fmla="*/ 462 h 476"/>
                <a:gd name="T4" fmla="*/ 0 w 364"/>
                <a:gd name="T5" fmla="*/ 182 h 476"/>
                <a:gd name="T6" fmla="*/ 53 w 364"/>
                <a:gd name="T7" fmla="*/ 53 h 476"/>
                <a:gd name="T8" fmla="*/ 182 w 364"/>
                <a:gd name="T9" fmla="*/ 0 h 476"/>
                <a:gd name="T10" fmla="*/ 182 w 364"/>
                <a:gd name="T11" fmla="*/ 0 h 476"/>
                <a:gd name="T12" fmla="*/ 364 w 364"/>
                <a:gd name="T13" fmla="*/ 182 h 476"/>
                <a:gd name="T14" fmla="*/ 212 w 364"/>
                <a:gd name="T15" fmla="*/ 462 h 476"/>
                <a:gd name="T16" fmla="*/ 182 w 364"/>
                <a:gd name="T17" fmla="*/ 476 h 476"/>
                <a:gd name="T18" fmla="*/ 182 w 364"/>
                <a:gd name="T19" fmla="*/ 24 h 476"/>
                <a:gd name="T20" fmla="*/ 70 w 364"/>
                <a:gd name="T21" fmla="*/ 70 h 476"/>
                <a:gd name="T22" fmla="*/ 24 w 364"/>
                <a:gd name="T23" fmla="*/ 182 h 476"/>
                <a:gd name="T24" fmla="*/ 171 w 364"/>
                <a:gd name="T25" fmla="*/ 447 h 476"/>
                <a:gd name="T26" fmla="*/ 182 w 364"/>
                <a:gd name="T27" fmla="*/ 452 h 476"/>
                <a:gd name="T28" fmla="*/ 193 w 364"/>
                <a:gd name="T29" fmla="*/ 447 h 476"/>
                <a:gd name="T30" fmla="*/ 340 w 364"/>
                <a:gd name="T31" fmla="*/ 182 h 476"/>
                <a:gd name="T32" fmla="*/ 182 w 364"/>
                <a:gd name="T33" fmla="*/ 24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4" h="476">
                  <a:moveTo>
                    <a:pt x="182" y="476"/>
                  </a:moveTo>
                  <a:cubicBezTo>
                    <a:pt x="170" y="476"/>
                    <a:pt x="159" y="471"/>
                    <a:pt x="152" y="462"/>
                  </a:cubicBezTo>
                  <a:cubicBezTo>
                    <a:pt x="95" y="389"/>
                    <a:pt x="0" y="257"/>
                    <a:pt x="0" y="182"/>
                  </a:cubicBezTo>
                  <a:cubicBezTo>
                    <a:pt x="0" y="133"/>
                    <a:pt x="19" y="87"/>
                    <a:pt x="53" y="53"/>
                  </a:cubicBezTo>
                  <a:cubicBezTo>
                    <a:pt x="87" y="19"/>
                    <a:pt x="133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282" y="0"/>
                    <a:pt x="364" y="81"/>
                    <a:pt x="364" y="182"/>
                  </a:cubicBezTo>
                  <a:cubicBezTo>
                    <a:pt x="364" y="257"/>
                    <a:pt x="269" y="389"/>
                    <a:pt x="212" y="462"/>
                  </a:cubicBezTo>
                  <a:cubicBezTo>
                    <a:pt x="205" y="471"/>
                    <a:pt x="194" y="476"/>
                    <a:pt x="182" y="476"/>
                  </a:cubicBezTo>
                  <a:close/>
                  <a:moveTo>
                    <a:pt x="182" y="24"/>
                  </a:moveTo>
                  <a:cubicBezTo>
                    <a:pt x="140" y="24"/>
                    <a:pt x="100" y="40"/>
                    <a:pt x="70" y="70"/>
                  </a:cubicBezTo>
                  <a:cubicBezTo>
                    <a:pt x="40" y="100"/>
                    <a:pt x="24" y="140"/>
                    <a:pt x="24" y="182"/>
                  </a:cubicBezTo>
                  <a:cubicBezTo>
                    <a:pt x="24" y="254"/>
                    <a:pt x="136" y="403"/>
                    <a:pt x="171" y="447"/>
                  </a:cubicBezTo>
                  <a:cubicBezTo>
                    <a:pt x="174" y="450"/>
                    <a:pt x="178" y="452"/>
                    <a:pt x="182" y="452"/>
                  </a:cubicBezTo>
                  <a:cubicBezTo>
                    <a:pt x="186" y="452"/>
                    <a:pt x="190" y="450"/>
                    <a:pt x="193" y="447"/>
                  </a:cubicBezTo>
                  <a:cubicBezTo>
                    <a:pt x="285" y="329"/>
                    <a:pt x="340" y="230"/>
                    <a:pt x="340" y="182"/>
                  </a:cubicBezTo>
                  <a:cubicBezTo>
                    <a:pt x="340" y="95"/>
                    <a:pt x="269" y="24"/>
                    <a:pt x="18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Freeform 56">
              <a:extLst>
                <a:ext uri="{FF2B5EF4-FFF2-40B4-BE49-F238E27FC236}">
                  <a16:creationId xmlns:a16="http://schemas.microsoft.com/office/drawing/2014/main" id="{F4856229-6026-468F-9BA4-5164F02CA7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0775" y="3079750"/>
              <a:ext cx="114300" cy="115888"/>
            </a:xfrm>
            <a:custGeom>
              <a:avLst/>
              <a:gdLst>
                <a:gd name="T0" fmla="*/ 76 w 152"/>
                <a:gd name="T1" fmla="*/ 152 h 152"/>
                <a:gd name="T2" fmla="*/ 0 w 152"/>
                <a:gd name="T3" fmla="*/ 76 h 152"/>
                <a:gd name="T4" fmla="*/ 76 w 152"/>
                <a:gd name="T5" fmla="*/ 0 h 152"/>
                <a:gd name="T6" fmla="*/ 76 w 152"/>
                <a:gd name="T7" fmla="*/ 0 h 152"/>
                <a:gd name="T8" fmla="*/ 130 w 152"/>
                <a:gd name="T9" fmla="*/ 22 h 152"/>
                <a:gd name="T10" fmla="*/ 152 w 152"/>
                <a:gd name="T11" fmla="*/ 76 h 152"/>
                <a:gd name="T12" fmla="*/ 152 w 152"/>
                <a:gd name="T13" fmla="*/ 76 h 152"/>
                <a:gd name="T14" fmla="*/ 76 w 152"/>
                <a:gd name="T15" fmla="*/ 152 h 152"/>
                <a:gd name="T16" fmla="*/ 76 w 152"/>
                <a:gd name="T17" fmla="*/ 24 h 152"/>
                <a:gd name="T18" fmla="*/ 76 w 152"/>
                <a:gd name="T19" fmla="*/ 24 h 152"/>
                <a:gd name="T20" fmla="*/ 24 w 152"/>
                <a:gd name="T21" fmla="*/ 76 h 152"/>
                <a:gd name="T22" fmla="*/ 76 w 152"/>
                <a:gd name="T23" fmla="*/ 128 h 152"/>
                <a:gd name="T24" fmla="*/ 128 w 152"/>
                <a:gd name="T25" fmla="*/ 76 h 152"/>
                <a:gd name="T26" fmla="*/ 128 w 152"/>
                <a:gd name="T27" fmla="*/ 76 h 152"/>
                <a:gd name="T28" fmla="*/ 113 w 152"/>
                <a:gd name="T29" fmla="*/ 39 h 152"/>
                <a:gd name="T30" fmla="*/ 76 w 152"/>
                <a:gd name="T31" fmla="*/ 2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2" h="152">
                  <a:moveTo>
                    <a:pt x="76" y="152"/>
                  </a:moveTo>
                  <a:cubicBezTo>
                    <a:pt x="34" y="152"/>
                    <a:pt x="0" y="118"/>
                    <a:pt x="0" y="76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6" y="0"/>
                    <a:pt x="115" y="8"/>
                    <a:pt x="130" y="22"/>
                  </a:cubicBezTo>
                  <a:cubicBezTo>
                    <a:pt x="144" y="37"/>
                    <a:pt x="152" y="56"/>
                    <a:pt x="152" y="76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118"/>
                    <a:pt x="118" y="152"/>
                    <a:pt x="76" y="152"/>
                  </a:cubicBezTo>
                  <a:close/>
                  <a:moveTo>
                    <a:pt x="76" y="24"/>
                  </a:moveTo>
                  <a:cubicBezTo>
                    <a:pt x="76" y="24"/>
                    <a:pt x="76" y="24"/>
                    <a:pt x="76" y="24"/>
                  </a:cubicBezTo>
                  <a:cubicBezTo>
                    <a:pt x="47" y="24"/>
                    <a:pt x="24" y="47"/>
                    <a:pt x="24" y="76"/>
                  </a:cubicBezTo>
                  <a:cubicBezTo>
                    <a:pt x="24" y="104"/>
                    <a:pt x="47" y="128"/>
                    <a:pt x="76" y="128"/>
                  </a:cubicBezTo>
                  <a:cubicBezTo>
                    <a:pt x="104" y="128"/>
                    <a:pt x="128" y="104"/>
                    <a:pt x="128" y="76"/>
                  </a:cubicBezTo>
                  <a:cubicBezTo>
                    <a:pt x="128" y="76"/>
                    <a:pt x="128" y="76"/>
                    <a:pt x="128" y="76"/>
                  </a:cubicBezTo>
                  <a:cubicBezTo>
                    <a:pt x="128" y="62"/>
                    <a:pt x="122" y="49"/>
                    <a:pt x="113" y="39"/>
                  </a:cubicBezTo>
                  <a:cubicBezTo>
                    <a:pt x="103" y="29"/>
                    <a:pt x="90" y="24"/>
                    <a:pt x="76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Freeform 57">
              <a:extLst>
                <a:ext uri="{FF2B5EF4-FFF2-40B4-BE49-F238E27FC236}">
                  <a16:creationId xmlns:a16="http://schemas.microsoft.com/office/drawing/2014/main" id="{EC063665-91D1-4813-9D64-0D949C6CC4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9575" y="3232150"/>
              <a:ext cx="361950" cy="514350"/>
            </a:xfrm>
            <a:custGeom>
              <a:avLst/>
              <a:gdLst>
                <a:gd name="T0" fmla="*/ 240 w 480"/>
                <a:gd name="T1" fmla="*/ 681 h 681"/>
                <a:gd name="T2" fmla="*/ 208 w 480"/>
                <a:gd name="T3" fmla="*/ 663 h 681"/>
                <a:gd name="T4" fmla="*/ 16 w 480"/>
                <a:gd name="T5" fmla="*/ 270 h 681"/>
                <a:gd name="T6" fmla="*/ 61 w 480"/>
                <a:gd name="T7" fmla="*/ 80 h 681"/>
                <a:gd name="T8" fmla="*/ 240 w 480"/>
                <a:gd name="T9" fmla="*/ 5 h 681"/>
                <a:gd name="T10" fmla="*/ 419 w 480"/>
                <a:gd name="T11" fmla="*/ 80 h 681"/>
                <a:gd name="T12" fmla="*/ 465 w 480"/>
                <a:gd name="T13" fmla="*/ 270 h 681"/>
                <a:gd name="T14" fmla="*/ 272 w 480"/>
                <a:gd name="T15" fmla="*/ 663 h 681"/>
                <a:gd name="T16" fmla="*/ 240 w 480"/>
                <a:gd name="T17" fmla="*/ 681 h 681"/>
                <a:gd name="T18" fmla="*/ 240 w 480"/>
                <a:gd name="T19" fmla="*/ 681 h 681"/>
                <a:gd name="T20" fmla="*/ 226 w 480"/>
                <a:gd name="T21" fmla="*/ 28 h 681"/>
                <a:gd name="T22" fmla="*/ 80 w 480"/>
                <a:gd name="T23" fmla="*/ 96 h 681"/>
                <a:gd name="T24" fmla="*/ 39 w 480"/>
                <a:gd name="T25" fmla="*/ 264 h 681"/>
                <a:gd name="T26" fmla="*/ 39 w 480"/>
                <a:gd name="T27" fmla="*/ 265 h 681"/>
                <a:gd name="T28" fmla="*/ 228 w 480"/>
                <a:gd name="T29" fmla="*/ 650 h 681"/>
                <a:gd name="T30" fmla="*/ 240 w 480"/>
                <a:gd name="T31" fmla="*/ 657 h 681"/>
                <a:gd name="T32" fmla="*/ 240 w 480"/>
                <a:gd name="T33" fmla="*/ 657 h 681"/>
                <a:gd name="T34" fmla="*/ 252 w 480"/>
                <a:gd name="T35" fmla="*/ 650 h 681"/>
                <a:gd name="T36" fmla="*/ 441 w 480"/>
                <a:gd name="T37" fmla="*/ 265 h 681"/>
                <a:gd name="T38" fmla="*/ 441 w 480"/>
                <a:gd name="T39" fmla="*/ 264 h 681"/>
                <a:gd name="T40" fmla="*/ 401 w 480"/>
                <a:gd name="T41" fmla="*/ 96 h 681"/>
                <a:gd name="T42" fmla="*/ 241 w 480"/>
                <a:gd name="T43" fmla="*/ 29 h 681"/>
                <a:gd name="T44" fmla="*/ 240 w 480"/>
                <a:gd name="T45" fmla="*/ 29 h 681"/>
                <a:gd name="T46" fmla="*/ 239 w 480"/>
                <a:gd name="T47" fmla="*/ 29 h 681"/>
                <a:gd name="T48" fmla="*/ 226 w 480"/>
                <a:gd name="T49" fmla="*/ 28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0" h="681">
                  <a:moveTo>
                    <a:pt x="240" y="681"/>
                  </a:moveTo>
                  <a:cubicBezTo>
                    <a:pt x="227" y="681"/>
                    <a:pt x="214" y="674"/>
                    <a:pt x="208" y="663"/>
                  </a:cubicBezTo>
                  <a:cubicBezTo>
                    <a:pt x="156" y="580"/>
                    <a:pt x="35" y="376"/>
                    <a:pt x="16" y="270"/>
                  </a:cubicBezTo>
                  <a:cubicBezTo>
                    <a:pt x="0" y="203"/>
                    <a:pt x="17" y="132"/>
                    <a:pt x="61" y="80"/>
                  </a:cubicBezTo>
                  <a:cubicBezTo>
                    <a:pt x="105" y="28"/>
                    <a:pt x="172" y="0"/>
                    <a:pt x="240" y="5"/>
                  </a:cubicBezTo>
                  <a:cubicBezTo>
                    <a:pt x="308" y="0"/>
                    <a:pt x="375" y="28"/>
                    <a:pt x="419" y="80"/>
                  </a:cubicBezTo>
                  <a:cubicBezTo>
                    <a:pt x="464" y="132"/>
                    <a:pt x="480" y="203"/>
                    <a:pt x="465" y="270"/>
                  </a:cubicBezTo>
                  <a:cubicBezTo>
                    <a:pt x="449" y="362"/>
                    <a:pt x="325" y="575"/>
                    <a:pt x="272" y="663"/>
                  </a:cubicBezTo>
                  <a:cubicBezTo>
                    <a:pt x="266" y="674"/>
                    <a:pt x="253" y="681"/>
                    <a:pt x="240" y="681"/>
                  </a:cubicBezTo>
                  <a:cubicBezTo>
                    <a:pt x="240" y="681"/>
                    <a:pt x="240" y="681"/>
                    <a:pt x="240" y="681"/>
                  </a:cubicBezTo>
                  <a:close/>
                  <a:moveTo>
                    <a:pt x="226" y="28"/>
                  </a:moveTo>
                  <a:cubicBezTo>
                    <a:pt x="170" y="28"/>
                    <a:pt x="116" y="53"/>
                    <a:pt x="80" y="96"/>
                  </a:cubicBezTo>
                  <a:cubicBezTo>
                    <a:pt x="40" y="142"/>
                    <a:pt x="25" y="205"/>
                    <a:pt x="39" y="264"/>
                  </a:cubicBezTo>
                  <a:cubicBezTo>
                    <a:pt x="39" y="265"/>
                    <a:pt x="39" y="265"/>
                    <a:pt x="39" y="265"/>
                  </a:cubicBezTo>
                  <a:cubicBezTo>
                    <a:pt x="58" y="368"/>
                    <a:pt x="178" y="569"/>
                    <a:pt x="228" y="650"/>
                  </a:cubicBezTo>
                  <a:cubicBezTo>
                    <a:pt x="231" y="655"/>
                    <a:pt x="235" y="657"/>
                    <a:pt x="240" y="657"/>
                  </a:cubicBezTo>
                  <a:cubicBezTo>
                    <a:pt x="240" y="657"/>
                    <a:pt x="240" y="657"/>
                    <a:pt x="240" y="657"/>
                  </a:cubicBezTo>
                  <a:cubicBezTo>
                    <a:pt x="245" y="657"/>
                    <a:pt x="249" y="655"/>
                    <a:pt x="252" y="650"/>
                  </a:cubicBezTo>
                  <a:cubicBezTo>
                    <a:pt x="304" y="564"/>
                    <a:pt x="426" y="353"/>
                    <a:pt x="441" y="265"/>
                  </a:cubicBezTo>
                  <a:cubicBezTo>
                    <a:pt x="441" y="264"/>
                    <a:pt x="441" y="264"/>
                    <a:pt x="441" y="264"/>
                  </a:cubicBezTo>
                  <a:cubicBezTo>
                    <a:pt x="455" y="205"/>
                    <a:pt x="440" y="142"/>
                    <a:pt x="401" y="96"/>
                  </a:cubicBezTo>
                  <a:cubicBezTo>
                    <a:pt x="362" y="49"/>
                    <a:pt x="302" y="24"/>
                    <a:pt x="241" y="29"/>
                  </a:cubicBezTo>
                  <a:cubicBezTo>
                    <a:pt x="240" y="29"/>
                    <a:pt x="240" y="29"/>
                    <a:pt x="240" y="29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35" y="28"/>
                    <a:pt x="230" y="28"/>
                    <a:pt x="226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Freeform 58">
              <a:extLst>
                <a:ext uri="{FF2B5EF4-FFF2-40B4-BE49-F238E27FC236}">
                  <a16:creationId xmlns:a16="http://schemas.microsoft.com/office/drawing/2014/main" id="{95D94785-E44A-4BA3-B580-7222DDD015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1650" y="3314700"/>
              <a:ext cx="171450" cy="165100"/>
            </a:xfrm>
            <a:custGeom>
              <a:avLst/>
              <a:gdLst>
                <a:gd name="T0" fmla="*/ 118 w 228"/>
                <a:gd name="T1" fmla="*/ 219 h 219"/>
                <a:gd name="T2" fmla="*/ 41 w 228"/>
                <a:gd name="T3" fmla="*/ 187 h 219"/>
                <a:gd name="T4" fmla="*/ 17 w 228"/>
                <a:gd name="T5" fmla="*/ 68 h 219"/>
                <a:gd name="T6" fmla="*/ 118 w 228"/>
                <a:gd name="T7" fmla="*/ 0 h 219"/>
                <a:gd name="T8" fmla="*/ 228 w 228"/>
                <a:gd name="T9" fmla="*/ 110 h 219"/>
                <a:gd name="T10" fmla="*/ 228 w 228"/>
                <a:gd name="T11" fmla="*/ 110 h 219"/>
                <a:gd name="T12" fmla="*/ 160 w 228"/>
                <a:gd name="T13" fmla="*/ 211 h 219"/>
                <a:gd name="T14" fmla="*/ 118 w 228"/>
                <a:gd name="T15" fmla="*/ 219 h 219"/>
                <a:gd name="T16" fmla="*/ 118 w 228"/>
                <a:gd name="T17" fmla="*/ 24 h 219"/>
                <a:gd name="T18" fmla="*/ 39 w 228"/>
                <a:gd name="T19" fmla="*/ 77 h 219"/>
                <a:gd name="T20" fmla="*/ 58 w 228"/>
                <a:gd name="T21" fmla="*/ 170 h 219"/>
                <a:gd name="T22" fmla="*/ 151 w 228"/>
                <a:gd name="T23" fmla="*/ 189 h 219"/>
                <a:gd name="T24" fmla="*/ 204 w 228"/>
                <a:gd name="T25" fmla="*/ 110 h 219"/>
                <a:gd name="T26" fmla="*/ 204 w 228"/>
                <a:gd name="T27" fmla="*/ 110 h 219"/>
                <a:gd name="T28" fmla="*/ 118 w 228"/>
                <a:gd name="T29" fmla="*/ 24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19">
                  <a:moveTo>
                    <a:pt x="118" y="219"/>
                  </a:moveTo>
                  <a:cubicBezTo>
                    <a:pt x="90" y="219"/>
                    <a:pt x="62" y="208"/>
                    <a:pt x="41" y="187"/>
                  </a:cubicBezTo>
                  <a:cubicBezTo>
                    <a:pt x="9" y="156"/>
                    <a:pt x="0" y="109"/>
                    <a:pt x="17" y="68"/>
                  </a:cubicBezTo>
                  <a:cubicBezTo>
                    <a:pt x="34" y="27"/>
                    <a:pt x="74" y="0"/>
                    <a:pt x="118" y="0"/>
                  </a:cubicBezTo>
                  <a:cubicBezTo>
                    <a:pt x="179" y="0"/>
                    <a:pt x="228" y="49"/>
                    <a:pt x="228" y="110"/>
                  </a:cubicBezTo>
                  <a:cubicBezTo>
                    <a:pt x="228" y="110"/>
                    <a:pt x="228" y="110"/>
                    <a:pt x="228" y="110"/>
                  </a:cubicBezTo>
                  <a:cubicBezTo>
                    <a:pt x="228" y="154"/>
                    <a:pt x="201" y="194"/>
                    <a:pt x="160" y="211"/>
                  </a:cubicBezTo>
                  <a:cubicBezTo>
                    <a:pt x="147" y="217"/>
                    <a:pt x="132" y="219"/>
                    <a:pt x="118" y="219"/>
                  </a:cubicBezTo>
                  <a:close/>
                  <a:moveTo>
                    <a:pt x="118" y="24"/>
                  </a:moveTo>
                  <a:cubicBezTo>
                    <a:pt x="84" y="24"/>
                    <a:pt x="53" y="45"/>
                    <a:pt x="39" y="77"/>
                  </a:cubicBezTo>
                  <a:cubicBezTo>
                    <a:pt x="26" y="109"/>
                    <a:pt x="33" y="146"/>
                    <a:pt x="58" y="170"/>
                  </a:cubicBezTo>
                  <a:cubicBezTo>
                    <a:pt x="82" y="195"/>
                    <a:pt x="119" y="202"/>
                    <a:pt x="151" y="189"/>
                  </a:cubicBezTo>
                  <a:cubicBezTo>
                    <a:pt x="183" y="175"/>
                    <a:pt x="204" y="144"/>
                    <a:pt x="204" y="110"/>
                  </a:cubicBezTo>
                  <a:cubicBezTo>
                    <a:pt x="204" y="110"/>
                    <a:pt x="204" y="110"/>
                    <a:pt x="204" y="110"/>
                  </a:cubicBezTo>
                  <a:cubicBezTo>
                    <a:pt x="204" y="63"/>
                    <a:pt x="165" y="24"/>
                    <a:pt x="118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Freeform 59">
              <a:extLst>
                <a:ext uri="{FF2B5EF4-FFF2-40B4-BE49-F238E27FC236}">
                  <a16:creationId xmlns:a16="http://schemas.microsoft.com/office/drawing/2014/main" id="{C6BAABC9-710C-4E46-BC68-58899BA56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913" y="3411538"/>
              <a:ext cx="471488" cy="312738"/>
            </a:xfrm>
            <a:custGeom>
              <a:avLst/>
              <a:gdLst>
                <a:gd name="T0" fmla="*/ 14 w 626"/>
                <a:gd name="T1" fmla="*/ 415 h 415"/>
                <a:gd name="T2" fmla="*/ 4 w 626"/>
                <a:gd name="T3" fmla="*/ 410 h 415"/>
                <a:gd name="T4" fmla="*/ 7 w 626"/>
                <a:gd name="T5" fmla="*/ 393 h 415"/>
                <a:gd name="T6" fmla="*/ 605 w 626"/>
                <a:gd name="T7" fmla="*/ 3 h 415"/>
                <a:gd name="T8" fmla="*/ 622 w 626"/>
                <a:gd name="T9" fmla="*/ 7 h 415"/>
                <a:gd name="T10" fmla="*/ 618 w 626"/>
                <a:gd name="T11" fmla="*/ 24 h 415"/>
                <a:gd name="T12" fmla="*/ 21 w 626"/>
                <a:gd name="T13" fmla="*/ 414 h 415"/>
                <a:gd name="T14" fmla="*/ 14 w 626"/>
                <a:gd name="T15" fmla="*/ 41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6" h="415">
                  <a:moveTo>
                    <a:pt x="14" y="415"/>
                  </a:moveTo>
                  <a:cubicBezTo>
                    <a:pt x="10" y="415"/>
                    <a:pt x="6" y="414"/>
                    <a:pt x="4" y="410"/>
                  </a:cubicBezTo>
                  <a:cubicBezTo>
                    <a:pt x="0" y="405"/>
                    <a:pt x="2" y="397"/>
                    <a:pt x="7" y="393"/>
                  </a:cubicBezTo>
                  <a:cubicBezTo>
                    <a:pt x="605" y="3"/>
                    <a:pt x="605" y="3"/>
                    <a:pt x="605" y="3"/>
                  </a:cubicBezTo>
                  <a:cubicBezTo>
                    <a:pt x="611" y="0"/>
                    <a:pt x="618" y="1"/>
                    <a:pt x="622" y="7"/>
                  </a:cubicBezTo>
                  <a:cubicBezTo>
                    <a:pt x="626" y="13"/>
                    <a:pt x="624" y="20"/>
                    <a:pt x="618" y="24"/>
                  </a:cubicBezTo>
                  <a:cubicBezTo>
                    <a:pt x="21" y="414"/>
                    <a:pt x="21" y="414"/>
                    <a:pt x="21" y="414"/>
                  </a:cubicBezTo>
                  <a:cubicBezTo>
                    <a:pt x="19" y="415"/>
                    <a:pt x="16" y="415"/>
                    <a:pt x="14" y="4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8" name="Title 27">
            <a:extLst>
              <a:ext uri="{FF2B5EF4-FFF2-40B4-BE49-F238E27FC236}">
                <a16:creationId xmlns:a16="http://schemas.microsoft.com/office/drawing/2014/main" id="{7BB1D512-7828-4049-8972-17D4E6FB2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Privileged Access Management</a:t>
            </a:r>
          </a:p>
        </p:txBody>
      </p:sp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9211FE16-DD5D-4F4F-91D3-B007E265BF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C2FD954-6CE9-0FAA-C878-DBC9618E1405}"/>
              </a:ext>
            </a:extLst>
          </p:cNvPr>
          <p:cNvSpPr txBox="1"/>
          <p:nvPr/>
        </p:nvSpPr>
        <p:spPr>
          <a:xfrm>
            <a:off x="9523" y="844609"/>
            <a:ext cx="7430409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4E84C4"/>
                </a:solidFill>
              </a:rPr>
              <a:t>What is Privileged Access Management?</a:t>
            </a:r>
          </a:p>
          <a:p>
            <a:r>
              <a:rPr lang="en-US" sz="1800" dirty="0"/>
              <a:t>Privileged Access Management (PAM) is a cybersecurity strategy and technology solution that secures, controls, manages, and monitors privileged access to critical resources within an organization's IT infrastructure.</a:t>
            </a:r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>
                <a:solidFill>
                  <a:srgbClr val="4E84C4"/>
                </a:solidFill>
              </a:rPr>
              <a:t>Why PAM Matters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80% of data breaches involve privileged credentials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Average cost of a data breach: $4.45 million (2023)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62% of organizations experienced privilege-related security incidents.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GB" sz="1600" dirty="0"/>
          </a:p>
        </p:txBody>
      </p:sp>
      <p:pic>
        <p:nvPicPr>
          <p:cNvPr id="2052" name="Picture 4" descr="49,800+ Hacker Stock Illustrations ...">
            <a:extLst>
              <a:ext uri="{FF2B5EF4-FFF2-40B4-BE49-F238E27FC236}">
                <a16:creationId xmlns:a16="http://schemas.microsoft.com/office/drawing/2014/main" id="{4DF0DC96-28F1-3F6B-027C-336ECE471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6002" y="2704111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9936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C0959-9A20-88ED-3021-F4BF3A295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1250D107-2DDE-9D66-B8E0-47C8A984B2EF}"/>
              </a:ext>
            </a:extLst>
          </p:cNvPr>
          <p:cNvGrpSpPr/>
          <p:nvPr/>
        </p:nvGrpSpPr>
        <p:grpSpPr>
          <a:xfrm>
            <a:off x="1646076" y="4029452"/>
            <a:ext cx="570912" cy="419326"/>
            <a:chOff x="6759575" y="3000375"/>
            <a:chExt cx="906463" cy="746125"/>
          </a:xfrm>
          <a:solidFill>
            <a:srgbClr val="F4F3F9"/>
          </a:solidFill>
        </p:grpSpPr>
        <p:sp>
          <p:nvSpPr>
            <p:cNvPr id="50" name="Freeform 55">
              <a:extLst>
                <a:ext uri="{FF2B5EF4-FFF2-40B4-BE49-F238E27FC236}">
                  <a16:creationId xmlns:a16="http://schemas.microsoft.com/office/drawing/2014/main" id="{E664F07C-F0B4-66E6-89AE-F0686061E9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1400" y="3000375"/>
              <a:ext cx="274638" cy="358775"/>
            </a:xfrm>
            <a:custGeom>
              <a:avLst/>
              <a:gdLst>
                <a:gd name="T0" fmla="*/ 182 w 364"/>
                <a:gd name="T1" fmla="*/ 476 h 476"/>
                <a:gd name="T2" fmla="*/ 152 w 364"/>
                <a:gd name="T3" fmla="*/ 462 h 476"/>
                <a:gd name="T4" fmla="*/ 0 w 364"/>
                <a:gd name="T5" fmla="*/ 182 h 476"/>
                <a:gd name="T6" fmla="*/ 53 w 364"/>
                <a:gd name="T7" fmla="*/ 53 h 476"/>
                <a:gd name="T8" fmla="*/ 182 w 364"/>
                <a:gd name="T9" fmla="*/ 0 h 476"/>
                <a:gd name="T10" fmla="*/ 182 w 364"/>
                <a:gd name="T11" fmla="*/ 0 h 476"/>
                <a:gd name="T12" fmla="*/ 364 w 364"/>
                <a:gd name="T13" fmla="*/ 182 h 476"/>
                <a:gd name="T14" fmla="*/ 212 w 364"/>
                <a:gd name="T15" fmla="*/ 462 h 476"/>
                <a:gd name="T16" fmla="*/ 182 w 364"/>
                <a:gd name="T17" fmla="*/ 476 h 476"/>
                <a:gd name="T18" fmla="*/ 182 w 364"/>
                <a:gd name="T19" fmla="*/ 24 h 476"/>
                <a:gd name="T20" fmla="*/ 70 w 364"/>
                <a:gd name="T21" fmla="*/ 70 h 476"/>
                <a:gd name="T22" fmla="*/ 24 w 364"/>
                <a:gd name="T23" fmla="*/ 182 h 476"/>
                <a:gd name="T24" fmla="*/ 171 w 364"/>
                <a:gd name="T25" fmla="*/ 447 h 476"/>
                <a:gd name="T26" fmla="*/ 182 w 364"/>
                <a:gd name="T27" fmla="*/ 452 h 476"/>
                <a:gd name="T28" fmla="*/ 193 w 364"/>
                <a:gd name="T29" fmla="*/ 447 h 476"/>
                <a:gd name="T30" fmla="*/ 340 w 364"/>
                <a:gd name="T31" fmla="*/ 182 h 476"/>
                <a:gd name="T32" fmla="*/ 182 w 364"/>
                <a:gd name="T33" fmla="*/ 24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4" h="476">
                  <a:moveTo>
                    <a:pt x="182" y="476"/>
                  </a:moveTo>
                  <a:cubicBezTo>
                    <a:pt x="170" y="476"/>
                    <a:pt x="159" y="471"/>
                    <a:pt x="152" y="462"/>
                  </a:cubicBezTo>
                  <a:cubicBezTo>
                    <a:pt x="95" y="389"/>
                    <a:pt x="0" y="257"/>
                    <a:pt x="0" y="182"/>
                  </a:cubicBezTo>
                  <a:cubicBezTo>
                    <a:pt x="0" y="133"/>
                    <a:pt x="19" y="87"/>
                    <a:pt x="53" y="53"/>
                  </a:cubicBezTo>
                  <a:cubicBezTo>
                    <a:pt x="87" y="19"/>
                    <a:pt x="133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282" y="0"/>
                    <a:pt x="364" y="81"/>
                    <a:pt x="364" y="182"/>
                  </a:cubicBezTo>
                  <a:cubicBezTo>
                    <a:pt x="364" y="257"/>
                    <a:pt x="269" y="389"/>
                    <a:pt x="212" y="462"/>
                  </a:cubicBezTo>
                  <a:cubicBezTo>
                    <a:pt x="205" y="471"/>
                    <a:pt x="194" y="476"/>
                    <a:pt x="182" y="476"/>
                  </a:cubicBezTo>
                  <a:close/>
                  <a:moveTo>
                    <a:pt x="182" y="24"/>
                  </a:moveTo>
                  <a:cubicBezTo>
                    <a:pt x="140" y="24"/>
                    <a:pt x="100" y="40"/>
                    <a:pt x="70" y="70"/>
                  </a:cubicBezTo>
                  <a:cubicBezTo>
                    <a:pt x="40" y="100"/>
                    <a:pt x="24" y="140"/>
                    <a:pt x="24" y="182"/>
                  </a:cubicBezTo>
                  <a:cubicBezTo>
                    <a:pt x="24" y="254"/>
                    <a:pt x="136" y="403"/>
                    <a:pt x="171" y="447"/>
                  </a:cubicBezTo>
                  <a:cubicBezTo>
                    <a:pt x="174" y="450"/>
                    <a:pt x="178" y="452"/>
                    <a:pt x="182" y="452"/>
                  </a:cubicBezTo>
                  <a:cubicBezTo>
                    <a:pt x="186" y="452"/>
                    <a:pt x="190" y="450"/>
                    <a:pt x="193" y="447"/>
                  </a:cubicBezTo>
                  <a:cubicBezTo>
                    <a:pt x="285" y="329"/>
                    <a:pt x="340" y="230"/>
                    <a:pt x="340" y="182"/>
                  </a:cubicBezTo>
                  <a:cubicBezTo>
                    <a:pt x="340" y="95"/>
                    <a:pt x="269" y="24"/>
                    <a:pt x="18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Freeform 56">
              <a:extLst>
                <a:ext uri="{FF2B5EF4-FFF2-40B4-BE49-F238E27FC236}">
                  <a16:creationId xmlns:a16="http://schemas.microsoft.com/office/drawing/2014/main" id="{4BD967A0-9524-FFC0-CDF0-4AEF2FA40A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0775" y="3079750"/>
              <a:ext cx="114300" cy="115888"/>
            </a:xfrm>
            <a:custGeom>
              <a:avLst/>
              <a:gdLst>
                <a:gd name="T0" fmla="*/ 76 w 152"/>
                <a:gd name="T1" fmla="*/ 152 h 152"/>
                <a:gd name="T2" fmla="*/ 0 w 152"/>
                <a:gd name="T3" fmla="*/ 76 h 152"/>
                <a:gd name="T4" fmla="*/ 76 w 152"/>
                <a:gd name="T5" fmla="*/ 0 h 152"/>
                <a:gd name="T6" fmla="*/ 76 w 152"/>
                <a:gd name="T7" fmla="*/ 0 h 152"/>
                <a:gd name="T8" fmla="*/ 130 w 152"/>
                <a:gd name="T9" fmla="*/ 22 h 152"/>
                <a:gd name="T10" fmla="*/ 152 w 152"/>
                <a:gd name="T11" fmla="*/ 76 h 152"/>
                <a:gd name="T12" fmla="*/ 152 w 152"/>
                <a:gd name="T13" fmla="*/ 76 h 152"/>
                <a:gd name="T14" fmla="*/ 76 w 152"/>
                <a:gd name="T15" fmla="*/ 152 h 152"/>
                <a:gd name="T16" fmla="*/ 76 w 152"/>
                <a:gd name="T17" fmla="*/ 24 h 152"/>
                <a:gd name="T18" fmla="*/ 76 w 152"/>
                <a:gd name="T19" fmla="*/ 24 h 152"/>
                <a:gd name="T20" fmla="*/ 24 w 152"/>
                <a:gd name="T21" fmla="*/ 76 h 152"/>
                <a:gd name="T22" fmla="*/ 76 w 152"/>
                <a:gd name="T23" fmla="*/ 128 h 152"/>
                <a:gd name="T24" fmla="*/ 128 w 152"/>
                <a:gd name="T25" fmla="*/ 76 h 152"/>
                <a:gd name="T26" fmla="*/ 128 w 152"/>
                <a:gd name="T27" fmla="*/ 76 h 152"/>
                <a:gd name="T28" fmla="*/ 113 w 152"/>
                <a:gd name="T29" fmla="*/ 39 h 152"/>
                <a:gd name="T30" fmla="*/ 76 w 152"/>
                <a:gd name="T31" fmla="*/ 2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2" h="152">
                  <a:moveTo>
                    <a:pt x="76" y="152"/>
                  </a:moveTo>
                  <a:cubicBezTo>
                    <a:pt x="34" y="152"/>
                    <a:pt x="0" y="118"/>
                    <a:pt x="0" y="76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6" y="0"/>
                    <a:pt x="115" y="8"/>
                    <a:pt x="130" y="22"/>
                  </a:cubicBezTo>
                  <a:cubicBezTo>
                    <a:pt x="144" y="37"/>
                    <a:pt x="152" y="56"/>
                    <a:pt x="152" y="76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118"/>
                    <a:pt x="118" y="152"/>
                    <a:pt x="76" y="152"/>
                  </a:cubicBezTo>
                  <a:close/>
                  <a:moveTo>
                    <a:pt x="76" y="24"/>
                  </a:moveTo>
                  <a:cubicBezTo>
                    <a:pt x="76" y="24"/>
                    <a:pt x="76" y="24"/>
                    <a:pt x="76" y="24"/>
                  </a:cubicBezTo>
                  <a:cubicBezTo>
                    <a:pt x="47" y="24"/>
                    <a:pt x="24" y="47"/>
                    <a:pt x="24" y="76"/>
                  </a:cubicBezTo>
                  <a:cubicBezTo>
                    <a:pt x="24" y="104"/>
                    <a:pt x="47" y="128"/>
                    <a:pt x="76" y="128"/>
                  </a:cubicBezTo>
                  <a:cubicBezTo>
                    <a:pt x="104" y="128"/>
                    <a:pt x="128" y="104"/>
                    <a:pt x="128" y="76"/>
                  </a:cubicBezTo>
                  <a:cubicBezTo>
                    <a:pt x="128" y="76"/>
                    <a:pt x="128" y="76"/>
                    <a:pt x="128" y="76"/>
                  </a:cubicBezTo>
                  <a:cubicBezTo>
                    <a:pt x="128" y="62"/>
                    <a:pt x="122" y="49"/>
                    <a:pt x="113" y="39"/>
                  </a:cubicBezTo>
                  <a:cubicBezTo>
                    <a:pt x="103" y="29"/>
                    <a:pt x="90" y="24"/>
                    <a:pt x="76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Freeform 57">
              <a:extLst>
                <a:ext uri="{FF2B5EF4-FFF2-40B4-BE49-F238E27FC236}">
                  <a16:creationId xmlns:a16="http://schemas.microsoft.com/office/drawing/2014/main" id="{25C4DC8B-7206-8F9A-6548-CF41A77DB7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9575" y="3232150"/>
              <a:ext cx="361950" cy="514350"/>
            </a:xfrm>
            <a:custGeom>
              <a:avLst/>
              <a:gdLst>
                <a:gd name="T0" fmla="*/ 240 w 480"/>
                <a:gd name="T1" fmla="*/ 681 h 681"/>
                <a:gd name="T2" fmla="*/ 208 w 480"/>
                <a:gd name="T3" fmla="*/ 663 h 681"/>
                <a:gd name="T4" fmla="*/ 16 w 480"/>
                <a:gd name="T5" fmla="*/ 270 h 681"/>
                <a:gd name="T6" fmla="*/ 61 w 480"/>
                <a:gd name="T7" fmla="*/ 80 h 681"/>
                <a:gd name="T8" fmla="*/ 240 w 480"/>
                <a:gd name="T9" fmla="*/ 5 h 681"/>
                <a:gd name="T10" fmla="*/ 419 w 480"/>
                <a:gd name="T11" fmla="*/ 80 h 681"/>
                <a:gd name="T12" fmla="*/ 465 w 480"/>
                <a:gd name="T13" fmla="*/ 270 h 681"/>
                <a:gd name="T14" fmla="*/ 272 w 480"/>
                <a:gd name="T15" fmla="*/ 663 h 681"/>
                <a:gd name="T16" fmla="*/ 240 w 480"/>
                <a:gd name="T17" fmla="*/ 681 h 681"/>
                <a:gd name="T18" fmla="*/ 240 w 480"/>
                <a:gd name="T19" fmla="*/ 681 h 681"/>
                <a:gd name="T20" fmla="*/ 226 w 480"/>
                <a:gd name="T21" fmla="*/ 28 h 681"/>
                <a:gd name="T22" fmla="*/ 80 w 480"/>
                <a:gd name="T23" fmla="*/ 96 h 681"/>
                <a:gd name="T24" fmla="*/ 39 w 480"/>
                <a:gd name="T25" fmla="*/ 264 h 681"/>
                <a:gd name="T26" fmla="*/ 39 w 480"/>
                <a:gd name="T27" fmla="*/ 265 h 681"/>
                <a:gd name="T28" fmla="*/ 228 w 480"/>
                <a:gd name="T29" fmla="*/ 650 h 681"/>
                <a:gd name="T30" fmla="*/ 240 w 480"/>
                <a:gd name="T31" fmla="*/ 657 h 681"/>
                <a:gd name="T32" fmla="*/ 240 w 480"/>
                <a:gd name="T33" fmla="*/ 657 h 681"/>
                <a:gd name="T34" fmla="*/ 252 w 480"/>
                <a:gd name="T35" fmla="*/ 650 h 681"/>
                <a:gd name="T36" fmla="*/ 441 w 480"/>
                <a:gd name="T37" fmla="*/ 265 h 681"/>
                <a:gd name="T38" fmla="*/ 441 w 480"/>
                <a:gd name="T39" fmla="*/ 264 h 681"/>
                <a:gd name="T40" fmla="*/ 401 w 480"/>
                <a:gd name="T41" fmla="*/ 96 h 681"/>
                <a:gd name="T42" fmla="*/ 241 w 480"/>
                <a:gd name="T43" fmla="*/ 29 h 681"/>
                <a:gd name="T44" fmla="*/ 240 w 480"/>
                <a:gd name="T45" fmla="*/ 29 h 681"/>
                <a:gd name="T46" fmla="*/ 239 w 480"/>
                <a:gd name="T47" fmla="*/ 29 h 681"/>
                <a:gd name="T48" fmla="*/ 226 w 480"/>
                <a:gd name="T49" fmla="*/ 28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0" h="681">
                  <a:moveTo>
                    <a:pt x="240" y="681"/>
                  </a:moveTo>
                  <a:cubicBezTo>
                    <a:pt x="227" y="681"/>
                    <a:pt x="214" y="674"/>
                    <a:pt x="208" y="663"/>
                  </a:cubicBezTo>
                  <a:cubicBezTo>
                    <a:pt x="156" y="580"/>
                    <a:pt x="35" y="376"/>
                    <a:pt x="16" y="270"/>
                  </a:cubicBezTo>
                  <a:cubicBezTo>
                    <a:pt x="0" y="203"/>
                    <a:pt x="17" y="132"/>
                    <a:pt x="61" y="80"/>
                  </a:cubicBezTo>
                  <a:cubicBezTo>
                    <a:pt x="105" y="28"/>
                    <a:pt x="172" y="0"/>
                    <a:pt x="240" y="5"/>
                  </a:cubicBezTo>
                  <a:cubicBezTo>
                    <a:pt x="308" y="0"/>
                    <a:pt x="375" y="28"/>
                    <a:pt x="419" y="80"/>
                  </a:cubicBezTo>
                  <a:cubicBezTo>
                    <a:pt x="464" y="132"/>
                    <a:pt x="480" y="203"/>
                    <a:pt x="465" y="270"/>
                  </a:cubicBezTo>
                  <a:cubicBezTo>
                    <a:pt x="449" y="362"/>
                    <a:pt x="325" y="575"/>
                    <a:pt x="272" y="663"/>
                  </a:cubicBezTo>
                  <a:cubicBezTo>
                    <a:pt x="266" y="674"/>
                    <a:pt x="253" y="681"/>
                    <a:pt x="240" y="681"/>
                  </a:cubicBezTo>
                  <a:cubicBezTo>
                    <a:pt x="240" y="681"/>
                    <a:pt x="240" y="681"/>
                    <a:pt x="240" y="681"/>
                  </a:cubicBezTo>
                  <a:close/>
                  <a:moveTo>
                    <a:pt x="226" y="28"/>
                  </a:moveTo>
                  <a:cubicBezTo>
                    <a:pt x="170" y="28"/>
                    <a:pt x="116" y="53"/>
                    <a:pt x="80" y="96"/>
                  </a:cubicBezTo>
                  <a:cubicBezTo>
                    <a:pt x="40" y="142"/>
                    <a:pt x="25" y="205"/>
                    <a:pt x="39" y="264"/>
                  </a:cubicBezTo>
                  <a:cubicBezTo>
                    <a:pt x="39" y="265"/>
                    <a:pt x="39" y="265"/>
                    <a:pt x="39" y="265"/>
                  </a:cubicBezTo>
                  <a:cubicBezTo>
                    <a:pt x="58" y="368"/>
                    <a:pt x="178" y="569"/>
                    <a:pt x="228" y="650"/>
                  </a:cubicBezTo>
                  <a:cubicBezTo>
                    <a:pt x="231" y="655"/>
                    <a:pt x="235" y="657"/>
                    <a:pt x="240" y="657"/>
                  </a:cubicBezTo>
                  <a:cubicBezTo>
                    <a:pt x="240" y="657"/>
                    <a:pt x="240" y="657"/>
                    <a:pt x="240" y="657"/>
                  </a:cubicBezTo>
                  <a:cubicBezTo>
                    <a:pt x="245" y="657"/>
                    <a:pt x="249" y="655"/>
                    <a:pt x="252" y="650"/>
                  </a:cubicBezTo>
                  <a:cubicBezTo>
                    <a:pt x="304" y="564"/>
                    <a:pt x="426" y="353"/>
                    <a:pt x="441" y="265"/>
                  </a:cubicBezTo>
                  <a:cubicBezTo>
                    <a:pt x="441" y="264"/>
                    <a:pt x="441" y="264"/>
                    <a:pt x="441" y="264"/>
                  </a:cubicBezTo>
                  <a:cubicBezTo>
                    <a:pt x="455" y="205"/>
                    <a:pt x="440" y="142"/>
                    <a:pt x="401" y="96"/>
                  </a:cubicBezTo>
                  <a:cubicBezTo>
                    <a:pt x="362" y="49"/>
                    <a:pt x="302" y="24"/>
                    <a:pt x="241" y="29"/>
                  </a:cubicBezTo>
                  <a:cubicBezTo>
                    <a:pt x="240" y="29"/>
                    <a:pt x="240" y="29"/>
                    <a:pt x="240" y="29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35" y="28"/>
                    <a:pt x="230" y="28"/>
                    <a:pt x="226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Freeform 58">
              <a:extLst>
                <a:ext uri="{FF2B5EF4-FFF2-40B4-BE49-F238E27FC236}">
                  <a16:creationId xmlns:a16="http://schemas.microsoft.com/office/drawing/2014/main" id="{435924F7-E465-0439-4D12-2A1FA633C4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1650" y="3314700"/>
              <a:ext cx="171450" cy="165100"/>
            </a:xfrm>
            <a:custGeom>
              <a:avLst/>
              <a:gdLst>
                <a:gd name="T0" fmla="*/ 118 w 228"/>
                <a:gd name="T1" fmla="*/ 219 h 219"/>
                <a:gd name="T2" fmla="*/ 41 w 228"/>
                <a:gd name="T3" fmla="*/ 187 h 219"/>
                <a:gd name="T4" fmla="*/ 17 w 228"/>
                <a:gd name="T5" fmla="*/ 68 h 219"/>
                <a:gd name="T6" fmla="*/ 118 w 228"/>
                <a:gd name="T7" fmla="*/ 0 h 219"/>
                <a:gd name="T8" fmla="*/ 228 w 228"/>
                <a:gd name="T9" fmla="*/ 110 h 219"/>
                <a:gd name="T10" fmla="*/ 228 w 228"/>
                <a:gd name="T11" fmla="*/ 110 h 219"/>
                <a:gd name="T12" fmla="*/ 160 w 228"/>
                <a:gd name="T13" fmla="*/ 211 h 219"/>
                <a:gd name="T14" fmla="*/ 118 w 228"/>
                <a:gd name="T15" fmla="*/ 219 h 219"/>
                <a:gd name="T16" fmla="*/ 118 w 228"/>
                <a:gd name="T17" fmla="*/ 24 h 219"/>
                <a:gd name="T18" fmla="*/ 39 w 228"/>
                <a:gd name="T19" fmla="*/ 77 h 219"/>
                <a:gd name="T20" fmla="*/ 58 w 228"/>
                <a:gd name="T21" fmla="*/ 170 h 219"/>
                <a:gd name="T22" fmla="*/ 151 w 228"/>
                <a:gd name="T23" fmla="*/ 189 h 219"/>
                <a:gd name="T24" fmla="*/ 204 w 228"/>
                <a:gd name="T25" fmla="*/ 110 h 219"/>
                <a:gd name="T26" fmla="*/ 204 w 228"/>
                <a:gd name="T27" fmla="*/ 110 h 219"/>
                <a:gd name="T28" fmla="*/ 118 w 228"/>
                <a:gd name="T29" fmla="*/ 24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19">
                  <a:moveTo>
                    <a:pt x="118" y="219"/>
                  </a:moveTo>
                  <a:cubicBezTo>
                    <a:pt x="90" y="219"/>
                    <a:pt x="62" y="208"/>
                    <a:pt x="41" y="187"/>
                  </a:cubicBezTo>
                  <a:cubicBezTo>
                    <a:pt x="9" y="156"/>
                    <a:pt x="0" y="109"/>
                    <a:pt x="17" y="68"/>
                  </a:cubicBezTo>
                  <a:cubicBezTo>
                    <a:pt x="34" y="27"/>
                    <a:pt x="74" y="0"/>
                    <a:pt x="118" y="0"/>
                  </a:cubicBezTo>
                  <a:cubicBezTo>
                    <a:pt x="179" y="0"/>
                    <a:pt x="228" y="49"/>
                    <a:pt x="228" y="110"/>
                  </a:cubicBezTo>
                  <a:cubicBezTo>
                    <a:pt x="228" y="110"/>
                    <a:pt x="228" y="110"/>
                    <a:pt x="228" y="110"/>
                  </a:cubicBezTo>
                  <a:cubicBezTo>
                    <a:pt x="228" y="154"/>
                    <a:pt x="201" y="194"/>
                    <a:pt x="160" y="211"/>
                  </a:cubicBezTo>
                  <a:cubicBezTo>
                    <a:pt x="147" y="217"/>
                    <a:pt x="132" y="219"/>
                    <a:pt x="118" y="219"/>
                  </a:cubicBezTo>
                  <a:close/>
                  <a:moveTo>
                    <a:pt x="118" y="24"/>
                  </a:moveTo>
                  <a:cubicBezTo>
                    <a:pt x="84" y="24"/>
                    <a:pt x="53" y="45"/>
                    <a:pt x="39" y="77"/>
                  </a:cubicBezTo>
                  <a:cubicBezTo>
                    <a:pt x="26" y="109"/>
                    <a:pt x="33" y="146"/>
                    <a:pt x="58" y="170"/>
                  </a:cubicBezTo>
                  <a:cubicBezTo>
                    <a:pt x="82" y="195"/>
                    <a:pt x="119" y="202"/>
                    <a:pt x="151" y="189"/>
                  </a:cubicBezTo>
                  <a:cubicBezTo>
                    <a:pt x="183" y="175"/>
                    <a:pt x="204" y="144"/>
                    <a:pt x="204" y="110"/>
                  </a:cubicBezTo>
                  <a:cubicBezTo>
                    <a:pt x="204" y="110"/>
                    <a:pt x="204" y="110"/>
                    <a:pt x="204" y="110"/>
                  </a:cubicBezTo>
                  <a:cubicBezTo>
                    <a:pt x="204" y="63"/>
                    <a:pt x="165" y="24"/>
                    <a:pt x="118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Freeform 59">
              <a:extLst>
                <a:ext uri="{FF2B5EF4-FFF2-40B4-BE49-F238E27FC236}">
                  <a16:creationId xmlns:a16="http://schemas.microsoft.com/office/drawing/2014/main" id="{8A2E3653-30E8-6F8E-BD1C-CAD829892A2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913" y="3411538"/>
              <a:ext cx="471488" cy="312738"/>
            </a:xfrm>
            <a:custGeom>
              <a:avLst/>
              <a:gdLst>
                <a:gd name="T0" fmla="*/ 14 w 626"/>
                <a:gd name="T1" fmla="*/ 415 h 415"/>
                <a:gd name="T2" fmla="*/ 4 w 626"/>
                <a:gd name="T3" fmla="*/ 410 h 415"/>
                <a:gd name="T4" fmla="*/ 7 w 626"/>
                <a:gd name="T5" fmla="*/ 393 h 415"/>
                <a:gd name="T6" fmla="*/ 605 w 626"/>
                <a:gd name="T7" fmla="*/ 3 h 415"/>
                <a:gd name="T8" fmla="*/ 622 w 626"/>
                <a:gd name="T9" fmla="*/ 7 h 415"/>
                <a:gd name="T10" fmla="*/ 618 w 626"/>
                <a:gd name="T11" fmla="*/ 24 h 415"/>
                <a:gd name="T12" fmla="*/ 21 w 626"/>
                <a:gd name="T13" fmla="*/ 414 h 415"/>
                <a:gd name="T14" fmla="*/ 14 w 626"/>
                <a:gd name="T15" fmla="*/ 41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6" h="415">
                  <a:moveTo>
                    <a:pt x="14" y="415"/>
                  </a:moveTo>
                  <a:cubicBezTo>
                    <a:pt x="10" y="415"/>
                    <a:pt x="6" y="414"/>
                    <a:pt x="4" y="410"/>
                  </a:cubicBezTo>
                  <a:cubicBezTo>
                    <a:pt x="0" y="405"/>
                    <a:pt x="2" y="397"/>
                    <a:pt x="7" y="393"/>
                  </a:cubicBezTo>
                  <a:cubicBezTo>
                    <a:pt x="605" y="3"/>
                    <a:pt x="605" y="3"/>
                    <a:pt x="605" y="3"/>
                  </a:cubicBezTo>
                  <a:cubicBezTo>
                    <a:pt x="611" y="0"/>
                    <a:pt x="618" y="1"/>
                    <a:pt x="622" y="7"/>
                  </a:cubicBezTo>
                  <a:cubicBezTo>
                    <a:pt x="626" y="13"/>
                    <a:pt x="624" y="20"/>
                    <a:pt x="618" y="24"/>
                  </a:cubicBezTo>
                  <a:cubicBezTo>
                    <a:pt x="21" y="414"/>
                    <a:pt x="21" y="414"/>
                    <a:pt x="21" y="414"/>
                  </a:cubicBezTo>
                  <a:cubicBezTo>
                    <a:pt x="19" y="415"/>
                    <a:pt x="16" y="415"/>
                    <a:pt x="14" y="4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8" name="Title 27">
            <a:extLst>
              <a:ext uri="{FF2B5EF4-FFF2-40B4-BE49-F238E27FC236}">
                <a16:creationId xmlns:a16="http://schemas.microsoft.com/office/drawing/2014/main" id="{2E91B92D-839F-BC22-7C2F-6A78A1003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92" y="107916"/>
            <a:ext cx="7886195" cy="338554"/>
          </a:xfrm>
        </p:spPr>
        <p:txBody>
          <a:bodyPr/>
          <a:lstStyle/>
          <a:p>
            <a:r>
              <a:rPr lang="en-US" dirty="0"/>
              <a:t>The Privilege Escalation</a:t>
            </a:r>
          </a:p>
        </p:txBody>
      </p:sp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DE31E7D7-317E-8A6C-2B3D-7F962E1BE0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  <p:pic>
        <p:nvPicPr>
          <p:cNvPr id="3074" name="Picture 2" descr="Video: The Cyber Attack Lifecycle">
            <a:extLst>
              <a:ext uri="{FF2B5EF4-FFF2-40B4-BE49-F238E27FC236}">
                <a16:creationId xmlns:a16="http://schemas.microsoft.com/office/drawing/2014/main" id="{F47CE5E3-6695-6583-1A0E-6E0D648F5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72" y="569676"/>
            <a:ext cx="7159732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C6E6F7-4888-AA1E-0FD1-2E93BBB937AC}"/>
              </a:ext>
            </a:extLst>
          </p:cNvPr>
          <p:cNvSpPr txBox="1"/>
          <p:nvPr/>
        </p:nvSpPr>
        <p:spPr>
          <a:xfrm>
            <a:off x="1002174" y="3767391"/>
            <a:ext cx="77580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dirty="0">
                <a:solidFill>
                  <a:srgbClr val="000000"/>
                </a:solidFill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Attackers follow the below Path to gain access to organisation’s data/application/servers</a:t>
            </a:r>
          </a:p>
          <a:p>
            <a:pPr>
              <a:buNone/>
            </a:pPr>
            <a:r>
              <a:rPr lang="en-GB" sz="1600" b="1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	Initial Access → Lateral Movement →   </a:t>
            </a:r>
            <a:r>
              <a:rPr lang="en-GB" sz="1600" b="1" dirty="0">
                <a:solidFill>
                  <a:srgbClr val="4E84C4"/>
                </a:solidFill>
                <a:effectLst/>
                <a:latin typeface="+mj-lt"/>
                <a:cs typeface="MS PGothic" panose="020B0600070205080204" pitchFamily="34" charset="-128"/>
              </a:rPr>
              <a:t>Privilege Escalation → Data Exfil     </a:t>
            </a:r>
            <a:endParaRPr lang="en-GB" sz="1600" b="1" dirty="0">
              <a:solidFill>
                <a:srgbClr val="4E84C4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06555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5CC0B-1784-29F0-840E-7FABBD689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3A764114-ADC1-3672-9D25-B147217DDB51}"/>
              </a:ext>
            </a:extLst>
          </p:cNvPr>
          <p:cNvGrpSpPr/>
          <p:nvPr/>
        </p:nvGrpSpPr>
        <p:grpSpPr>
          <a:xfrm>
            <a:off x="1646076" y="4029452"/>
            <a:ext cx="570912" cy="419326"/>
            <a:chOff x="6759575" y="3000375"/>
            <a:chExt cx="906463" cy="746125"/>
          </a:xfrm>
          <a:solidFill>
            <a:srgbClr val="F4F3F9"/>
          </a:solidFill>
        </p:grpSpPr>
        <p:sp>
          <p:nvSpPr>
            <p:cNvPr id="50" name="Freeform 55">
              <a:extLst>
                <a:ext uri="{FF2B5EF4-FFF2-40B4-BE49-F238E27FC236}">
                  <a16:creationId xmlns:a16="http://schemas.microsoft.com/office/drawing/2014/main" id="{C004949C-6245-0069-1F0D-7C693EE2EA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1400" y="3000375"/>
              <a:ext cx="274638" cy="358775"/>
            </a:xfrm>
            <a:custGeom>
              <a:avLst/>
              <a:gdLst>
                <a:gd name="T0" fmla="*/ 182 w 364"/>
                <a:gd name="T1" fmla="*/ 476 h 476"/>
                <a:gd name="T2" fmla="*/ 152 w 364"/>
                <a:gd name="T3" fmla="*/ 462 h 476"/>
                <a:gd name="T4" fmla="*/ 0 w 364"/>
                <a:gd name="T5" fmla="*/ 182 h 476"/>
                <a:gd name="T6" fmla="*/ 53 w 364"/>
                <a:gd name="T7" fmla="*/ 53 h 476"/>
                <a:gd name="T8" fmla="*/ 182 w 364"/>
                <a:gd name="T9" fmla="*/ 0 h 476"/>
                <a:gd name="T10" fmla="*/ 182 w 364"/>
                <a:gd name="T11" fmla="*/ 0 h 476"/>
                <a:gd name="T12" fmla="*/ 364 w 364"/>
                <a:gd name="T13" fmla="*/ 182 h 476"/>
                <a:gd name="T14" fmla="*/ 212 w 364"/>
                <a:gd name="T15" fmla="*/ 462 h 476"/>
                <a:gd name="T16" fmla="*/ 182 w 364"/>
                <a:gd name="T17" fmla="*/ 476 h 476"/>
                <a:gd name="T18" fmla="*/ 182 w 364"/>
                <a:gd name="T19" fmla="*/ 24 h 476"/>
                <a:gd name="T20" fmla="*/ 70 w 364"/>
                <a:gd name="T21" fmla="*/ 70 h 476"/>
                <a:gd name="T22" fmla="*/ 24 w 364"/>
                <a:gd name="T23" fmla="*/ 182 h 476"/>
                <a:gd name="T24" fmla="*/ 171 w 364"/>
                <a:gd name="T25" fmla="*/ 447 h 476"/>
                <a:gd name="T26" fmla="*/ 182 w 364"/>
                <a:gd name="T27" fmla="*/ 452 h 476"/>
                <a:gd name="T28" fmla="*/ 193 w 364"/>
                <a:gd name="T29" fmla="*/ 447 h 476"/>
                <a:gd name="T30" fmla="*/ 340 w 364"/>
                <a:gd name="T31" fmla="*/ 182 h 476"/>
                <a:gd name="T32" fmla="*/ 182 w 364"/>
                <a:gd name="T33" fmla="*/ 24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4" h="476">
                  <a:moveTo>
                    <a:pt x="182" y="476"/>
                  </a:moveTo>
                  <a:cubicBezTo>
                    <a:pt x="170" y="476"/>
                    <a:pt x="159" y="471"/>
                    <a:pt x="152" y="462"/>
                  </a:cubicBezTo>
                  <a:cubicBezTo>
                    <a:pt x="95" y="389"/>
                    <a:pt x="0" y="257"/>
                    <a:pt x="0" y="182"/>
                  </a:cubicBezTo>
                  <a:cubicBezTo>
                    <a:pt x="0" y="133"/>
                    <a:pt x="19" y="87"/>
                    <a:pt x="53" y="53"/>
                  </a:cubicBezTo>
                  <a:cubicBezTo>
                    <a:pt x="87" y="19"/>
                    <a:pt x="133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282" y="0"/>
                    <a:pt x="364" y="81"/>
                    <a:pt x="364" y="182"/>
                  </a:cubicBezTo>
                  <a:cubicBezTo>
                    <a:pt x="364" y="257"/>
                    <a:pt x="269" y="389"/>
                    <a:pt x="212" y="462"/>
                  </a:cubicBezTo>
                  <a:cubicBezTo>
                    <a:pt x="205" y="471"/>
                    <a:pt x="194" y="476"/>
                    <a:pt x="182" y="476"/>
                  </a:cubicBezTo>
                  <a:close/>
                  <a:moveTo>
                    <a:pt x="182" y="24"/>
                  </a:moveTo>
                  <a:cubicBezTo>
                    <a:pt x="140" y="24"/>
                    <a:pt x="100" y="40"/>
                    <a:pt x="70" y="70"/>
                  </a:cubicBezTo>
                  <a:cubicBezTo>
                    <a:pt x="40" y="100"/>
                    <a:pt x="24" y="140"/>
                    <a:pt x="24" y="182"/>
                  </a:cubicBezTo>
                  <a:cubicBezTo>
                    <a:pt x="24" y="254"/>
                    <a:pt x="136" y="403"/>
                    <a:pt x="171" y="447"/>
                  </a:cubicBezTo>
                  <a:cubicBezTo>
                    <a:pt x="174" y="450"/>
                    <a:pt x="178" y="452"/>
                    <a:pt x="182" y="452"/>
                  </a:cubicBezTo>
                  <a:cubicBezTo>
                    <a:pt x="186" y="452"/>
                    <a:pt x="190" y="450"/>
                    <a:pt x="193" y="447"/>
                  </a:cubicBezTo>
                  <a:cubicBezTo>
                    <a:pt x="285" y="329"/>
                    <a:pt x="340" y="230"/>
                    <a:pt x="340" y="182"/>
                  </a:cubicBezTo>
                  <a:cubicBezTo>
                    <a:pt x="340" y="95"/>
                    <a:pt x="269" y="24"/>
                    <a:pt x="18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Freeform 56">
              <a:extLst>
                <a:ext uri="{FF2B5EF4-FFF2-40B4-BE49-F238E27FC236}">
                  <a16:creationId xmlns:a16="http://schemas.microsoft.com/office/drawing/2014/main" id="{5DD68409-6298-18D6-9242-F844C9A031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0775" y="3079750"/>
              <a:ext cx="114300" cy="115888"/>
            </a:xfrm>
            <a:custGeom>
              <a:avLst/>
              <a:gdLst>
                <a:gd name="T0" fmla="*/ 76 w 152"/>
                <a:gd name="T1" fmla="*/ 152 h 152"/>
                <a:gd name="T2" fmla="*/ 0 w 152"/>
                <a:gd name="T3" fmla="*/ 76 h 152"/>
                <a:gd name="T4" fmla="*/ 76 w 152"/>
                <a:gd name="T5" fmla="*/ 0 h 152"/>
                <a:gd name="T6" fmla="*/ 76 w 152"/>
                <a:gd name="T7" fmla="*/ 0 h 152"/>
                <a:gd name="T8" fmla="*/ 130 w 152"/>
                <a:gd name="T9" fmla="*/ 22 h 152"/>
                <a:gd name="T10" fmla="*/ 152 w 152"/>
                <a:gd name="T11" fmla="*/ 76 h 152"/>
                <a:gd name="T12" fmla="*/ 152 w 152"/>
                <a:gd name="T13" fmla="*/ 76 h 152"/>
                <a:gd name="T14" fmla="*/ 76 w 152"/>
                <a:gd name="T15" fmla="*/ 152 h 152"/>
                <a:gd name="T16" fmla="*/ 76 w 152"/>
                <a:gd name="T17" fmla="*/ 24 h 152"/>
                <a:gd name="T18" fmla="*/ 76 w 152"/>
                <a:gd name="T19" fmla="*/ 24 h 152"/>
                <a:gd name="T20" fmla="*/ 24 w 152"/>
                <a:gd name="T21" fmla="*/ 76 h 152"/>
                <a:gd name="T22" fmla="*/ 76 w 152"/>
                <a:gd name="T23" fmla="*/ 128 h 152"/>
                <a:gd name="T24" fmla="*/ 128 w 152"/>
                <a:gd name="T25" fmla="*/ 76 h 152"/>
                <a:gd name="T26" fmla="*/ 128 w 152"/>
                <a:gd name="T27" fmla="*/ 76 h 152"/>
                <a:gd name="T28" fmla="*/ 113 w 152"/>
                <a:gd name="T29" fmla="*/ 39 h 152"/>
                <a:gd name="T30" fmla="*/ 76 w 152"/>
                <a:gd name="T31" fmla="*/ 2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2" h="152">
                  <a:moveTo>
                    <a:pt x="76" y="152"/>
                  </a:moveTo>
                  <a:cubicBezTo>
                    <a:pt x="34" y="152"/>
                    <a:pt x="0" y="118"/>
                    <a:pt x="0" y="76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6" y="0"/>
                    <a:pt x="115" y="8"/>
                    <a:pt x="130" y="22"/>
                  </a:cubicBezTo>
                  <a:cubicBezTo>
                    <a:pt x="144" y="37"/>
                    <a:pt x="152" y="56"/>
                    <a:pt x="152" y="76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118"/>
                    <a:pt x="118" y="152"/>
                    <a:pt x="76" y="152"/>
                  </a:cubicBezTo>
                  <a:close/>
                  <a:moveTo>
                    <a:pt x="76" y="24"/>
                  </a:moveTo>
                  <a:cubicBezTo>
                    <a:pt x="76" y="24"/>
                    <a:pt x="76" y="24"/>
                    <a:pt x="76" y="24"/>
                  </a:cubicBezTo>
                  <a:cubicBezTo>
                    <a:pt x="47" y="24"/>
                    <a:pt x="24" y="47"/>
                    <a:pt x="24" y="76"/>
                  </a:cubicBezTo>
                  <a:cubicBezTo>
                    <a:pt x="24" y="104"/>
                    <a:pt x="47" y="128"/>
                    <a:pt x="76" y="128"/>
                  </a:cubicBezTo>
                  <a:cubicBezTo>
                    <a:pt x="104" y="128"/>
                    <a:pt x="128" y="104"/>
                    <a:pt x="128" y="76"/>
                  </a:cubicBezTo>
                  <a:cubicBezTo>
                    <a:pt x="128" y="76"/>
                    <a:pt x="128" y="76"/>
                    <a:pt x="128" y="76"/>
                  </a:cubicBezTo>
                  <a:cubicBezTo>
                    <a:pt x="128" y="62"/>
                    <a:pt x="122" y="49"/>
                    <a:pt x="113" y="39"/>
                  </a:cubicBezTo>
                  <a:cubicBezTo>
                    <a:pt x="103" y="29"/>
                    <a:pt x="90" y="24"/>
                    <a:pt x="76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Freeform 57">
              <a:extLst>
                <a:ext uri="{FF2B5EF4-FFF2-40B4-BE49-F238E27FC236}">
                  <a16:creationId xmlns:a16="http://schemas.microsoft.com/office/drawing/2014/main" id="{A14FE54C-F775-C9B8-41D2-F9A7E561DE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9575" y="3232150"/>
              <a:ext cx="361950" cy="514350"/>
            </a:xfrm>
            <a:custGeom>
              <a:avLst/>
              <a:gdLst>
                <a:gd name="T0" fmla="*/ 240 w 480"/>
                <a:gd name="T1" fmla="*/ 681 h 681"/>
                <a:gd name="T2" fmla="*/ 208 w 480"/>
                <a:gd name="T3" fmla="*/ 663 h 681"/>
                <a:gd name="T4" fmla="*/ 16 w 480"/>
                <a:gd name="T5" fmla="*/ 270 h 681"/>
                <a:gd name="T6" fmla="*/ 61 w 480"/>
                <a:gd name="T7" fmla="*/ 80 h 681"/>
                <a:gd name="T8" fmla="*/ 240 w 480"/>
                <a:gd name="T9" fmla="*/ 5 h 681"/>
                <a:gd name="T10" fmla="*/ 419 w 480"/>
                <a:gd name="T11" fmla="*/ 80 h 681"/>
                <a:gd name="T12" fmla="*/ 465 w 480"/>
                <a:gd name="T13" fmla="*/ 270 h 681"/>
                <a:gd name="T14" fmla="*/ 272 w 480"/>
                <a:gd name="T15" fmla="*/ 663 h 681"/>
                <a:gd name="T16" fmla="*/ 240 w 480"/>
                <a:gd name="T17" fmla="*/ 681 h 681"/>
                <a:gd name="T18" fmla="*/ 240 w 480"/>
                <a:gd name="T19" fmla="*/ 681 h 681"/>
                <a:gd name="T20" fmla="*/ 226 w 480"/>
                <a:gd name="T21" fmla="*/ 28 h 681"/>
                <a:gd name="T22" fmla="*/ 80 w 480"/>
                <a:gd name="T23" fmla="*/ 96 h 681"/>
                <a:gd name="T24" fmla="*/ 39 w 480"/>
                <a:gd name="T25" fmla="*/ 264 h 681"/>
                <a:gd name="T26" fmla="*/ 39 w 480"/>
                <a:gd name="T27" fmla="*/ 265 h 681"/>
                <a:gd name="T28" fmla="*/ 228 w 480"/>
                <a:gd name="T29" fmla="*/ 650 h 681"/>
                <a:gd name="T30" fmla="*/ 240 w 480"/>
                <a:gd name="T31" fmla="*/ 657 h 681"/>
                <a:gd name="T32" fmla="*/ 240 w 480"/>
                <a:gd name="T33" fmla="*/ 657 h 681"/>
                <a:gd name="T34" fmla="*/ 252 w 480"/>
                <a:gd name="T35" fmla="*/ 650 h 681"/>
                <a:gd name="T36" fmla="*/ 441 w 480"/>
                <a:gd name="T37" fmla="*/ 265 h 681"/>
                <a:gd name="T38" fmla="*/ 441 w 480"/>
                <a:gd name="T39" fmla="*/ 264 h 681"/>
                <a:gd name="T40" fmla="*/ 401 w 480"/>
                <a:gd name="T41" fmla="*/ 96 h 681"/>
                <a:gd name="T42" fmla="*/ 241 w 480"/>
                <a:gd name="T43" fmla="*/ 29 h 681"/>
                <a:gd name="T44" fmla="*/ 240 w 480"/>
                <a:gd name="T45" fmla="*/ 29 h 681"/>
                <a:gd name="T46" fmla="*/ 239 w 480"/>
                <a:gd name="T47" fmla="*/ 29 h 681"/>
                <a:gd name="T48" fmla="*/ 226 w 480"/>
                <a:gd name="T49" fmla="*/ 28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0" h="681">
                  <a:moveTo>
                    <a:pt x="240" y="681"/>
                  </a:moveTo>
                  <a:cubicBezTo>
                    <a:pt x="227" y="681"/>
                    <a:pt x="214" y="674"/>
                    <a:pt x="208" y="663"/>
                  </a:cubicBezTo>
                  <a:cubicBezTo>
                    <a:pt x="156" y="580"/>
                    <a:pt x="35" y="376"/>
                    <a:pt x="16" y="270"/>
                  </a:cubicBezTo>
                  <a:cubicBezTo>
                    <a:pt x="0" y="203"/>
                    <a:pt x="17" y="132"/>
                    <a:pt x="61" y="80"/>
                  </a:cubicBezTo>
                  <a:cubicBezTo>
                    <a:pt x="105" y="28"/>
                    <a:pt x="172" y="0"/>
                    <a:pt x="240" y="5"/>
                  </a:cubicBezTo>
                  <a:cubicBezTo>
                    <a:pt x="308" y="0"/>
                    <a:pt x="375" y="28"/>
                    <a:pt x="419" y="80"/>
                  </a:cubicBezTo>
                  <a:cubicBezTo>
                    <a:pt x="464" y="132"/>
                    <a:pt x="480" y="203"/>
                    <a:pt x="465" y="270"/>
                  </a:cubicBezTo>
                  <a:cubicBezTo>
                    <a:pt x="449" y="362"/>
                    <a:pt x="325" y="575"/>
                    <a:pt x="272" y="663"/>
                  </a:cubicBezTo>
                  <a:cubicBezTo>
                    <a:pt x="266" y="674"/>
                    <a:pt x="253" y="681"/>
                    <a:pt x="240" y="681"/>
                  </a:cubicBezTo>
                  <a:cubicBezTo>
                    <a:pt x="240" y="681"/>
                    <a:pt x="240" y="681"/>
                    <a:pt x="240" y="681"/>
                  </a:cubicBezTo>
                  <a:close/>
                  <a:moveTo>
                    <a:pt x="226" y="28"/>
                  </a:moveTo>
                  <a:cubicBezTo>
                    <a:pt x="170" y="28"/>
                    <a:pt x="116" y="53"/>
                    <a:pt x="80" y="96"/>
                  </a:cubicBezTo>
                  <a:cubicBezTo>
                    <a:pt x="40" y="142"/>
                    <a:pt x="25" y="205"/>
                    <a:pt x="39" y="264"/>
                  </a:cubicBezTo>
                  <a:cubicBezTo>
                    <a:pt x="39" y="265"/>
                    <a:pt x="39" y="265"/>
                    <a:pt x="39" y="265"/>
                  </a:cubicBezTo>
                  <a:cubicBezTo>
                    <a:pt x="58" y="368"/>
                    <a:pt x="178" y="569"/>
                    <a:pt x="228" y="650"/>
                  </a:cubicBezTo>
                  <a:cubicBezTo>
                    <a:pt x="231" y="655"/>
                    <a:pt x="235" y="657"/>
                    <a:pt x="240" y="657"/>
                  </a:cubicBezTo>
                  <a:cubicBezTo>
                    <a:pt x="240" y="657"/>
                    <a:pt x="240" y="657"/>
                    <a:pt x="240" y="657"/>
                  </a:cubicBezTo>
                  <a:cubicBezTo>
                    <a:pt x="245" y="657"/>
                    <a:pt x="249" y="655"/>
                    <a:pt x="252" y="650"/>
                  </a:cubicBezTo>
                  <a:cubicBezTo>
                    <a:pt x="304" y="564"/>
                    <a:pt x="426" y="353"/>
                    <a:pt x="441" y="265"/>
                  </a:cubicBezTo>
                  <a:cubicBezTo>
                    <a:pt x="441" y="264"/>
                    <a:pt x="441" y="264"/>
                    <a:pt x="441" y="264"/>
                  </a:cubicBezTo>
                  <a:cubicBezTo>
                    <a:pt x="455" y="205"/>
                    <a:pt x="440" y="142"/>
                    <a:pt x="401" y="96"/>
                  </a:cubicBezTo>
                  <a:cubicBezTo>
                    <a:pt x="362" y="49"/>
                    <a:pt x="302" y="24"/>
                    <a:pt x="241" y="29"/>
                  </a:cubicBezTo>
                  <a:cubicBezTo>
                    <a:pt x="240" y="29"/>
                    <a:pt x="240" y="29"/>
                    <a:pt x="240" y="29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35" y="28"/>
                    <a:pt x="230" y="28"/>
                    <a:pt x="226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Freeform 58">
              <a:extLst>
                <a:ext uri="{FF2B5EF4-FFF2-40B4-BE49-F238E27FC236}">
                  <a16:creationId xmlns:a16="http://schemas.microsoft.com/office/drawing/2014/main" id="{96ACE073-5722-82AE-E010-118A5094ED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1650" y="3314700"/>
              <a:ext cx="171450" cy="165100"/>
            </a:xfrm>
            <a:custGeom>
              <a:avLst/>
              <a:gdLst>
                <a:gd name="T0" fmla="*/ 118 w 228"/>
                <a:gd name="T1" fmla="*/ 219 h 219"/>
                <a:gd name="T2" fmla="*/ 41 w 228"/>
                <a:gd name="T3" fmla="*/ 187 h 219"/>
                <a:gd name="T4" fmla="*/ 17 w 228"/>
                <a:gd name="T5" fmla="*/ 68 h 219"/>
                <a:gd name="T6" fmla="*/ 118 w 228"/>
                <a:gd name="T7" fmla="*/ 0 h 219"/>
                <a:gd name="T8" fmla="*/ 228 w 228"/>
                <a:gd name="T9" fmla="*/ 110 h 219"/>
                <a:gd name="T10" fmla="*/ 228 w 228"/>
                <a:gd name="T11" fmla="*/ 110 h 219"/>
                <a:gd name="T12" fmla="*/ 160 w 228"/>
                <a:gd name="T13" fmla="*/ 211 h 219"/>
                <a:gd name="T14" fmla="*/ 118 w 228"/>
                <a:gd name="T15" fmla="*/ 219 h 219"/>
                <a:gd name="T16" fmla="*/ 118 w 228"/>
                <a:gd name="T17" fmla="*/ 24 h 219"/>
                <a:gd name="T18" fmla="*/ 39 w 228"/>
                <a:gd name="T19" fmla="*/ 77 h 219"/>
                <a:gd name="T20" fmla="*/ 58 w 228"/>
                <a:gd name="T21" fmla="*/ 170 h 219"/>
                <a:gd name="T22" fmla="*/ 151 w 228"/>
                <a:gd name="T23" fmla="*/ 189 h 219"/>
                <a:gd name="T24" fmla="*/ 204 w 228"/>
                <a:gd name="T25" fmla="*/ 110 h 219"/>
                <a:gd name="T26" fmla="*/ 204 w 228"/>
                <a:gd name="T27" fmla="*/ 110 h 219"/>
                <a:gd name="T28" fmla="*/ 118 w 228"/>
                <a:gd name="T29" fmla="*/ 24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19">
                  <a:moveTo>
                    <a:pt x="118" y="219"/>
                  </a:moveTo>
                  <a:cubicBezTo>
                    <a:pt x="90" y="219"/>
                    <a:pt x="62" y="208"/>
                    <a:pt x="41" y="187"/>
                  </a:cubicBezTo>
                  <a:cubicBezTo>
                    <a:pt x="9" y="156"/>
                    <a:pt x="0" y="109"/>
                    <a:pt x="17" y="68"/>
                  </a:cubicBezTo>
                  <a:cubicBezTo>
                    <a:pt x="34" y="27"/>
                    <a:pt x="74" y="0"/>
                    <a:pt x="118" y="0"/>
                  </a:cubicBezTo>
                  <a:cubicBezTo>
                    <a:pt x="179" y="0"/>
                    <a:pt x="228" y="49"/>
                    <a:pt x="228" y="110"/>
                  </a:cubicBezTo>
                  <a:cubicBezTo>
                    <a:pt x="228" y="110"/>
                    <a:pt x="228" y="110"/>
                    <a:pt x="228" y="110"/>
                  </a:cubicBezTo>
                  <a:cubicBezTo>
                    <a:pt x="228" y="154"/>
                    <a:pt x="201" y="194"/>
                    <a:pt x="160" y="211"/>
                  </a:cubicBezTo>
                  <a:cubicBezTo>
                    <a:pt x="147" y="217"/>
                    <a:pt x="132" y="219"/>
                    <a:pt x="118" y="219"/>
                  </a:cubicBezTo>
                  <a:close/>
                  <a:moveTo>
                    <a:pt x="118" y="24"/>
                  </a:moveTo>
                  <a:cubicBezTo>
                    <a:pt x="84" y="24"/>
                    <a:pt x="53" y="45"/>
                    <a:pt x="39" y="77"/>
                  </a:cubicBezTo>
                  <a:cubicBezTo>
                    <a:pt x="26" y="109"/>
                    <a:pt x="33" y="146"/>
                    <a:pt x="58" y="170"/>
                  </a:cubicBezTo>
                  <a:cubicBezTo>
                    <a:pt x="82" y="195"/>
                    <a:pt x="119" y="202"/>
                    <a:pt x="151" y="189"/>
                  </a:cubicBezTo>
                  <a:cubicBezTo>
                    <a:pt x="183" y="175"/>
                    <a:pt x="204" y="144"/>
                    <a:pt x="204" y="110"/>
                  </a:cubicBezTo>
                  <a:cubicBezTo>
                    <a:pt x="204" y="110"/>
                    <a:pt x="204" y="110"/>
                    <a:pt x="204" y="110"/>
                  </a:cubicBezTo>
                  <a:cubicBezTo>
                    <a:pt x="204" y="63"/>
                    <a:pt x="165" y="24"/>
                    <a:pt x="118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Freeform 59">
              <a:extLst>
                <a:ext uri="{FF2B5EF4-FFF2-40B4-BE49-F238E27FC236}">
                  <a16:creationId xmlns:a16="http://schemas.microsoft.com/office/drawing/2014/main" id="{9325CE00-5335-1885-740B-944C2C610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913" y="3411538"/>
              <a:ext cx="471488" cy="312738"/>
            </a:xfrm>
            <a:custGeom>
              <a:avLst/>
              <a:gdLst>
                <a:gd name="T0" fmla="*/ 14 w 626"/>
                <a:gd name="T1" fmla="*/ 415 h 415"/>
                <a:gd name="T2" fmla="*/ 4 w 626"/>
                <a:gd name="T3" fmla="*/ 410 h 415"/>
                <a:gd name="T4" fmla="*/ 7 w 626"/>
                <a:gd name="T5" fmla="*/ 393 h 415"/>
                <a:gd name="T6" fmla="*/ 605 w 626"/>
                <a:gd name="T7" fmla="*/ 3 h 415"/>
                <a:gd name="T8" fmla="*/ 622 w 626"/>
                <a:gd name="T9" fmla="*/ 7 h 415"/>
                <a:gd name="T10" fmla="*/ 618 w 626"/>
                <a:gd name="T11" fmla="*/ 24 h 415"/>
                <a:gd name="T12" fmla="*/ 21 w 626"/>
                <a:gd name="T13" fmla="*/ 414 h 415"/>
                <a:gd name="T14" fmla="*/ 14 w 626"/>
                <a:gd name="T15" fmla="*/ 41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6" h="415">
                  <a:moveTo>
                    <a:pt x="14" y="415"/>
                  </a:moveTo>
                  <a:cubicBezTo>
                    <a:pt x="10" y="415"/>
                    <a:pt x="6" y="414"/>
                    <a:pt x="4" y="410"/>
                  </a:cubicBezTo>
                  <a:cubicBezTo>
                    <a:pt x="0" y="405"/>
                    <a:pt x="2" y="397"/>
                    <a:pt x="7" y="393"/>
                  </a:cubicBezTo>
                  <a:cubicBezTo>
                    <a:pt x="605" y="3"/>
                    <a:pt x="605" y="3"/>
                    <a:pt x="605" y="3"/>
                  </a:cubicBezTo>
                  <a:cubicBezTo>
                    <a:pt x="611" y="0"/>
                    <a:pt x="618" y="1"/>
                    <a:pt x="622" y="7"/>
                  </a:cubicBezTo>
                  <a:cubicBezTo>
                    <a:pt x="626" y="13"/>
                    <a:pt x="624" y="20"/>
                    <a:pt x="618" y="24"/>
                  </a:cubicBezTo>
                  <a:cubicBezTo>
                    <a:pt x="21" y="414"/>
                    <a:pt x="21" y="414"/>
                    <a:pt x="21" y="414"/>
                  </a:cubicBezTo>
                  <a:cubicBezTo>
                    <a:pt x="19" y="415"/>
                    <a:pt x="16" y="415"/>
                    <a:pt x="14" y="4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8" name="Title 27">
            <a:extLst>
              <a:ext uri="{FF2B5EF4-FFF2-40B4-BE49-F238E27FC236}">
                <a16:creationId xmlns:a16="http://schemas.microsoft.com/office/drawing/2014/main" id="{EF69C478-64E4-C39D-1E22-E30C9F564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Privileged Accounts</a:t>
            </a:r>
          </a:p>
        </p:txBody>
      </p:sp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33C44D27-14D2-E14D-7C41-F81D8844B1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7A46D-38D6-05F5-0877-4C493FB31877}"/>
              </a:ext>
            </a:extLst>
          </p:cNvPr>
          <p:cNvSpPr txBox="1"/>
          <p:nvPr/>
        </p:nvSpPr>
        <p:spPr>
          <a:xfrm>
            <a:off x="457200" y="660942"/>
            <a:ext cx="813364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Administrative Accounts</a:t>
            </a:r>
          </a:p>
          <a:p>
            <a:pPr>
              <a:buNone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Domain Administrators: Full control over Active Directory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>
              <a:buNone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Local Administrators: Administrative rights on specific systems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>
              <a:buNone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Database Administrators: Full access to database systems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>
              <a:buNone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Network Administrators: Control over network infrastructure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>
              <a:buNone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 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>
              <a:buNone/>
            </a:pPr>
            <a:r>
              <a:rPr lang="en-GB" sz="1600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Service Accounts</a:t>
            </a:r>
          </a:p>
          <a:p>
            <a:pPr>
              <a:buNone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Application Service Accounts: Used by applications and services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>
              <a:buNone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System Service Accounts: Built-in accounts for system processes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>
              <a:buNone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Scheduled Task Accounts: Accounts running automated tasks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>
              <a:buNone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 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>
              <a:buNone/>
            </a:pPr>
            <a:r>
              <a:rPr lang="en-GB" sz="1600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Emergency Accounts</a:t>
            </a:r>
          </a:p>
          <a:p>
            <a:pPr>
              <a:buNone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Break-glass Accounts: For emergency access scenarios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>
              <a:buNone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Vendor Accounts: Third-party support access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Temporary Accounts: Short-term access requirements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pic>
        <p:nvPicPr>
          <p:cNvPr id="4" name="Google Shape;893;p94" descr="server_128">
            <a:extLst>
              <a:ext uri="{FF2B5EF4-FFF2-40B4-BE49-F238E27FC236}">
                <a16:creationId xmlns:a16="http://schemas.microsoft.com/office/drawing/2014/main" id="{14B81829-BE80-37D9-8631-E985F7E7421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29161" y="916430"/>
            <a:ext cx="712819" cy="738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96;p94" descr="database_128">
            <a:extLst>
              <a:ext uri="{FF2B5EF4-FFF2-40B4-BE49-F238E27FC236}">
                <a16:creationId xmlns:a16="http://schemas.microsoft.com/office/drawing/2014/main" id="{99E00A0C-F6B2-C020-1E8F-841A160448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7107" y="1016086"/>
            <a:ext cx="547474" cy="5387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oogle Shape;899;p94">
            <a:extLst>
              <a:ext uri="{FF2B5EF4-FFF2-40B4-BE49-F238E27FC236}">
                <a16:creationId xmlns:a16="http://schemas.microsoft.com/office/drawing/2014/main" id="{BACC47A3-1055-9C59-246C-B1C2D5401A69}"/>
              </a:ext>
            </a:extLst>
          </p:cNvPr>
          <p:cNvGrpSpPr/>
          <p:nvPr/>
        </p:nvGrpSpPr>
        <p:grpSpPr>
          <a:xfrm>
            <a:off x="7818137" y="3350654"/>
            <a:ext cx="769903" cy="460785"/>
            <a:chOff x="2650" y="721"/>
            <a:chExt cx="653" cy="579"/>
          </a:xfrm>
        </p:grpSpPr>
        <p:pic>
          <p:nvPicPr>
            <p:cNvPr id="8" name="Google Shape;900;p94" descr="profile-creation">
              <a:extLst>
                <a:ext uri="{FF2B5EF4-FFF2-40B4-BE49-F238E27FC236}">
                  <a16:creationId xmlns:a16="http://schemas.microsoft.com/office/drawing/2014/main" id="{64AC078E-51D9-6F10-2489-66393DFA1152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650" y="721"/>
              <a:ext cx="461" cy="387"/>
            </a:xfrm>
            <a:prstGeom prst="rect">
              <a:avLst/>
            </a:prstGeom>
            <a:gradFill>
              <a:gsLst>
                <a:gs pos="0">
                  <a:srgbClr val="5F5F5F"/>
                </a:gs>
                <a:gs pos="50000">
                  <a:srgbClr val="8A8A8A"/>
                </a:gs>
                <a:gs pos="100000">
                  <a:srgbClr val="A5A5A5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</p:pic>
        <p:pic>
          <p:nvPicPr>
            <p:cNvPr id="9" name="Google Shape;901;p94" descr="profile-creation">
              <a:extLst>
                <a:ext uri="{FF2B5EF4-FFF2-40B4-BE49-F238E27FC236}">
                  <a16:creationId xmlns:a16="http://schemas.microsoft.com/office/drawing/2014/main" id="{20E34BBC-AB6C-C5F4-A0CC-729C6E5F51E5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746" y="817"/>
              <a:ext cx="461" cy="387"/>
            </a:xfrm>
            <a:prstGeom prst="rect">
              <a:avLst/>
            </a:prstGeom>
            <a:gradFill>
              <a:gsLst>
                <a:gs pos="0">
                  <a:srgbClr val="5F5F5F"/>
                </a:gs>
                <a:gs pos="50000">
                  <a:srgbClr val="8A8A8A"/>
                </a:gs>
                <a:gs pos="100000">
                  <a:srgbClr val="A5A5A5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</p:pic>
        <p:pic>
          <p:nvPicPr>
            <p:cNvPr id="10" name="Google Shape;902;p94" descr="profile-creation">
              <a:extLst>
                <a:ext uri="{FF2B5EF4-FFF2-40B4-BE49-F238E27FC236}">
                  <a16:creationId xmlns:a16="http://schemas.microsoft.com/office/drawing/2014/main" id="{B29D7BAA-4C13-E8B8-8897-A2D2AA8413A6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842" y="913"/>
              <a:ext cx="461" cy="387"/>
            </a:xfrm>
            <a:prstGeom prst="rect">
              <a:avLst/>
            </a:prstGeom>
            <a:gradFill>
              <a:gsLst>
                <a:gs pos="0">
                  <a:srgbClr val="5F5F5F"/>
                </a:gs>
                <a:gs pos="50000">
                  <a:srgbClr val="8A8A8A"/>
                </a:gs>
                <a:gs pos="100000">
                  <a:srgbClr val="A5A5A5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</p:pic>
      </p:grpSp>
      <p:pic>
        <p:nvPicPr>
          <p:cNvPr id="12" name="Google Shape;894;p94" descr="http://cdn.mysitemyway.com/etc-mysitemyway/icons/legacy-previews/icons/blue-jelly-icons-culture/024961-blue-jelly-icon-culture-pyramid2.png">
            <a:extLst>
              <a:ext uri="{FF2B5EF4-FFF2-40B4-BE49-F238E27FC236}">
                <a16:creationId xmlns:a16="http://schemas.microsoft.com/office/drawing/2014/main" id="{CCDF1499-DB39-8FAC-5A69-4F32E8924A7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7886333" y="1849679"/>
            <a:ext cx="835030" cy="829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895;p94" descr="net_128">
            <a:extLst>
              <a:ext uri="{FF2B5EF4-FFF2-40B4-BE49-F238E27FC236}">
                <a16:creationId xmlns:a16="http://schemas.microsoft.com/office/drawing/2014/main" id="{299F842D-94F0-D1D2-13DF-09964D6774D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22777" y="1977416"/>
            <a:ext cx="712819" cy="7380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3164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63E22-9AB2-D911-A44C-E005CA799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9452FDDE-0FFD-2B64-4407-72F799B72C97}"/>
              </a:ext>
            </a:extLst>
          </p:cNvPr>
          <p:cNvGrpSpPr/>
          <p:nvPr/>
        </p:nvGrpSpPr>
        <p:grpSpPr>
          <a:xfrm>
            <a:off x="1646076" y="4029452"/>
            <a:ext cx="570912" cy="419326"/>
            <a:chOff x="6759575" y="3000375"/>
            <a:chExt cx="906463" cy="746125"/>
          </a:xfrm>
          <a:solidFill>
            <a:srgbClr val="F4F3F9"/>
          </a:solidFill>
        </p:grpSpPr>
        <p:sp>
          <p:nvSpPr>
            <p:cNvPr id="50" name="Freeform 55">
              <a:extLst>
                <a:ext uri="{FF2B5EF4-FFF2-40B4-BE49-F238E27FC236}">
                  <a16:creationId xmlns:a16="http://schemas.microsoft.com/office/drawing/2014/main" id="{0D04C5D9-BA57-0945-085A-EB884642EC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1400" y="3000375"/>
              <a:ext cx="274638" cy="358775"/>
            </a:xfrm>
            <a:custGeom>
              <a:avLst/>
              <a:gdLst>
                <a:gd name="T0" fmla="*/ 182 w 364"/>
                <a:gd name="T1" fmla="*/ 476 h 476"/>
                <a:gd name="T2" fmla="*/ 152 w 364"/>
                <a:gd name="T3" fmla="*/ 462 h 476"/>
                <a:gd name="T4" fmla="*/ 0 w 364"/>
                <a:gd name="T5" fmla="*/ 182 h 476"/>
                <a:gd name="T6" fmla="*/ 53 w 364"/>
                <a:gd name="T7" fmla="*/ 53 h 476"/>
                <a:gd name="T8" fmla="*/ 182 w 364"/>
                <a:gd name="T9" fmla="*/ 0 h 476"/>
                <a:gd name="T10" fmla="*/ 182 w 364"/>
                <a:gd name="T11" fmla="*/ 0 h 476"/>
                <a:gd name="T12" fmla="*/ 364 w 364"/>
                <a:gd name="T13" fmla="*/ 182 h 476"/>
                <a:gd name="T14" fmla="*/ 212 w 364"/>
                <a:gd name="T15" fmla="*/ 462 h 476"/>
                <a:gd name="T16" fmla="*/ 182 w 364"/>
                <a:gd name="T17" fmla="*/ 476 h 476"/>
                <a:gd name="T18" fmla="*/ 182 w 364"/>
                <a:gd name="T19" fmla="*/ 24 h 476"/>
                <a:gd name="T20" fmla="*/ 70 w 364"/>
                <a:gd name="T21" fmla="*/ 70 h 476"/>
                <a:gd name="T22" fmla="*/ 24 w 364"/>
                <a:gd name="T23" fmla="*/ 182 h 476"/>
                <a:gd name="T24" fmla="*/ 171 w 364"/>
                <a:gd name="T25" fmla="*/ 447 h 476"/>
                <a:gd name="T26" fmla="*/ 182 w 364"/>
                <a:gd name="T27" fmla="*/ 452 h 476"/>
                <a:gd name="T28" fmla="*/ 193 w 364"/>
                <a:gd name="T29" fmla="*/ 447 h 476"/>
                <a:gd name="T30" fmla="*/ 340 w 364"/>
                <a:gd name="T31" fmla="*/ 182 h 476"/>
                <a:gd name="T32" fmla="*/ 182 w 364"/>
                <a:gd name="T33" fmla="*/ 24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4" h="476">
                  <a:moveTo>
                    <a:pt x="182" y="476"/>
                  </a:moveTo>
                  <a:cubicBezTo>
                    <a:pt x="170" y="476"/>
                    <a:pt x="159" y="471"/>
                    <a:pt x="152" y="462"/>
                  </a:cubicBezTo>
                  <a:cubicBezTo>
                    <a:pt x="95" y="389"/>
                    <a:pt x="0" y="257"/>
                    <a:pt x="0" y="182"/>
                  </a:cubicBezTo>
                  <a:cubicBezTo>
                    <a:pt x="0" y="133"/>
                    <a:pt x="19" y="87"/>
                    <a:pt x="53" y="53"/>
                  </a:cubicBezTo>
                  <a:cubicBezTo>
                    <a:pt x="87" y="19"/>
                    <a:pt x="133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282" y="0"/>
                    <a:pt x="364" y="81"/>
                    <a:pt x="364" y="182"/>
                  </a:cubicBezTo>
                  <a:cubicBezTo>
                    <a:pt x="364" y="257"/>
                    <a:pt x="269" y="389"/>
                    <a:pt x="212" y="462"/>
                  </a:cubicBezTo>
                  <a:cubicBezTo>
                    <a:pt x="205" y="471"/>
                    <a:pt x="194" y="476"/>
                    <a:pt x="182" y="476"/>
                  </a:cubicBezTo>
                  <a:close/>
                  <a:moveTo>
                    <a:pt x="182" y="24"/>
                  </a:moveTo>
                  <a:cubicBezTo>
                    <a:pt x="140" y="24"/>
                    <a:pt x="100" y="40"/>
                    <a:pt x="70" y="70"/>
                  </a:cubicBezTo>
                  <a:cubicBezTo>
                    <a:pt x="40" y="100"/>
                    <a:pt x="24" y="140"/>
                    <a:pt x="24" y="182"/>
                  </a:cubicBezTo>
                  <a:cubicBezTo>
                    <a:pt x="24" y="254"/>
                    <a:pt x="136" y="403"/>
                    <a:pt x="171" y="447"/>
                  </a:cubicBezTo>
                  <a:cubicBezTo>
                    <a:pt x="174" y="450"/>
                    <a:pt x="178" y="452"/>
                    <a:pt x="182" y="452"/>
                  </a:cubicBezTo>
                  <a:cubicBezTo>
                    <a:pt x="186" y="452"/>
                    <a:pt x="190" y="450"/>
                    <a:pt x="193" y="447"/>
                  </a:cubicBezTo>
                  <a:cubicBezTo>
                    <a:pt x="285" y="329"/>
                    <a:pt x="340" y="230"/>
                    <a:pt x="340" y="182"/>
                  </a:cubicBezTo>
                  <a:cubicBezTo>
                    <a:pt x="340" y="95"/>
                    <a:pt x="269" y="24"/>
                    <a:pt x="18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Freeform 56">
              <a:extLst>
                <a:ext uri="{FF2B5EF4-FFF2-40B4-BE49-F238E27FC236}">
                  <a16:creationId xmlns:a16="http://schemas.microsoft.com/office/drawing/2014/main" id="{81731946-655B-3599-962A-9027F9410B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0775" y="3079750"/>
              <a:ext cx="114300" cy="115888"/>
            </a:xfrm>
            <a:custGeom>
              <a:avLst/>
              <a:gdLst>
                <a:gd name="T0" fmla="*/ 76 w 152"/>
                <a:gd name="T1" fmla="*/ 152 h 152"/>
                <a:gd name="T2" fmla="*/ 0 w 152"/>
                <a:gd name="T3" fmla="*/ 76 h 152"/>
                <a:gd name="T4" fmla="*/ 76 w 152"/>
                <a:gd name="T5" fmla="*/ 0 h 152"/>
                <a:gd name="T6" fmla="*/ 76 w 152"/>
                <a:gd name="T7" fmla="*/ 0 h 152"/>
                <a:gd name="T8" fmla="*/ 130 w 152"/>
                <a:gd name="T9" fmla="*/ 22 h 152"/>
                <a:gd name="T10" fmla="*/ 152 w 152"/>
                <a:gd name="T11" fmla="*/ 76 h 152"/>
                <a:gd name="T12" fmla="*/ 152 w 152"/>
                <a:gd name="T13" fmla="*/ 76 h 152"/>
                <a:gd name="T14" fmla="*/ 76 w 152"/>
                <a:gd name="T15" fmla="*/ 152 h 152"/>
                <a:gd name="T16" fmla="*/ 76 w 152"/>
                <a:gd name="T17" fmla="*/ 24 h 152"/>
                <a:gd name="T18" fmla="*/ 76 w 152"/>
                <a:gd name="T19" fmla="*/ 24 h 152"/>
                <a:gd name="T20" fmla="*/ 24 w 152"/>
                <a:gd name="T21" fmla="*/ 76 h 152"/>
                <a:gd name="T22" fmla="*/ 76 w 152"/>
                <a:gd name="T23" fmla="*/ 128 h 152"/>
                <a:gd name="T24" fmla="*/ 128 w 152"/>
                <a:gd name="T25" fmla="*/ 76 h 152"/>
                <a:gd name="T26" fmla="*/ 128 w 152"/>
                <a:gd name="T27" fmla="*/ 76 h 152"/>
                <a:gd name="T28" fmla="*/ 113 w 152"/>
                <a:gd name="T29" fmla="*/ 39 h 152"/>
                <a:gd name="T30" fmla="*/ 76 w 152"/>
                <a:gd name="T31" fmla="*/ 2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2" h="152">
                  <a:moveTo>
                    <a:pt x="76" y="152"/>
                  </a:moveTo>
                  <a:cubicBezTo>
                    <a:pt x="34" y="152"/>
                    <a:pt x="0" y="118"/>
                    <a:pt x="0" y="76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6" y="0"/>
                    <a:pt x="115" y="8"/>
                    <a:pt x="130" y="22"/>
                  </a:cubicBezTo>
                  <a:cubicBezTo>
                    <a:pt x="144" y="37"/>
                    <a:pt x="152" y="56"/>
                    <a:pt x="152" y="76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118"/>
                    <a:pt x="118" y="152"/>
                    <a:pt x="76" y="152"/>
                  </a:cubicBezTo>
                  <a:close/>
                  <a:moveTo>
                    <a:pt x="76" y="24"/>
                  </a:moveTo>
                  <a:cubicBezTo>
                    <a:pt x="76" y="24"/>
                    <a:pt x="76" y="24"/>
                    <a:pt x="76" y="24"/>
                  </a:cubicBezTo>
                  <a:cubicBezTo>
                    <a:pt x="47" y="24"/>
                    <a:pt x="24" y="47"/>
                    <a:pt x="24" y="76"/>
                  </a:cubicBezTo>
                  <a:cubicBezTo>
                    <a:pt x="24" y="104"/>
                    <a:pt x="47" y="128"/>
                    <a:pt x="76" y="128"/>
                  </a:cubicBezTo>
                  <a:cubicBezTo>
                    <a:pt x="104" y="128"/>
                    <a:pt x="128" y="104"/>
                    <a:pt x="128" y="76"/>
                  </a:cubicBezTo>
                  <a:cubicBezTo>
                    <a:pt x="128" y="76"/>
                    <a:pt x="128" y="76"/>
                    <a:pt x="128" y="76"/>
                  </a:cubicBezTo>
                  <a:cubicBezTo>
                    <a:pt x="128" y="62"/>
                    <a:pt x="122" y="49"/>
                    <a:pt x="113" y="39"/>
                  </a:cubicBezTo>
                  <a:cubicBezTo>
                    <a:pt x="103" y="29"/>
                    <a:pt x="90" y="24"/>
                    <a:pt x="76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Freeform 57">
              <a:extLst>
                <a:ext uri="{FF2B5EF4-FFF2-40B4-BE49-F238E27FC236}">
                  <a16:creationId xmlns:a16="http://schemas.microsoft.com/office/drawing/2014/main" id="{6456C66F-3857-9F81-0624-2918B1F68F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9575" y="3232150"/>
              <a:ext cx="361950" cy="514350"/>
            </a:xfrm>
            <a:custGeom>
              <a:avLst/>
              <a:gdLst>
                <a:gd name="T0" fmla="*/ 240 w 480"/>
                <a:gd name="T1" fmla="*/ 681 h 681"/>
                <a:gd name="T2" fmla="*/ 208 w 480"/>
                <a:gd name="T3" fmla="*/ 663 h 681"/>
                <a:gd name="T4" fmla="*/ 16 w 480"/>
                <a:gd name="T5" fmla="*/ 270 h 681"/>
                <a:gd name="T6" fmla="*/ 61 w 480"/>
                <a:gd name="T7" fmla="*/ 80 h 681"/>
                <a:gd name="T8" fmla="*/ 240 w 480"/>
                <a:gd name="T9" fmla="*/ 5 h 681"/>
                <a:gd name="T10" fmla="*/ 419 w 480"/>
                <a:gd name="T11" fmla="*/ 80 h 681"/>
                <a:gd name="T12" fmla="*/ 465 w 480"/>
                <a:gd name="T13" fmla="*/ 270 h 681"/>
                <a:gd name="T14" fmla="*/ 272 w 480"/>
                <a:gd name="T15" fmla="*/ 663 h 681"/>
                <a:gd name="T16" fmla="*/ 240 w 480"/>
                <a:gd name="T17" fmla="*/ 681 h 681"/>
                <a:gd name="T18" fmla="*/ 240 w 480"/>
                <a:gd name="T19" fmla="*/ 681 h 681"/>
                <a:gd name="T20" fmla="*/ 226 w 480"/>
                <a:gd name="T21" fmla="*/ 28 h 681"/>
                <a:gd name="T22" fmla="*/ 80 w 480"/>
                <a:gd name="T23" fmla="*/ 96 h 681"/>
                <a:gd name="T24" fmla="*/ 39 w 480"/>
                <a:gd name="T25" fmla="*/ 264 h 681"/>
                <a:gd name="T26" fmla="*/ 39 w 480"/>
                <a:gd name="T27" fmla="*/ 265 h 681"/>
                <a:gd name="T28" fmla="*/ 228 w 480"/>
                <a:gd name="T29" fmla="*/ 650 h 681"/>
                <a:gd name="T30" fmla="*/ 240 w 480"/>
                <a:gd name="T31" fmla="*/ 657 h 681"/>
                <a:gd name="T32" fmla="*/ 240 w 480"/>
                <a:gd name="T33" fmla="*/ 657 h 681"/>
                <a:gd name="T34" fmla="*/ 252 w 480"/>
                <a:gd name="T35" fmla="*/ 650 h 681"/>
                <a:gd name="T36" fmla="*/ 441 w 480"/>
                <a:gd name="T37" fmla="*/ 265 h 681"/>
                <a:gd name="T38" fmla="*/ 441 w 480"/>
                <a:gd name="T39" fmla="*/ 264 h 681"/>
                <a:gd name="T40" fmla="*/ 401 w 480"/>
                <a:gd name="T41" fmla="*/ 96 h 681"/>
                <a:gd name="T42" fmla="*/ 241 w 480"/>
                <a:gd name="T43" fmla="*/ 29 h 681"/>
                <a:gd name="T44" fmla="*/ 240 w 480"/>
                <a:gd name="T45" fmla="*/ 29 h 681"/>
                <a:gd name="T46" fmla="*/ 239 w 480"/>
                <a:gd name="T47" fmla="*/ 29 h 681"/>
                <a:gd name="T48" fmla="*/ 226 w 480"/>
                <a:gd name="T49" fmla="*/ 28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0" h="681">
                  <a:moveTo>
                    <a:pt x="240" y="681"/>
                  </a:moveTo>
                  <a:cubicBezTo>
                    <a:pt x="227" y="681"/>
                    <a:pt x="214" y="674"/>
                    <a:pt x="208" y="663"/>
                  </a:cubicBezTo>
                  <a:cubicBezTo>
                    <a:pt x="156" y="580"/>
                    <a:pt x="35" y="376"/>
                    <a:pt x="16" y="270"/>
                  </a:cubicBezTo>
                  <a:cubicBezTo>
                    <a:pt x="0" y="203"/>
                    <a:pt x="17" y="132"/>
                    <a:pt x="61" y="80"/>
                  </a:cubicBezTo>
                  <a:cubicBezTo>
                    <a:pt x="105" y="28"/>
                    <a:pt x="172" y="0"/>
                    <a:pt x="240" y="5"/>
                  </a:cubicBezTo>
                  <a:cubicBezTo>
                    <a:pt x="308" y="0"/>
                    <a:pt x="375" y="28"/>
                    <a:pt x="419" y="80"/>
                  </a:cubicBezTo>
                  <a:cubicBezTo>
                    <a:pt x="464" y="132"/>
                    <a:pt x="480" y="203"/>
                    <a:pt x="465" y="270"/>
                  </a:cubicBezTo>
                  <a:cubicBezTo>
                    <a:pt x="449" y="362"/>
                    <a:pt x="325" y="575"/>
                    <a:pt x="272" y="663"/>
                  </a:cubicBezTo>
                  <a:cubicBezTo>
                    <a:pt x="266" y="674"/>
                    <a:pt x="253" y="681"/>
                    <a:pt x="240" y="681"/>
                  </a:cubicBezTo>
                  <a:cubicBezTo>
                    <a:pt x="240" y="681"/>
                    <a:pt x="240" y="681"/>
                    <a:pt x="240" y="681"/>
                  </a:cubicBezTo>
                  <a:close/>
                  <a:moveTo>
                    <a:pt x="226" y="28"/>
                  </a:moveTo>
                  <a:cubicBezTo>
                    <a:pt x="170" y="28"/>
                    <a:pt x="116" y="53"/>
                    <a:pt x="80" y="96"/>
                  </a:cubicBezTo>
                  <a:cubicBezTo>
                    <a:pt x="40" y="142"/>
                    <a:pt x="25" y="205"/>
                    <a:pt x="39" y="264"/>
                  </a:cubicBezTo>
                  <a:cubicBezTo>
                    <a:pt x="39" y="265"/>
                    <a:pt x="39" y="265"/>
                    <a:pt x="39" y="265"/>
                  </a:cubicBezTo>
                  <a:cubicBezTo>
                    <a:pt x="58" y="368"/>
                    <a:pt x="178" y="569"/>
                    <a:pt x="228" y="650"/>
                  </a:cubicBezTo>
                  <a:cubicBezTo>
                    <a:pt x="231" y="655"/>
                    <a:pt x="235" y="657"/>
                    <a:pt x="240" y="657"/>
                  </a:cubicBezTo>
                  <a:cubicBezTo>
                    <a:pt x="240" y="657"/>
                    <a:pt x="240" y="657"/>
                    <a:pt x="240" y="657"/>
                  </a:cubicBezTo>
                  <a:cubicBezTo>
                    <a:pt x="245" y="657"/>
                    <a:pt x="249" y="655"/>
                    <a:pt x="252" y="650"/>
                  </a:cubicBezTo>
                  <a:cubicBezTo>
                    <a:pt x="304" y="564"/>
                    <a:pt x="426" y="353"/>
                    <a:pt x="441" y="265"/>
                  </a:cubicBezTo>
                  <a:cubicBezTo>
                    <a:pt x="441" y="264"/>
                    <a:pt x="441" y="264"/>
                    <a:pt x="441" y="264"/>
                  </a:cubicBezTo>
                  <a:cubicBezTo>
                    <a:pt x="455" y="205"/>
                    <a:pt x="440" y="142"/>
                    <a:pt x="401" y="96"/>
                  </a:cubicBezTo>
                  <a:cubicBezTo>
                    <a:pt x="362" y="49"/>
                    <a:pt x="302" y="24"/>
                    <a:pt x="241" y="29"/>
                  </a:cubicBezTo>
                  <a:cubicBezTo>
                    <a:pt x="240" y="29"/>
                    <a:pt x="240" y="29"/>
                    <a:pt x="240" y="29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35" y="28"/>
                    <a:pt x="230" y="28"/>
                    <a:pt x="226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Freeform 58">
              <a:extLst>
                <a:ext uri="{FF2B5EF4-FFF2-40B4-BE49-F238E27FC236}">
                  <a16:creationId xmlns:a16="http://schemas.microsoft.com/office/drawing/2014/main" id="{C661D243-C325-DDE4-7402-779B30CE4D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1650" y="3314700"/>
              <a:ext cx="171450" cy="165100"/>
            </a:xfrm>
            <a:custGeom>
              <a:avLst/>
              <a:gdLst>
                <a:gd name="T0" fmla="*/ 118 w 228"/>
                <a:gd name="T1" fmla="*/ 219 h 219"/>
                <a:gd name="T2" fmla="*/ 41 w 228"/>
                <a:gd name="T3" fmla="*/ 187 h 219"/>
                <a:gd name="T4" fmla="*/ 17 w 228"/>
                <a:gd name="T5" fmla="*/ 68 h 219"/>
                <a:gd name="T6" fmla="*/ 118 w 228"/>
                <a:gd name="T7" fmla="*/ 0 h 219"/>
                <a:gd name="T8" fmla="*/ 228 w 228"/>
                <a:gd name="T9" fmla="*/ 110 h 219"/>
                <a:gd name="T10" fmla="*/ 228 w 228"/>
                <a:gd name="T11" fmla="*/ 110 h 219"/>
                <a:gd name="T12" fmla="*/ 160 w 228"/>
                <a:gd name="T13" fmla="*/ 211 h 219"/>
                <a:gd name="T14" fmla="*/ 118 w 228"/>
                <a:gd name="T15" fmla="*/ 219 h 219"/>
                <a:gd name="T16" fmla="*/ 118 w 228"/>
                <a:gd name="T17" fmla="*/ 24 h 219"/>
                <a:gd name="T18" fmla="*/ 39 w 228"/>
                <a:gd name="T19" fmla="*/ 77 h 219"/>
                <a:gd name="T20" fmla="*/ 58 w 228"/>
                <a:gd name="T21" fmla="*/ 170 h 219"/>
                <a:gd name="T22" fmla="*/ 151 w 228"/>
                <a:gd name="T23" fmla="*/ 189 h 219"/>
                <a:gd name="T24" fmla="*/ 204 w 228"/>
                <a:gd name="T25" fmla="*/ 110 h 219"/>
                <a:gd name="T26" fmla="*/ 204 w 228"/>
                <a:gd name="T27" fmla="*/ 110 h 219"/>
                <a:gd name="T28" fmla="*/ 118 w 228"/>
                <a:gd name="T29" fmla="*/ 24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19">
                  <a:moveTo>
                    <a:pt x="118" y="219"/>
                  </a:moveTo>
                  <a:cubicBezTo>
                    <a:pt x="90" y="219"/>
                    <a:pt x="62" y="208"/>
                    <a:pt x="41" y="187"/>
                  </a:cubicBezTo>
                  <a:cubicBezTo>
                    <a:pt x="9" y="156"/>
                    <a:pt x="0" y="109"/>
                    <a:pt x="17" y="68"/>
                  </a:cubicBezTo>
                  <a:cubicBezTo>
                    <a:pt x="34" y="27"/>
                    <a:pt x="74" y="0"/>
                    <a:pt x="118" y="0"/>
                  </a:cubicBezTo>
                  <a:cubicBezTo>
                    <a:pt x="179" y="0"/>
                    <a:pt x="228" y="49"/>
                    <a:pt x="228" y="110"/>
                  </a:cubicBezTo>
                  <a:cubicBezTo>
                    <a:pt x="228" y="110"/>
                    <a:pt x="228" y="110"/>
                    <a:pt x="228" y="110"/>
                  </a:cubicBezTo>
                  <a:cubicBezTo>
                    <a:pt x="228" y="154"/>
                    <a:pt x="201" y="194"/>
                    <a:pt x="160" y="211"/>
                  </a:cubicBezTo>
                  <a:cubicBezTo>
                    <a:pt x="147" y="217"/>
                    <a:pt x="132" y="219"/>
                    <a:pt x="118" y="219"/>
                  </a:cubicBezTo>
                  <a:close/>
                  <a:moveTo>
                    <a:pt x="118" y="24"/>
                  </a:moveTo>
                  <a:cubicBezTo>
                    <a:pt x="84" y="24"/>
                    <a:pt x="53" y="45"/>
                    <a:pt x="39" y="77"/>
                  </a:cubicBezTo>
                  <a:cubicBezTo>
                    <a:pt x="26" y="109"/>
                    <a:pt x="33" y="146"/>
                    <a:pt x="58" y="170"/>
                  </a:cubicBezTo>
                  <a:cubicBezTo>
                    <a:pt x="82" y="195"/>
                    <a:pt x="119" y="202"/>
                    <a:pt x="151" y="189"/>
                  </a:cubicBezTo>
                  <a:cubicBezTo>
                    <a:pt x="183" y="175"/>
                    <a:pt x="204" y="144"/>
                    <a:pt x="204" y="110"/>
                  </a:cubicBezTo>
                  <a:cubicBezTo>
                    <a:pt x="204" y="110"/>
                    <a:pt x="204" y="110"/>
                    <a:pt x="204" y="110"/>
                  </a:cubicBezTo>
                  <a:cubicBezTo>
                    <a:pt x="204" y="63"/>
                    <a:pt x="165" y="24"/>
                    <a:pt x="118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Freeform 59">
              <a:extLst>
                <a:ext uri="{FF2B5EF4-FFF2-40B4-BE49-F238E27FC236}">
                  <a16:creationId xmlns:a16="http://schemas.microsoft.com/office/drawing/2014/main" id="{761836BD-9492-7698-7758-C459203D4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913" y="3411538"/>
              <a:ext cx="471488" cy="312738"/>
            </a:xfrm>
            <a:custGeom>
              <a:avLst/>
              <a:gdLst>
                <a:gd name="T0" fmla="*/ 14 w 626"/>
                <a:gd name="T1" fmla="*/ 415 h 415"/>
                <a:gd name="T2" fmla="*/ 4 w 626"/>
                <a:gd name="T3" fmla="*/ 410 h 415"/>
                <a:gd name="T4" fmla="*/ 7 w 626"/>
                <a:gd name="T5" fmla="*/ 393 h 415"/>
                <a:gd name="T6" fmla="*/ 605 w 626"/>
                <a:gd name="T7" fmla="*/ 3 h 415"/>
                <a:gd name="T8" fmla="*/ 622 w 626"/>
                <a:gd name="T9" fmla="*/ 7 h 415"/>
                <a:gd name="T10" fmla="*/ 618 w 626"/>
                <a:gd name="T11" fmla="*/ 24 h 415"/>
                <a:gd name="T12" fmla="*/ 21 w 626"/>
                <a:gd name="T13" fmla="*/ 414 h 415"/>
                <a:gd name="T14" fmla="*/ 14 w 626"/>
                <a:gd name="T15" fmla="*/ 41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6" h="415">
                  <a:moveTo>
                    <a:pt x="14" y="415"/>
                  </a:moveTo>
                  <a:cubicBezTo>
                    <a:pt x="10" y="415"/>
                    <a:pt x="6" y="414"/>
                    <a:pt x="4" y="410"/>
                  </a:cubicBezTo>
                  <a:cubicBezTo>
                    <a:pt x="0" y="405"/>
                    <a:pt x="2" y="397"/>
                    <a:pt x="7" y="393"/>
                  </a:cubicBezTo>
                  <a:cubicBezTo>
                    <a:pt x="605" y="3"/>
                    <a:pt x="605" y="3"/>
                    <a:pt x="605" y="3"/>
                  </a:cubicBezTo>
                  <a:cubicBezTo>
                    <a:pt x="611" y="0"/>
                    <a:pt x="618" y="1"/>
                    <a:pt x="622" y="7"/>
                  </a:cubicBezTo>
                  <a:cubicBezTo>
                    <a:pt x="626" y="13"/>
                    <a:pt x="624" y="20"/>
                    <a:pt x="618" y="24"/>
                  </a:cubicBezTo>
                  <a:cubicBezTo>
                    <a:pt x="21" y="414"/>
                    <a:pt x="21" y="414"/>
                    <a:pt x="21" y="414"/>
                  </a:cubicBezTo>
                  <a:cubicBezTo>
                    <a:pt x="19" y="415"/>
                    <a:pt x="16" y="415"/>
                    <a:pt x="14" y="4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8" name="Title 27">
            <a:extLst>
              <a:ext uri="{FF2B5EF4-FFF2-40B4-BE49-F238E27FC236}">
                <a16:creationId xmlns:a16="http://schemas.microsoft.com/office/drawing/2014/main" id="{0C07ECD1-2E50-77B7-778B-AF8A05574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Privilege is Everywhere</a:t>
            </a:r>
          </a:p>
        </p:txBody>
      </p:sp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6305586C-FC58-AEFC-1499-5B51416D3F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D3F883-B40E-9693-0CED-548E25E7FCA7}"/>
              </a:ext>
            </a:extLst>
          </p:cNvPr>
          <p:cNvSpPr txBox="1"/>
          <p:nvPr/>
        </p:nvSpPr>
        <p:spPr>
          <a:xfrm>
            <a:off x="192992" y="573861"/>
            <a:ext cx="80659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All identities can become privilege under certain conditions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729C93-1819-A09F-92CF-DAB1606E3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72" y="509299"/>
            <a:ext cx="8811855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484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E4E66-811E-6CF1-A725-2FB038C44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8669EA90-D82A-5E03-537C-08B947772E20}"/>
              </a:ext>
            </a:extLst>
          </p:cNvPr>
          <p:cNvGrpSpPr/>
          <p:nvPr/>
        </p:nvGrpSpPr>
        <p:grpSpPr>
          <a:xfrm>
            <a:off x="1646076" y="4029452"/>
            <a:ext cx="570912" cy="419326"/>
            <a:chOff x="6759575" y="3000375"/>
            <a:chExt cx="906463" cy="746125"/>
          </a:xfrm>
          <a:solidFill>
            <a:srgbClr val="F4F3F9"/>
          </a:solidFill>
        </p:grpSpPr>
        <p:sp>
          <p:nvSpPr>
            <p:cNvPr id="50" name="Freeform 55">
              <a:extLst>
                <a:ext uri="{FF2B5EF4-FFF2-40B4-BE49-F238E27FC236}">
                  <a16:creationId xmlns:a16="http://schemas.microsoft.com/office/drawing/2014/main" id="{46748FF2-B899-FB49-ADCF-A4D3D89EBD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1400" y="3000375"/>
              <a:ext cx="274638" cy="358775"/>
            </a:xfrm>
            <a:custGeom>
              <a:avLst/>
              <a:gdLst>
                <a:gd name="T0" fmla="*/ 182 w 364"/>
                <a:gd name="T1" fmla="*/ 476 h 476"/>
                <a:gd name="T2" fmla="*/ 152 w 364"/>
                <a:gd name="T3" fmla="*/ 462 h 476"/>
                <a:gd name="T4" fmla="*/ 0 w 364"/>
                <a:gd name="T5" fmla="*/ 182 h 476"/>
                <a:gd name="T6" fmla="*/ 53 w 364"/>
                <a:gd name="T7" fmla="*/ 53 h 476"/>
                <a:gd name="T8" fmla="*/ 182 w 364"/>
                <a:gd name="T9" fmla="*/ 0 h 476"/>
                <a:gd name="T10" fmla="*/ 182 w 364"/>
                <a:gd name="T11" fmla="*/ 0 h 476"/>
                <a:gd name="T12" fmla="*/ 364 w 364"/>
                <a:gd name="T13" fmla="*/ 182 h 476"/>
                <a:gd name="T14" fmla="*/ 212 w 364"/>
                <a:gd name="T15" fmla="*/ 462 h 476"/>
                <a:gd name="T16" fmla="*/ 182 w 364"/>
                <a:gd name="T17" fmla="*/ 476 h 476"/>
                <a:gd name="T18" fmla="*/ 182 w 364"/>
                <a:gd name="T19" fmla="*/ 24 h 476"/>
                <a:gd name="T20" fmla="*/ 70 w 364"/>
                <a:gd name="T21" fmla="*/ 70 h 476"/>
                <a:gd name="T22" fmla="*/ 24 w 364"/>
                <a:gd name="T23" fmla="*/ 182 h 476"/>
                <a:gd name="T24" fmla="*/ 171 w 364"/>
                <a:gd name="T25" fmla="*/ 447 h 476"/>
                <a:gd name="T26" fmla="*/ 182 w 364"/>
                <a:gd name="T27" fmla="*/ 452 h 476"/>
                <a:gd name="T28" fmla="*/ 193 w 364"/>
                <a:gd name="T29" fmla="*/ 447 h 476"/>
                <a:gd name="T30" fmla="*/ 340 w 364"/>
                <a:gd name="T31" fmla="*/ 182 h 476"/>
                <a:gd name="T32" fmla="*/ 182 w 364"/>
                <a:gd name="T33" fmla="*/ 24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4" h="476">
                  <a:moveTo>
                    <a:pt x="182" y="476"/>
                  </a:moveTo>
                  <a:cubicBezTo>
                    <a:pt x="170" y="476"/>
                    <a:pt x="159" y="471"/>
                    <a:pt x="152" y="462"/>
                  </a:cubicBezTo>
                  <a:cubicBezTo>
                    <a:pt x="95" y="389"/>
                    <a:pt x="0" y="257"/>
                    <a:pt x="0" y="182"/>
                  </a:cubicBezTo>
                  <a:cubicBezTo>
                    <a:pt x="0" y="133"/>
                    <a:pt x="19" y="87"/>
                    <a:pt x="53" y="53"/>
                  </a:cubicBezTo>
                  <a:cubicBezTo>
                    <a:pt x="87" y="19"/>
                    <a:pt x="133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282" y="0"/>
                    <a:pt x="364" y="81"/>
                    <a:pt x="364" y="182"/>
                  </a:cubicBezTo>
                  <a:cubicBezTo>
                    <a:pt x="364" y="257"/>
                    <a:pt x="269" y="389"/>
                    <a:pt x="212" y="462"/>
                  </a:cubicBezTo>
                  <a:cubicBezTo>
                    <a:pt x="205" y="471"/>
                    <a:pt x="194" y="476"/>
                    <a:pt x="182" y="476"/>
                  </a:cubicBezTo>
                  <a:close/>
                  <a:moveTo>
                    <a:pt x="182" y="24"/>
                  </a:moveTo>
                  <a:cubicBezTo>
                    <a:pt x="140" y="24"/>
                    <a:pt x="100" y="40"/>
                    <a:pt x="70" y="70"/>
                  </a:cubicBezTo>
                  <a:cubicBezTo>
                    <a:pt x="40" y="100"/>
                    <a:pt x="24" y="140"/>
                    <a:pt x="24" y="182"/>
                  </a:cubicBezTo>
                  <a:cubicBezTo>
                    <a:pt x="24" y="254"/>
                    <a:pt x="136" y="403"/>
                    <a:pt x="171" y="447"/>
                  </a:cubicBezTo>
                  <a:cubicBezTo>
                    <a:pt x="174" y="450"/>
                    <a:pt x="178" y="452"/>
                    <a:pt x="182" y="452"/>
                  </a:cubicBezTo>
                  <a:cubicBezTo>
                    <a:pt x="186" y="452"/>
                    <a:pt x="190" y="450"/>
                    <a:pt x="193" y="447"/>
                  </a:cubicBezTo>
                  <a:cubicBezTo>
                    <a:pt x="285" y="329"/>
                    <a:pt x="340" y="230"/>
                    <a:pt x="340" y="182"/>
                  </a:cubicBezTo>
                  <a:cubicBezTo>
                    <a:pt x="340" y="95"/>
                    <a:pt x="269" y="24"/>
                    <a:pt x="18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Freeform 56">
              <a:extLst>
                <a:ext uri="{FF2B5EF4-FFF2-40B4-BE49-F238E27FC236}">
                  <a16:creationId xmlns:a16="http://schemas.microsoft.com/office/drawing/2014/main" id="{6A3DF3B5-C34B-0EE6-42F7-6A1863ACE7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0775" y="3079750"/>
              <a:ext cx="114300" cy="115888"/>
            </a:xfrm>
            <a:custGeom>
              <a:avLst/>
              <a:gdLst>
                <a:gd name="T0" fmla="*/ 76 w 152"/>
                <a:gd name="T1" fmla="*/ 152 h 152"/>
                <a:gd name="T2" fmla="*/ 0 w 152"/>
                <a:gd name="T3" fmla="*/ 76 h 152"/>
                <a:gd name="T4" fmla="*/ 76 w 152"/>
                <a:gd name="T5" fmla="*/ 0 h 152"/>
                <a:gd name="T6" fmla="*/ 76 w 152"/>
                <a:gd name="T7" fmla="*/ 0 h 152"/>
                <a:gd name="T8" fmla="*/ 130 w 152"/>
                <a:gd name="T9" fmla="*/ 22 h 152"/>
                <a:gd name="T10" fmla="*/ 152 w 152"/>
                <a:gd name="T11" fmla="*/ 76 h 152"/>
                <a:gd name="T12" fmla="*/ 152 w 152"/>
                <a:gd name="T13" fmla="*/ 76 h 152"/>
                <a:gd name="T14" fmla="*/ 76 w 152"/>
                <a:gd name="T15" fmla="*/ 152 h 152"/>
                <a:gd name="T16" fmla="*/ 76 w 152"/>
                <a:gd name="T17" fmla="*/ 24 h 152"/>
                <a:gd name="T18" fmla="*/ 76 w 152"/>
                <a:gd name="T19" fmla="*/ 24 h 152"/>
                <a:gd name="T20" fmla="*/ 24 w 152"/>
                <a:gd name="T21" fmla="*/ 76 h 152"/>
                <a:gd name="T22" fmla="*/ 76 w 152"/>
                <a:gd name="T23" fmla="*/ 128 h 152"/>
                <a:gd name="T24" fmla="*/ 128 w 152"/>
                <a:gd name="T25" fmla="*/ 76 h 152"/>
                <a:gd name="T26" fmla="*/ 128 w 152"/>
                <a:gd name="T27" fmla="*/ 76 h 152"/>
                <a:gd name="T28" fmla="*/ 113 w 152"/>
                <a:gd name="T29" fmla="*/ 39 h 152"/>
                <a:gd name="T30" fmla="*/ 76 w 152"/>
                <a:gd name="T31" fmla="*/ 2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2" h="152">
                  <a:moveTo>
                    <a:pt x="76" y="152"/>
                  </a:moveTo>
                  <a:cubicBezTo>
                    <a:pt x="34" y="152"/>
                    <a:pt x="0" y="118"/>
                    <a:pt x="0" y="76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6" y="0"/>
                    <a:pt x="115" y="8"/>
                    <a:pt x="130" y="22"/>
                  </a:cubicBezTo>
                  <a:cubicBezTo>
                    <a:pt x="144" y="37"/>
                    <a:pt x="152" y="56"/>
                    <a:pt x="152" y="76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118"/>
                    <a:pt x="118" y="152"/>
                    <a:pt x="76" y="152"/>
                  </a:cubicBezTo>
                  <a:close/>
                  <a:moveTo>
                    <a:pt x="76" y="24"/>
                  </a:moveTo>
                  <a:cubicBezTo>
                    <a:pt x="76" y="24"/>
                    <a:pt x="76" y="24"/>
                    <a:pt x="76" y="24"/>
                  </a:cubicBezTo>
                  <a:cubicBezTo>
                    <a:pt x="47" y="24"/>
                    <a:pt x="24" y="47"/>
                    <a:pt x="24" y="76"/>
                  </a:cubicBezTo>
                  <a:cubicBezTo>
                    <a:pt x="24" y="104"/>
                    <a:pt x="47" y="128"/>
                    <a:pt x="76" y="128"/>
                  </a:cubicBezTo>
                  <a:cubicBezTo>
                    <a:pt x="104" y="128"/>
                    <a:pt x="128" y="104"/>
                    <a:pt x="128" y="76"/>
                  </a:cubicBezTo>
                  <a:cubicBezTo>
                    <a:pt x="128" y="76"/>
                    <a:pt x="128" y="76"/>
                    <a:pt x="128" y="76"/>
                  </a:cubicBezTo>
                  <a:cubicBezTo>
                    <a:pt x="128" y="62"/>
                    <a:pt x="122" y="49"/>
                    <a:pt x="113" y="39"/>
                  </a:cubicBezTo>
                  <a:cubicBezTo>
                    <a:pt x="103" y="29"/>
                    <a:pt x="90" y="24"/>
                    <a:pt x="76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Freeform 57">
              <a:extLst>
                <a:ext uri="{FF2B5EF4-FFF2-40B4-BE49-F238E27FC236}">
                  <a16:creationId xmlns:a16="http://schemas.microsoft.com/office/drawing/2014/main" id="{BE801838-0A18-162E-22C4-44BD2CB2D3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9575" y="3232150"/>
              <a:ext cx="361950" cy="514350"/>
            </a:xfrm>
            <a:custGeom>
              <a:avLst/>
              <a:gdLst>
                <a:gd name="T0" fmla="*/ 240 w 480"/>
                <a:gd name="T1" fmla="*/ 681 h 681"/>
                <a:gd name="T2" fmla="*/ 208 w 480"/>
                <a:gd name="T3" fmla="*/ 663 h 681"/>
                <a:gd name="T4" fmla="*/ 16 w 480"/>
                <a:gd name="T5" fmla="*/ 270 h 681"/>
                <a:gd name="T6" fmla="*/ 61 w 480"/>
                <a:gd name="T7" fmla="*/ 80 h 681"/>
                <a:gd name="T8" fmla="*/ 240 w 480"/>
                <a:gd name="T9" fmla="*/ 5 h 681"/>
                <a:gd name="T10" fmla="*/ 419 w 480"/>
                <a:gd name="T11" fmla="*/ 80 h 681"/>
                <a:gd name="T12" fmla="*/ 465 w 480"/>
                <a:gd name="T13" fmla="*/ 270 h 681"/>
                <a:gd name="T14" fmla="*/ 272 w 480"/>
                <a:gd name="T15" fmla="*/ 663 h 681"/>
                <a:gd name="T16" fmla="*/ 240 w 480"/>
                <a:gd name="T17" fmla="*/ 681 h 681"/>
                <a:gd name="T18" fmla="*/ 240 w 480"/>
                <a:gd name="T19" fmla="*/ 681 h 681"/>
                <a:gd name="T20" fmla="*/ 226 w 480"/>
                <a:gd name="T21" fmla="*/ 28 h 681"/>
                <a:gd name="T22" fmla="*/ 80 w 480"/>
                <a:gd name="T23" fmla="*/ 96 h 681"/>
                <a:gd name="T24" fmla="*/ 39 w 480"/>
                <a:gd name="T25" fmla="*/ 264 h 681"/>
                <a:gd name="T26" fmla="*/ 39 w 480"/>
                <a:gd name="T27" fmla="*/ 265 h 681"/>
                <a:gd name="T28" fmla="*/ 228 w 480"/>
                <a:gd name="T29" fmla="*/ 650 h 681"/>
                <a:gd name="T30" fmla="*/ 240 w 480"/>
                <a:gd name="T31" fmla="*/ 657 h 681"/>
                <a:gd name="T32" fmla="*/ 240 w 480"/>
                <a:gd name="T33" fmla="*/ 657 h 681"/>
                <a:gd name="T34" fmla="*/ 252 w 480"/>
                <a:gd name="T35" fmla="*/ 650 h 681"/>
                <a:gd name="T36" fmla="*/ 441 w 480"/>
                <a:gd name="T37" fmla="*/ 265 h 681"/>
                <a:gd name="T38" fmla="*/ 441 w 480"/>
                <a:gd name="T39" fmla="*/ 264 h 681"/>
                <a:gd name="T40" fmla="*/ 401 w 480"/>
                <a:gd name="T41" fmla="*/ 96 h 681"/>
                <a:gd name="T42" fmla="*/ 241 w 480"/>
                <a:gd name="T43" fmla="*/ 29 h 681"/>
                <a:gd name="T44" fmla="*/ 240 w 480"/>
                <a:gd name="T45" fmla="*/ 29 h 681"/>
                <a:gd name="T46" fmla="*/ 239 w 480"/>
                <a:gd name="T47" fmla="*/ 29 h 681"/>
                <a:gd name="T48" fmla="*/ 226 w 480"/>
                <a:gd name="T49" fmla="*/ 28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0" h="681">
                  <a:moveTo>
                    <a:pt x="240" y="681"/>
                  </a:moveTo>
                  <a:cubicBezTo>
                    <a:pt x="227" y="681"/>
                    <a:pt x="214" y="674"/>
                    <a:pt x="208" y="663"/>
                  </a:cubicBezTo>
                  <a:cubicBezTo>
                    <a:pt x="156" y="580"/>
                    <a:pt x="35" y="376"/>
                    <a:pt x="16" y="270"/>
                  </a:cubicBezTo>
                  <a:cubicBezTo>
                    <a:pt x="0" y="203"/>
                    <a:pt x="17" y="132"/>
                    <a:pt x="61" y="80"/>
                  </a:cubicBezTo>
                  <a:cubicBezTo>
                    <a:pt x="105" y="28"/>
                    <a:pt x="172" y="0"/>
                    <a:pt x="240" y="5"/>
                  </a:cubicBezTo>
                  <a:cubicBezTo>
                    <a:pt x="308" y="0"/>
                    <a:pt x="375" y="28"/>
                    <a:pt x="419" y="80"/>
                  </a:cubicBezTo>
                  <a:cubicBezTo>
                    <a:pt x="464" y="132"/>
                    <a:pt x="480" y="203"/>
                    <a:pt x="465" y="270"/>
                  </a:cubicBezTo>
                  <a:cubicBezTo>
                    <a:pt x="449" y="362"/>
                    <a:pt x="325" y="575"/>
                    <a:pt x="272" y="663"/>
                  </a:cubicBezTo>
                  <a:cubicBezTo>
                    <a:pt x="266" y="674"/>
                    <a:pt x="253" y="681"/>
                    <a:pt x="240" y="681"/>
                  </a:cubicBezTo>
                  <a:cubicBezTo>
                    <a:pt x="240" y="681"/>
                    <a:pt x="240" y="681"/>
                    <a:pt x="240" y="681"/>
                  </a:cubicBezTo>
                  <a:close/>
                  <a:moveTo>
                    <a:pt x="226" y="28"/>
                  </a:moveTo>
                  <a:cubicBezTo>
                    <a:pt x="170" y="28"/>
                    <a:pt x="116" y="53"/>
                    <a:pt x="80" y="96"/>
                  </a:cubicBezTo>
                  <a:cubicBezTo>
                    <a:pt x="40" y="142"/>
                    <a:pt x="25" y="205"/>
                    <a:pt x="39" y="264"/>
                  </a:cubicBezTo>
                  <a:cubicBezTo>
                    <a:pt x="39" y="265"/>
                    <a:pt x="39" y="265"/>
                    <a:pt x="39" y="265"/>
                  </a:cubicBezTo>
                  <a:cubicBezTo>
                    <a:pt x="58" y="368"/>
                    <a:pt x="178" y="569"/>
                    <a:pt x="228" y="650"/>
                  </a:cubicBezTo>
                  <a:cubicBezTo>
                    <a:pt x="231" y="655"/>
                    <a:pt x="235" y="657"/>
                    <a:pt x="240" y="657"/>
                  </a:cubicBezTo>
                  <a:cubicBezTo>
                    <a:pt x="240" y="657"/>
                    <a:pt x="240" y="657"/>
                    <a:pt x="240" y="657"/>
                  </a:cubicBezTo>
                  <a:cubicBezTo>
                    <a:pt x="245" y="657"/>
                    <a:pt x="249" y="655"/>
                    <a:pt x="252" y="650"/>
                  </a:cubicBezTo>
                  <a:cubicBezTo>
                    <a:pt x="304" y="564"/>
                    <a:pt x="426" y="353"/>
                    <a:pt x="441" y="265"/>
                  </a:cubicBezTo>
                  <a:cubicBezTo>
                    <a:pt x="441" y="264"/>
                    <a:pt x="441" y="264"/>
                    <a:pt x="441" y="264"/>
                  </a:cubicBezTo>
                  <a:cubicBezTo>
                    <a:pt x="455" y="205"/>
                    <a:pt x="440" y="142"/>
                    <a:pt x="401" y="96"/>
                  </a:cubicBezTo>
                  <a:cubicBezTo>
                    <a:pt x="362" y="49"/>
                    <a:pt x="302" y="24"/>
                    <a:pt x="241" y="29"/>
                  </a:cubicBezTo>
                  <a:cubicBezTo>
                    <a:pt x="240" y="29"/>
                    <a:pt x="240" y="29"/>
                    <a:pt x="240" y="29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35" y="28"/>
                    <a:pt x="230" y="28"/>
                    <a:pt x="226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Freeform 58">
              <a:extLst>
                <a:ext uri="{FF2B5EF4-FFF2-40B4-BE49-F238E27FC236}">
                  <a16:creationId xmlns:a16="http://schemas.microsoft.com/office/drawing/2014/main" id="{D8598DF9-0C5F-2F08-BAF0-FA34D3FD13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1650" y="3314700"/>
              <a:ext cx="171450" cy="165100"/>
            </a:xfrm>
            <a:custGeom>
              <a:avLst/>
              <a:gdLst>
                <a:gd name="T0" fmla="*/ 118 w 228"/>
                <a:gd name="T1" fmla="*/ 219 h 219"/>
                <a:gd name="T2" fmla="*/ 41 w 228"/>
                <a:gd name="T3" fmla="*/ 187 h 219"/>
                <a:gd name="T4" fmla="*/ 17 w 228"/>
                <a:gd name="T5" fmla="*/ 68 h 219"/>
                <a:gd name="T6" fmla="*/ 118 w 228"/>
                <a:gd name="T7" fmla="*/ 0 h 219"/>
                <a:gd name="T8" fmla="*/ 228 w 228"/>
                <a:gd name="T9" fmla="*/ 110 h 219"/>
                <a:gd name="T10" fmla="*/ 228 w 228"/>
                <a:gd name="T11" fmla="*/ 110 h 219"/>
                <a:gd name="T12" fmla="*/ 160 w 228"/>
                <a:gd name="T13" fmla="*/ 211 h 219"/>
                <a:gd name="T14" fmla="*/ 118 w 228"/>
                <a:gd name="T15" fmla="*/ 219 h 219"/>
                <a:gd name="T16" fmla="*/ 118 w 228"/>
                <a:gd name="T17" fmla="*/ 24 h 219"/>
                <a:gd name="T18" fmla="*/ 39 w 228"/>
                <a:gd name="T19" fmla="*/ 77 h 219"/>
                <a:gd name="T20" fmla="*/ 58 w 228"/>
                <a:gd name="T21" fmla="*/ 170 h 219"/>
                <a:gd name="T22" fmla="*/ 151 w 228"/>
                <a:gd name="T23" fmla="*/ 189 h 219"/>
                <a:gd name="T24" fmla="*/ 204 w 228"/>
                <a:gd name="T25" fmla="*/ 110 h 219"/>
                <a:gd name="T26" fmla="*/ 204 w 228"/>
                <a:gd name="T27" fmla="*/ 110 h 219"/>
                <a:gd name="T28" fmla="*/ 118 w 228"/>
                <a:gd name="T29" fmla="*/ 24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19">
                  <a:moveTo>
                    <a:pt x="118" y="219"/>
                  </a:moveTo>
                  <a:cubicBezTo>
                    <a:pt x="90" y="219"/>
                    <a:pt x="62" y="208"/>
                    <a:pt x="41" y="187"/>
                  </a:cubicBezTo>
                  <a:cubicBezTo>
                    <a:pt x="9" y="156"/>
                    <a:pt x="0" y="109"/>
                    <a:pt x="17" y="68"/>
                  </a:cubicBezTo>
                  <a:cubicBezTo>
                    <a:pt x="34" y="27"/>
                    <a:pt x="74" y="0"/>
                    <a:pt x="118" y="0"/>
                  </a:cubicBezTo>
                  <a:cubicBezTo>
                    <a:pt x="179" y="0"/>
                    <a:pt x="228" y="49"/>
                    <a:pt x="228" y="110"/>
                  </a:cubicBezTo>
                  <a:cubicBezTo>
                    <a:pt x="228" y="110"/>
                    <a:pt x="228" y="110"/>
                    <a:pt x="228" y="110"/>
                  </a:cubicBezTo>
                  <a:cubicBezTo>
                    <a:pt x="228" y="154"/>
                    <a:pt x="201" y="194"/>
                    <a:pt x="160" y="211"/>
                  </a:cubicBezTo>
                  <a:cubicBezTo>
                    <a:pt x="147" y="217"/>
                    <a:pt x="132" y="219"/>
                    <a:pt x="118" y="219"/>
                  </a:cubicBezTo>
                  <a:close/>
                  <a:moveTo>
                    <a:pt x="118" y="24"/>
                  </a:moveTo>
                  <a:cubicBezTo>
                    <a:pt x="84" y="24"/>
                    <a:pt x="53" y="45"/>
                    <a:pt x="39" y="77"/>
                  </a:cubicBezTo>
                  <a:cubicBezTo>
                    <a:pt x="26" y="109"/>
                    <a:pt x="33" y="146"/>
                    <a:pt x="58" y="170"/>
                  </a:cubicBezTo>
                  <a:cubicBezTo>
                    <a:pt x="82" y="195"/>
                    <a:pt x="119" y="202"/>
                    <a:pt x="151" y="189"/>
                  </a:cubicBezTo>
                  <a:cubicBezTo>
                    <a:pt x="183" y="175"/>
                    <a:pt x="204" y="144"/>
                    <a:pt x="204" y="110"/>
                  </a:cubicBezTo>
                  <a:cubicBezTo>
                    <a:pt x="204" y="110"/>
                    <a:pt x="204" y="110"/>
                    <a:pt x="204" y="110"/>
                  </a:cubicBezTo>
                  <a:cubicBezTo>
                    <a:pt x="204" y="63"/>
                    <a:pt x="165" y="24"/>
                    <a:pt x="118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Freeform 59">
              <a:extLst>
                <a:ext uri="{FF2B5EF4-FFF2-40B4-BE49-F238E27FC236}">
                  <a16:creationId xmlns:a16="http://schemas.microsoft.com/office/drawing/2014/main" id="{DBF84D0B-6C13-B952-B085-2FAC826FB665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913" y="3411538"/>
              <a:ext cx="471488" cy="312738"/>
            </a:xfrm>
            <a:custGeom>
              <a:avLst/>
              <a:gdLst>
                <a:gd name="T0" fmla="*/ 14 w 626"/>
                <a:gd name="T1" fmla="*/ 415 h 415"/>
                <a:gd name="T2" fmla="*/ 4 w 626"/>
                <a:gd name="T3" fmla="*/ 410 h 415"/>
                <a:gd name="T4" fmla="*/ 7 w 626"/>
                <a:gd name="T5" fmla="*/ 393 h 415"/>
                <a:gd name="T6" fmla="*/ 605 w 626"/>
                <a:gd name="T7" fmla="*/ 3 h 415"/>
                <a:gd name="T8" fmla="*/ 622 w 626"/>
                <a:gd name="T9" fmla="*/ 7 h 415"/>
                <a:gd name="T10" fmla="*/ 618 w 626"/>
                <a:gd name="T11" fmla="*/ 24 h 415"/>
                <a:gd name="T12" fmla="*/ 21 w 626"/>
                <a:gd name="T13" fmla="*/ 414 h 415"/>
                <a:gd name="T14" fmla="*/ 14 w 626"/>
                <a:gd name="T15" fmla="*/ 41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6" h="415">
                  <a:moveTo>
                    <a:pt x="14" y="415"/>
                  </a:moveTo>
                  <a:cubicBezTo>
                    <a:pt x="10" y="415"/>
                    <a:pt x="6" y="414"/>
                    <a:pt x="4" y="410"/>
                  </a:cubicBezTo>
                  <a:cubicBezTo>
                    <a:pt x="0" y="405"/>
                    <a:pt x="2" y="397"/>
                    <a:pt x="7" y="393"/>
                  </a:cubicBezTo>
                  <a:cubicBezTo>
                    <a:pt x="605" y="3"/>
                    <a:pt x="605" y="3"/>
                    <a:pt x="605" y="3"/>
                  </a:cubicBezTo>
                  <a:cubicBezTo>
                    <a:pt x="611" y="0"/>
                    <a:pt x="618" y="1"/>
                    <a:pt x="622" y="7"/>
                  </a:cubicBezTo>
                  <a:cubicBezTo>
                    <a:pt x="626" y="13"/>
                    <a:pt x="624" y="20"/>
                    <a:pt x="618" y="24"/>
                  </a:cubicBezTo>
                  <a:cubicBezTo>
                    <a:pt x="21" y="414"/>
                    <a:pt x="21" y="414"/>
                    <a:pt x="21" y="414"/>
                  </a:cubicBezTo>
                  <a:cubicBezTo>
                    <a:pt x="19" y="415"/>
                    <a:pt x="16" y="415"/>
                    <a:pt x="14" y="4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8" name="Title 27">
            <a:extLst>
              <a:ext uri="{FF2B5EF4-FFF2-40B4-BE49-F238E27FC236}">
                <a16:creationId xmlns:a16="http://schemas.microsoft.com/office/drawing/2014/main" id="{4EEAA3A4-A120-6F27-0D64-821E8E1EF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Change, Attack Path Doesn’t</a:t>
            </a:r>
          </a:p>
        </p:txBody>
      </p:sp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ABDD2352-77C6-623A-B9DA-4093C837BD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A4E56E-082B-4BA8-1435-FC7EA69CA8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6" b="91038" l="6324" r="96249">
                        <a14:foregroundMark x1="15327" y1="16745" x2="22186" y2="25943"/>
                        <a14:foregroundMark x1="22186" y1="25943" x2="32690" y2="30660"/>
                        <a14:foregroundMark x1="6324" y1="19811" x2="28832" y2="39623"/>
                        <a14:foregroundMark x1="40514" y1="14387" x2="60021" y2="15566"/>
                        <a14:foregroundMark x1="73633" y1="25472" x2="86924" y2="29481"/>
                        <a14:foregroundMark x1="79850" y1="19104" x2="89496" y2="18396"/>
                        <a14:foregroundMark x1="72776" y1="16745" x2="81779" y2="21462"/>
                        <a14:foregroundMark x1="93140" y1="10849" x2="96249" y2="29717"/>
                        <a14:foregroundMark x1="60879" y1="66274" x2="70096" y2="81604"/>
                        <a14:foregroundMark x1="25831" y1="70283" x2="40836" y2="86321"/>
                        <a14:foregroundMark x1="57235" y1="85613" x2="68810" y2="86557"/>
                        <a14:foregroundMark x1="68810" y1="86557" x2="57985" y2="91038"/>
                        <a14:foregroundMark x1="63880" y1="69575" x2="60557" y2="69575"/>
                        <a14:foregroundMark x1="64952" y1="72642" x2="60021" y2="67453"/>
                        <a14:foregroundMark x1="68274" y1="67689" x2="57985" y2="67689"/>
                        <a14:foregroundMark x1="55091" y1="64387" x2="75456" y2="64151"/>
                        <a14:foregroundMark x1="75456" y1="64151" x2="67953" y2="68632"/>
                        <a14:foregroundMark x1="67953" y1="68632" x2="66667" y2="68396"/>
                        <a14:foregroundMark x1="24759" y1="70755" x2="35906" y2="72406"/>
                        <a14:foregroundMark x1="35906" y1="72406" x2="28725" y2="65566"/>
                        <a14:foregroundMark x1="28725" y1="65566" x2="34834" y2="74528"/>
                        <a14:foregroundMark x1="34834" y1="74528" x2="45766" y2="73113"/>
                        <a14:foregroundMark x1="45766" y1="73113" x2="45445" y2="72170"/>
                        <a14:foregroundMark x1="36334" y1="60142" x2="44587" y2="60142"/>
                        <a14:foregroundMark x1="23687" y1="68160" x2="23044" y2="75943"/>
                        <a14:foregroundMark x1="21222" y1="66038" x2="27974" y2="70755"/>
                        <a14:foregroundMark x1="27974" y1="70755" x2="22079" y2="66274"/>
                        <a14:foregroundMark x1="22079" y1="66274" x2="21008" y2="7688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7967" y="552168"/>
            <a:ext cx="8888065" cy="403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36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0C60A-21E7-9302-6426-7EC4E822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E58AD8CB-A1A0-BE6A-8A21-3A416872143E}"/>
              </a:ext>
            </a:extLst>
          </p:cNvPr>
          <p:cNvGrpSpPr/>
          <p:nvPr/>
        </p:nvGrpSpPr>
        <p:grpSpPr>
          <a:xfrm>
            <a:off x="1646076" y="4029452"/>
            <a:ext cx="570912" cy="419326"/>
            <a:chOff x="6759575" y="3000375"/>
            <a:chExt cx="906463" cy="746125"/>
          </a:xfrm>
          <a:solidFill>
            <a:srgbClr val="F4F3F9"/>
          </a:solidFill>
        </p:grpSpPr>
        <p:sp>
          <p:nvSpPr>
            <p:cNvPr id="50" name="Freeform 55">
              <a:extLst>
                <a:ext uri="{FF2B5EF4-FFF2-40B4-BE49-F238E27FC236}">
                  <a16:creationId xmlns:a16="http://schemas.microsoft.com/office/drawing/2014/main" id="{D7DFB210-F835-AD15-6DC8-EAE51F3FE6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1400" y="3000375"/>
              <a:ext cx="274638" cy="358775"/>
            </a:xfrm>
            <a:custGeom>
              <a:avLst/>
              <a:gdLst>
                <a:gd name="T0" fmla="*/ 182 w 364"/>
                <a:gd name="T1" fmla="*/ 476 h 476"/>
                <a:gd name="T2" fmla="*/ 152 w 364"/>
                <a:gd name="T3" fmla="*/ 462 h 476"/>
                <a:gd name="T4" fmla="*/ 0 w 364"/>
                <a:gd name="T5" fmla="*/ 182 h 476"/>
                <a:gd name="T6" fmla="*/ 53 w 364"/>
                <a:gd name="T7" fmla="*/ 53 h 476"/>
                <a:gd name="T8" fmla="*/ 182 w 364"/>
                <a:gd name="T9" fmla="*/ 0 h 476"/>
                <a:gd name="T10" fmla="*/ 182 w 364"/>
                <a:gd name="T11" fmla="*/ 0 h 476"/>
                <a:gd name="T12" fmla="*/ 364 w 364"/>
                <a:gd name="T13" fmla="*/ 182 h 476"/>
                <a:gd name="T14" fmla="*/ 212 w 364"/>
                <a:gd name="T15" fmla="*/ 462 h 476"/>
                <a:gd name="T16" fmla="*/ 182 w 364"/>
                <a:gd name="T17" fmla="*/ 476 h 476"/>
                <a:gd name="T18" fmla="*/ 182 w 364"/>
                <a:gd name="T19" fmla="*/ 24 h 476"/>
                <a:gd name="T20" fmla="*/ 70 w 364"/>
                <a:gd name="T21" fmla="*/ 70 h 476"/>
                <a:gd name="T22" fmla="*/ 24 w 364"/>
                <a:gd name="T23" fmla="*/ 182 h 476"/>
                <a:gd name="T24" fmla="*/ 171 w 364"/>
                <a:gd name="T25" fmla="*/ 447 h 476"/>
                <a:gd name="T26" fmla="*/ 182 w 364"/>
                <a:gd name="T27" fmla="*/ 452 h 476"/>
                <a:gd name="T28" fmla="*/ 193 w 364"/>
                <a:gd name="T29" fmla="*/ 447 h 476"/>
                <a:gd name="T30" fmla="*/ 340 w 364"/>
                <a:gd name="T31" fmla="*/ 182 h 476"/>
                <a:gd name="T32" fmla="*/ 182 w 364"/>
                <a:gd name="T33" fmla="*/ 24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4" h="476">
                  <a:moveTo>
                    <a:pt x="182" y="476"/>
                  </a:moveTo>
                  <a:cubicBezTo>
                    <a:pt x="170" y="476"/>
                    <a:pt x="159" y="471"/>
                    <a:pt x="152" y="462"/>
                  </a:cubicBezTo>
                  <a:cubicBezTo>
                    <a:pt x="95" y="389"/>
                    <a:pt x="0" y="257"/>
                    <a:pt x="0" y="182"/>
                  </a:cubicBezTo>
                  <a:cubicBezTo>
                    <a:pt x="0" y="133"/>
                    <a:pt x="19" y="87"/>
                    <a:pt x="53" y="53"/>
                  </a:cubicBezTo>
                  <a:cubicBezTo>
                    <a:pt x="87" y="19"/>
                    <a:pt x="133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282" y="0"/>
                    <a:pt x="364" y="81"/>
                    <a:pt x="364" y="182"/>
                  </a:cubicBezTo>
                  <a:cubicBezTo>
                    <a:pt x="364" y="257"/>
                    <a:pt x="269" y="389"/>
                    <a:pt x="212" y="462"/>
                  </a:cubicBezTo>
                  <a:cubicBezTo>
                    <a:pt x="205" y="471"/>
                    <a:pt x="194" y="476"/>
                    <a:pt x="182" y="476"/>
                  </a:cubicBezTo>
                  <a:close/>
                  <a:moveTo>
                    <a:pt x="182" y="24"/>
                  </a:moveTo>
                  <a:cubicBezTo>
                    <a:pt x="140" y="24"/>
                    <a:pt x="100" y="40"/>
                    <a:pt x="70" y="70"/>
                  </a:cubicBezTo>
                  <a:cubicBezTo>
                    <a:pt x="40" y="100"/>
                    <a:pt x="24" y="140"/>
                    <a:pt x="24" y="182"/>
                  </a:cubicBezTo>
                  <a:cubicBezTo>
                    <a:pt x="24" y="254"/>
                    <a:pt x="136" y="403"/>
                    <a:pt x="171" y="447"/>
                  </a:cubicBezTo>
                  <a:cubicBezTo>
                    <a:pt x="174" y="450"/>
                    <a:pt x="178" y="452"/>
                    <a:pt x="182" y="452"/>
                  </a:cubicBezTo>
                  <a:cubicBezTo>
                    <a:pt x="186" y="452"/>
                    <a:pt x="190" y="450"/>
                    <a:pt x="193" y="447"/>
                  </a:cubicBezTo>
                  <a:cubicBezTo>
                    <a:pt x="285" y="329"/>
                    <a:pt x="340" y="230"/>
                    <a:pt x="340" y="182"/>
                  </a:cubicBezTo>
                  <a:cubicBezTo>
                    <a:pt x="340" y="95"/>
                    <a:pt x="269" y="24"/>
                    <a:pt x="18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Freeform 56">
              <a:extLst>
                <a:ext uri="{FF2B5EF4-FFF2-40B4-BE49-F238E27FC236}">
                  <a16:creationId xmlns:a16="http://schemas.microsoft.com/office/drawing/2014/main" id="{9F89A1E0-ED4A-9724-9646-DFCB920791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0775" y="3079750"/>
              <a:ext cx="114300" cy="115888"/>
            </a:xfrm>
            <a:custGeom>
              <a:avLst/>
              <a:gdLst>
                <a:gd name="T0" fmla="*/ 76 w 152"/>
                <a:gd name="T1" fmla="*/ 152 h 152"/>
                <a:gd name="T2" fmla="*/ 0 w 152"/>
                <a:gd name="T3" fmla="*/ 76 h 152"/>
                <a:gd name="T4" fmla="*/ 76 w 152"/>
                <a:gd name="T5" fmla="*/ 0 h 152"/>
                <a:gd name="T6" fmla="*/ 76 w 152"/>
                <a:gd name="T7" fmla="*/ 0 h 152"/>
                <a:gd name="T8" fmla="*/ 130 w 152"/>
                <a:gd name="T9" fmla="*/ 22 h 152"/>
                <a:gd name="T10" fmla="*/ 152 w 152"/>
                <a:gd name="T11" fmla="*/ 76 h 152"/>
                <a:gd name="T12" fmla="*/ 152 w 152"/>
                <a:gd name="T13" fmla="*/ 76 h 152"/>
                <a:gd name="T14" fmla="*/ 76 w 152"/>
                <a:gd name="T15" fmla="*/ 152 h 152"/>
                <a:gd name="T16" fmla="*/ 76 w 152"/>
                <a:gd name="T17" fmla="*/ 24 h 152"/>
                <a:gd name="T18" fmla="*/ 76 w 152"/>
                <a:gd name="T19" fmla="*/ 24 h 152"/>
                <a:gd name="T20" fmla="*/ 24 w 152"/>
                <a:gd name="T21" fmla="*/ 76 h 152"/>
                <a:gd name="T22" fmla="*/ 76 w 152"/>
                <a:gd name="T23" fmla="*/ 128 h 152"/>
                <a:gd name="T24" fmla="*/ 128 w 152"/>
                <a:gd name="T25" fmla="*/ 76 h 152"/>
                <a:gd name="T26" fmla="*/ 128 w 152"/>
                <a:gd name="T27" fmla="*/ 76 h 152"/>
                <a:gd name="T28" fmla="*/ 113 w 152"/>
                <a:gd name="T29" fmla="*/ 39 h 152"/>
                <a:gd name="T30" fmla="*/ 76 w 152"/>
                <a:gd name="T31" fmla="*/ 2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2" h="152">
                  <a:moveTo>
                    <a:pt x="76" y="152"/>
                  </a:moveTo>
                  <a:cubicBezTo>
                    <a:pt x="34" y="152"/>
                    <a:pt x="0" y="118"/>
                    <a:pt x="0" y="76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6" y="0"/>
                    <a:pt x="115" y="8"/>
                    <a:pt x="130" y="22"/>
                  </a:cubicBezTo>
                  <a:cubicBezTo>
                    <a:pt x="144" y="37"/>
                    <a:pt x="152" y="56"/>
                    <a:pt x="152" y="76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118"/>
                    <a:pt x="118" y="152"/>
                    <a:pt x="76" y="152"/>
                  </a:cubicBezTo>
                  <a:close/>
                  <a:moveTo>
                    <a:pt x="76" y="24"/>
                  </a:moveTo>
                  <a:cubicBezTo>
                    <a:pt x="76" y="24"/>
                    <a:pt x="76" y="24"/>
                    <a:pt x="76" y="24"/>
                  </a:cubicBezTo>
                  <a:cubicBezTo>
                    <a:pt x="47" y="24"/>
                    <a:pt x="24" y="47"/>
                    <a:pt x="24" y="76"/>
                  </a:cubicBezTo>
                  <a:cubicBezTo>
                    <a:pt x="24" y="104"/>
                    <a:pt x="47" y="128"/>
                    <a:pt x="76" y="128"/>
                  </a:cubicBezTo>
                  <a:cubicBezTo>
                    <a:pt x="104" y="128"/>
                    <a:pt x="128" y="104"/>
                    <a:pt x="128" y="76"/>
                  </a:cubicBezTo>
                  <a:cubicBezTo>
                    <a:pt x="128" y="76"/>
                    <a:pt x="128" y="76"/>
                    <a:pt x="128" y="76"/>
                  </a:cubicBezTo>
                  <a:cubicBezTo>
                    <a:pt x="128" y="62"/>
                    <a:pt x="122" y="49"/>
                    <a:pt x="113" y="39"/>
                  </a:cubicBezTo>
                  <a:cubicBezTo>
                    <a:pt x="103" y="29"/>
                    <a:pt x="90" y="24"/>
                    <a:pt x="76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Freeform 57">
              <a:extLst>
                <a:ext uri="{FF2B5EF4-FFF2-40B4-BE49-F238E27FC236}">
                  <a16:creationId xmlns:a16="http://schemas.microsoft.com/office/drawing/2014/main" id="{B72EB947-D416-2E77-277F-99582045E7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9575" y="3232150"/>
              <a:ext cx="361950" cy="514350"/>
            </a:xfrm>
            <a:custGeom>
              <a:avLst/>
              <a:gdLst>
                <a:gd name="T0" fmla="*/ 240 w 480"/>
                <a:gd name="T1" fmla="*/ 681 h 681"/>
                <a:gd name="T2" fmla="*/ 208 w 480"/>
                <a:gd name="T3" fmla="*/ 663 h 681"/>
                <a:gd name="T4" fmla="*/ 16 w 480"/>
                <a:gd name="T5" fmla="*/ 270 h 681"/>
                <a:gd name="T6" fmla="*/ 61 w 480"/>
                <a:gd name="T7" fmla="*/ 80 h 681"/>
                <a:gd name="T8" fmla="*/ 240 w 480"/>
                <a:gd name="T9" fmla="*/ 5 h 681"/>
                <a:gd name="T10" fmla="*/ 419 w 480"/>
                <a:gd name="T11" fmla="*/ 80 h 681"/>
                <a:gd name="T12" fmla="*/ 465 w 480"/>
                <a:gd name="T13" fmla="*/ 270 h 681"/>
                <a:gd name="T14" fmla="*/ 272 w 480"/>
                <a:gd name="T15" fmla="*/ 663 h 681"/>
                <a:gd name="T16" fmla="*/ 240 w 480"/>
                <a:gd name="T17" fmla="*/ 681 h 681"/>
                <a:gd name="T18" fmla="*/ 240 w 480"/>
                <a:gd name="T19" fmla="*/ 681 h 681"/>
                <a:gd name="T20" fmla="*/ 226 w 480"/>
                <a:gd name="T21" fmla="*/ 28 h 681"/>
                <a:gd name="T22" fmla="*/ 80 w 480"/>
                <a:gd name="T23" fmla="*/ 96 h 681"/>
                <a:gd name="T24" fmla="*/ 39 w 480"/>
                <a:gd name="T25" fmla="*/ 264 h 681"/>
                <a:gd name="T26" fmla="*/ 39 w 480"/>
                <a:gd name="T27" fmla="*/ 265 h 681"/>
                <a:gd name="T28" fmla="*/ 228 w 480"/>
                <a:gd name="T29" fmla="*/ 650 h 681"/>
                <a:gd name="T30" fmla="*/ 240 w 480"/>
                <a:gd name="T31" fmla="*/ 657 h 681"/>
                <a:gd name="T32" fmla="*/ 240 w 480"/>
                <a:gd name="T33" fmla="*/ 657 h 681"/>
                <a:gd name="T34" fmla="*/ 252 w 480"/>
                <a:gd name="T35" fmla="*/ 650 h 681"/>
                <a:gd name="T36" fmla="*/ 441 w 480"/>
                <a:gd name="T37" fmla="*/ 265 h 681"/>
                <a:gd name="T38" fmla="*/ 441 w 480"/>
                <a:gd name="T39" fmla="*/ 264 h 681"/>
                <a:gd name="T40" fmla="*/ 401 w 480"/>
                <a:gd name="T41" fmla="*/ 96 h 681"/>
                <a:gd name="T42" fmla="*/ 241 w 480"/>
                <a:gd name="T43" fmla="*/ 29 h 681"/>
                <a:gd name="T44" fmla="*/ 240 w 480"/>
                <a:gd name="T45" fmla="*/ 29 h 681"/>
                <a:gd name="T46" fmla="*/ 239 w 480"/>
                <a:gd name="T47" fmla="*/ 29 h 681"/>
                <a:gd name="T48" fmla="*/ 226 w 480"/>
                <a:gd name="T49" fmla="*/ 28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0" h="681">
                  <a:moveTo>
                    <a:pt x="240" y="681"/>
                  </a:moveTo>
                  <a:cubicBezTo>
                    <a:pt x="227" y="681"/>
                    <a:pt x="214" y="674"/>
                    <a:pt x="208" y="663"/>
                  </a:cubicBezTo>
                  <a:cubicBezTo>
                    <a:pt x="156" y="580"/>
                    <a:pt x="35" y="376"/>
                    <a:pt x="16" y="270"/>
                  </a:cubicBezTo>
                  <a:cubicBezTo>
                    <a:pt x="0" y="203"/>
                    <a:pt x="17" y="132"/>
                    <a:pt x="61" y="80"/>
                  </a:cubicBezTo>
                  <a:cubicBezTo>
                    <a:pt x="105" y="28"/>
                    <a:pt x="172" y="0"/>
                    <a:pt x="240" y="5"/>
                  </a:cubicBezTo>
                  <a:cubicBezTo>
                    <a:pt x="308" y="0"/>
                    <a:pt x="375" y="28"/>
                    <a:pt x="419" y="80"/>
                  </a:cubicBezTo>
                  <a:cubicBezTo>
                    <a:pt x="464" y="132"/>
                    <a:pt x="480" y="203"/>
                    <a:pt x="465" y="270"/>
                  </a:cubicBezTo>
                  <a:cubicBezTo>
                    <a:pt x="449" y="362"/>
                    <a:pt x="325" y="575"/>
                    <a:pt x="272" y="663"/>
                  </a:cubicBezTo>
                  <a:cubicBezTo>
                    <a:pt x="266" y="674"/>
                    <a:pt x="253" y="681"/>
                    <a:pt x="240" y="681"/>
                  </a:cubicBezTo>
                  <a:cubicBezTo>
                    <a:pt x="240" y="681"/>
                    <a:pt x="240" y="681"/>
                    <a:pt x="240" y="681"/>
                  </a:cubicBezTo>
                  <a:close/>
                  <a:moveTo>
                    <a:pt x="226" y="28"/>
                  </a:moveTo>
                  <a:cubicBezTo>
                    <a:pt x="170" y="28"/>
                    <a:pt x="116" y="53"/>
                    <a:pt x="80" y="96"/>
                  </a:cubicBezTo>
                  <a:cubicBezTo>
                    <a:pt x="40" y="142"/>
                    <a:pt x="25" y="205"/>
                    <a:pt x="39" y="264"/>
                  </a:cubicBezTo>
                  <a:cubicBezTo>
                    <a:pt x="39" y="265"/>
                    <a:pt x="39" y="265"/>
                    <a:pt x="39" y="265"/>
                  </a:cubicBezTo>
                  <a:cubicBezTo>
                    <a:pt x="58" y="368"/>
                    <a:pt x="178" y="569"/>
                    <a:pt x="228" y="650"/>
                  </a:cubicBezTo>
                  <a:cubicBezTo>
                    <a:pt x="231" y="655"/>
                    <a:pt x="235" y="657"/>
                    <a:pt x="240" y="657"/>
                  </a:cubicBezTo>
                  <a:cubicBezTo>
                    <a:pt x="240" y="657"/>
                    <a:pt x="240" y="657"/>
                    <a:pt x="240" y="657"/>
                  </a:cubicBezTo>
                  <a:cubicBezTo>
                    <a:pt x="245" y="657"/>
                    <a:pt x="249" y="655"/>
                    <a:pt x="252" y="650"/>
                  </a:cubicBezTo>
                  <a:cubicBezTo>
                    <a:pt x="304" y="564"/>
                    <a:pt x="426" y="353"/>
                    <a:pt x="441" y="265"/>
                  </a:cubicBezTo>
                  <a:cubicBezTo>
                    <a:pt x="441" y="264"/>
                    <a:pt x="441" y="264"/>
                    <a:pt x="441" y="264"/>
                  </a:cubicBezTo>
                  <a:cubicBezTo>
                    <a:pt x="455" y="205"/>
                    <a:pt x="440" y="142"/>
                    <a:pt x="401" y="96"/>
                  </a:cubicBezTo>
                  <a:cubicBezTo>
                    <a:pt x="362" y="49"/>
                    <a:pt x="302" y="24"/>
                    <a:pt x="241" y="29"/>
                  </a:cubicBezTo>
                  <a:cubicBezTo>
                    <a:pt x="240" y="29"/>
                    <a:pt x="240" y="29"/>
                    <a:pt x="240" y="29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35" y="28"/>
                    <a:pt x="230" y="28"/>
                    <a:pt x="226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Freeform 58">
              <a:extLst>
                <a:ext uri="{FF2B5EF4-FFF2-40B4-BE49-F238E27FC236}">
                  <a16:creationId xmlns:a16="http://schemas.microsoft.com/office/drawing/2014/main" id="{EAD18171-F4EA-5950-5D9F-DB70DB276A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1650" y="3314700"/>
              <a:ext cx="171450" cy="165100"/>
            </a:xfrm>
            <a:custGeom>
              <a:avLst/>
              <a:gdLst>
                <a:gd name="T0" fmla="*/ 118 w 228"/>
                <a:gd name="T1" fmla="*/ 219 h 219"/>
                <a:gd name="T2" fmla="*/ 41 w 228"/>
                <a:gd name="T3" fmla="*/ 187 h 219"/>
                <a:gd name="T4" fmla="*/ 17 w 228"/>
                <a:gd name="T5" fmla="*/ 68 h 219"/>
                <a:gd name="T6" fmla="*/ 118 w 228"/>
                <a:gd name="T7" fmla="*/ 0 h 219"/>
                <a:gd name="T8" fmla="*/ 228 w 228"/>
                <a:gd name="T9" fmla="*/ 110 h 219"/>
                <a:gd name="T10" fmla="*/ 228 w 228"/>
                <a:gd name="T11" fmla="*/ 110 h 219"/>
                <a:gd name="T12" fmla="*/ 160 w 228"/>
                <a:gd name="T13" fmla="*/ 211 h 219"/>
                <a:gd name="T14" fmla="*/ 118 w 228"/>
                <a:gd name="T15" fmla="*/ 219 h 219"/>
                <a:gd name="T16" fmla="*/ 118 w 228"/>
                <a:gd name="T17" fmla="*/ 24 h 219"/>
                <a:gd name="T18" fmla="*/ 39 w 228"/>
                <a:gd name="T19" fmla="*/ 77 h 219"/>
                <a:gd name="T20" fmla="*/ 58 w 228"/>
                <a:gd name="T21" fmla="*/ 170 h 219"/>
                <a:gd name="T22" fmla="*/ 151 w 228"/>
                <a:gd name="T23" fmla="*/ 189 h 219"/>
                <a:gd name="T24" fmla="*/ 204 w 228"/>
                <a:gd name="T25" fmla="*/ 110 h 219"/>
                <a:gd name="T26" fmla="*/ 204 w 228"/>
                <a:gd name="T27" fmla="*/ 110 h 219"/>
                <a:gd name="T28" fmla="*/ 118 w 228"/>
                <a:gd name="T29" fmla="*/ 24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19">
                  <a:moveTo>
                    <a:pt x="118" y="219"/>
                  </a:moveTo>
                  <a:cubicBezTo>
                    <a:pt x="90" y="219"/>
                    <a:pt x="62" y="208"/>
                    <a:pt x="41" y="187"/>
                  </a:cubicBezTo>
                  <a:cubicBezTo>
                    <a:pt x="9" y="156"/>
                    <a:pt x="0" y="109"/>
                    <a:pt x="17" y="68"/>
                  </a:cubicBezTo>
                  <a:cubicBezTo>
                    <a:pt x="34" y="27"/>
                    <a:pt x="74" y="0"/>
                    <a:pt x="118" y="0"/>
                  </a:cubicBezTo>
                  <a:cubicBezTo>
                    <a:pt x="179" y="0"/>
                    <a:pt x="228" y="49"/>
                    <a:pt x="228" y="110"/>
                  </a:cubicBezTo>
                  <a:cubicBezTo>
                    <a:pt x="228" y="110"/>
                    <a:pt x="228" y="110"/>
                    <a:pt x="228" y="110"/>
                  </a:cubicBezTo>
                  <a:cubicBezTo>
                    <a:pt x="228" y="154"/>
                    <a:pt x="201" y="194"/>
                    <a:pt x="160" y="211"/>
                  </a:cubicBezTo>
                  <a:cubicBezTo>
                    <a:pt x="147" y="217"/>
                    <a:pt x="132" y="219"/>
                    <a:pt x="118" y="219"/>
                  </a:cubicBezTo>
                  <a:close/>
                  <a:moveTo>
                    <a:pt x="118" y="24"/>
                  </a:moveTo>
                  <a:cubicBezTo>
                    <a:pt x="84" y="24"/>
                    <a:pt x="53" y="45"/>
                    <a:pt x="39" y="77"/>
                  </a:cubicBezTo>
                  <a:cubicBezTo>
                    <a:pt x="26" y="109"/>
                    <a:pt x="33" y="146"/>
                    <a:pt x="58" y="170"/>
                  </a:cubicBezTo>
                  <a:cubicBezTo>
                    <a:pt x="82" y="195"/>
                    <a:pt x="119" y="202"/>
                    <a:pt x="151" y="189"/>
                  </a:cubicBezTo>
                  <a:cubicBezTo>
                    <a:pt x="183" y="175"/>
                    <a:pt x="204" y="144"/>
                    <a:pt x="204" y="110"/>
                  </a:cubicBezTo>
                  <a:cubicBezTo>
                    <a:pt x="204" y="110"/>
                    <a:pt x="204" y="110"/>
                    <a:pt x="204" y="110"/>
                  </a:cubicBezTo>
                  <a:cubicBezTo>
                    <a:pt x="204" y="63"/>
                    <a:pt x="165" y="24"/>
                    <a:pt x="118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Freeform 59">
              <a:extLst>
                <a:ext uri="{FF2B5EF4-FFF2-40B4-BE49-F238E27FC236}">
                  <a16:creationId xmlns:a16="http://schemas.microsoft.com/office/drawing/2014/main" id="{9FD7B48E-889E-D198-A105-FD3A0A00555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913" y="3411538"/>
              <a:ext cx="471488" cy="312738"/>
            </a:xfrm>
            <a:custGeom>
              <a:avLst/>
              <a:gdLst>
                <a:gd name="T0" fmla="*/ 14 w 626"/>
                <a:gd name="T1" fmla="*/ 415 h 415"/>
                <a:gd name="T2" fmla="*/ 4 w 626"/>
                <a:gd name="T3" fmla="*/ 410 h 415"/>
                <a:gd name="T4" fmla="*/ 7 w 626"/>
                <a:gd name="T5" fmla="*/ 393 h 415"/>
                <a:gd name="T6" fmla="*/ 605 w 626"/>
                <a:gd name="T7" fmla="*/ 3 h 415"/>
                <a:gd name="T8" fmla="*/ 622 w 626"/>
                <a:gd name="T9" fmla="*/ 7 h 415"/>
                <a:gd name="T10" fmla="*/ 618 w 626"/>
                <a:gd name="T11" fmla="*/ 24 h 415"/>
                <a:gd name="T12" fmla="*/ 21 w 626"/>
                <a:gd name="T13" fmla="*/ 414 h 415"/>
                <a:gd name="T14" fmla="*/ 14 w 626"/>
                <a:gd name="T15" fmla="*/ 41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6" h="415">
                  <a:moveTo>
                    <a:pt x="14" y="415"/>
                  </a:moveTo>
                  <a:cubicBezTo>
                    <a:pt x="10" y="415"/>
                    <a:pt x="6" y="414"/>
                    <a:pt x="4" y="410"/>
                  </a:cubicBezTo>
                  <a:cubicBezTo>
                    <a:pt x="0" y="405"/>
                    <a:pt x="2" y="397"/>
                    <a:pt x="7" y="393"/>
                  </a:cubicBezTo>
                  <a:cubicBezTo>
                    <a:pt x="605" y="3"/>
                    <a:pt x="605" y="3"/>
                    <a:pt x="605" y="3"/>
                  </a:cubicBezTo>
                  <a:cubicBezTo>
                    <a:pt x="611" y="0"/>
                    <a:pt x="618" y="1"/>
                    <a:pt x="622" y="7"/>
                  </a:cubicBezTo>
                  <a:cubicBezTo>
                    <a:pt x="626" y="13"/>
                    <a:pt x="624" y="20"/>
                    <a:pt x="618" y="24"/>
                  </a:cubicBezTo>
                  <a:cubicBezTo>
                    <a:pt x="21" y="414"/>
                    <a:pt x="21" y="414"/>
                    <a:pt x="21" y="414"/>
                  </a:cubicBezTo>
                  <a:cubicBezTo>
                    <a:pt x="19" y="415"/>
                    <a:pt x="16" y="415"/>
                    <a:pt x="14" y="4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8" name="Title 27">
            <a:extLst>
              <a:ext uri="{FF2B5EF4-FFF2-40B4-BE49-F238E27FC236}">
                <a16:creationId xmlns:a16="http://schemas.microsoft.com/office/drawing/2014/main" id="{803B29C4-E720-07AE-6DB3-DF3A1ECF9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Privilege Account Compromise and Business Impact</a:t>
            </a:r>
          </a:p>
        </p:txBody>
      </p:sp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B0DBADC8-1B5F-60E6-78CB-BD8375BBBF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D05EC4-453C-77DE-C7AF-4D25383F9982}"/>
              </a:ext>
            </a:extLst>
          </p:cNvPr>
          <p:cNvSpPr txBox="1"/>
          <p:nvPr/>
        </p:nvSpPr>
        <p:spPr>
          <a:xfrm>
            <a:off x="430034" y="558559"/>
            <a:ext cx="8302979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4E84C4"/>
                </a:solidFill>
                <a:latin typeface="+mj-lt"/>
              </a:rPr>
              <a:t>How Privilege Accounts get compromise?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Shared administrative accounts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Hard-coded passwords in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Excessive standing privileges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Lack of session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Poor password hygiene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+mj-lt"/>
            </a:endParaRPr>
          </a:p>
          <a:p>
            <a:r>
              <a:rPr lang="en-US" sz="1600" dirty="0">
                <a:solidFill>
                  <a:srgbClr val="4E84C4"/>
                </a:solidFill>
                <a:latin typeface="+mj-lt"/>
              </a:rPr>
              <a:t>Business Impact of Poor Privileged Access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Business needs to pay ransomware to attackers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Business disruption, reputation damage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Regulatory fines: GDPR, HIPAA, SOX compliance violations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System downtime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Loss of customer trust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Competitive disadvantage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Employee productivity loss</a:t>
            </a:r>
          </a:p>
          <a:p>
            <a:endParaRPr lang="en-US" sz="1600" dirty="0">
              <a:solidFill>
                <a:srgbClr val="4E84C4"/>
              </a:solidFill>
              <a:latin typeface="+mj-lt"/>
            </a:endParaRPr>
          </a:p>
          <a:p>
            <a:endParaRPr lang="en-GB" sz="1600" dirty="0">
              <a:latin typeface="+mj-lt"/>
            </a:endParaRPr>
          </a:p>
        </p:txBody>
      </p:sp>
      <p:pic>
        <p:nvPicPr>
          <p:cNvPr id="4098" name="Picture 2" descr="Red arrow drops down and dollar bills ...">
            <a:extLst>
              <a:ext uri="{FF2B5EF4-FFF2-40B4-BE49-F238E27FC236}">
                <a16:creationId xmlns:a16="http://schemas.microsoft.com/office/drawing/2014/main" id="{8E6F2A30-DB11-A61D-5F32-2B1BAC58A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8423" y="220528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5095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6D024-7F79-105F-EDCD-4F0EE9879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8C732185-FE23-5760-8355-796CDFE39AAA}"/>
              </a:ext>
            </a:extLst>
          </p:cNvPr>
          <p:cNvGrpSpPr/>
          <p:nvPr/>
        </p:nvGrpSpPr>
        <p:grpSpPr>
          <a:xfrm>
            <a:off x="1646076" y="4029452"/>
            <a:ext cx="570912" cy="419326"/>
            <a:chOff x="6759575" y="3000375"/>
            <a:chExt cx="906463" cy="746125"/>
          </a:xfrm>
          <a:solidFill>
            <a:srgbClr val="F4F3F9"/>
          </a:solidFill>
        </p:grpSpPr>
        <p:sp>
          <p:nvSpPr>
            <p:cNvPr id="50" name="Freeform 55">
              <a:extLst>
                <a:ext uri="{FF2B5EF4-FFF2-40B4-BE49-F238E27FC236}">
                  <a16:creationId xmlns:a16="http://schemas.microsoft.com/office/drawing/2014/main" id="{7A244E7F-B720-DC41-2634-9FB4949FF1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1400" y="3000375"/>
              <a:ext cx="274638" cy="358775"/>
            </a:xfrm>
            <a:custGeom>
              <a:avLst/>
              <a:gdLst>
                <a:gd name="T0" fmla="*/ 182 w 364"/>
                <a:gd name="T1" fmla="*/ 476 h 476"/>
                <a:gd name="T2" fmla="*/ 152 w 364"/>
                <a:gd name="T3" fmla="*/ 462 h 476"/>
                <a:gd name="T4" fmla="*/ 0 w 364"/>
                <a:gd name="T5" fmla="*/ 182 h 476"/>
                <a:gd name="T6" fmla="*/ 53 w 364"/>
                <a:gd name="T7" fmla="*/ 53 h 476"/>
                <a:gd name="T8" fmla="*/ 182 w 364"/>
                <a:gd name="T9" fmla="*/ 0 h 476"/>
                <a:gd name="T10" fmla="*/ 182 w 364"/>
                <a:gd name="T11" fmla="*/ 0 h 476"/>
                <a:gd name="T12" fmla="*/ 364 w 364"/>
                <a:gd name="T13" fmla="*/ 182 h 476"/>
                <a:gd name="T14" fmla="*/ 212 w 364"/>
                <a:gd name="T15" fmla="*/ 462 h 476"/>
                <a:gd name="T16" fmla="*/ 182 w 364"/>
                <a:gd name="T17" fmla="*/ 476 h 476"/>
                <a:gd name="T18" fmla="*/ 182 w 364"/>
                <a:gd name="T19" fmla="*/ 24 h 476"/>
                <a:gd name="T20" fmla="*/ 70 w 364"/>
                <a:gd name="T21" fmla="*/ 70 h 476"/>
                <a:gd name="T22" fmla="*/ 24 w 364"/>
                <a:gd name="T23" fmla="*/ 182 h 476"/>
                <a:gd name="T24" fmla="*/ 171 w 364"/>
                <a:gd name="T25" fmla="*/ 447 h 476"/>
                <a:gd name="T26" fmla="*/ 182 w 364"/>
                <a:gd name="T27" fmla="*/ 452 h 476"/>
                <a:gd name="T28" fmla="*/ 193 w 364"/>
                <a:gd name="T29" fmla="*/ 447 h 476"/>
                <a:gd name="T30" fmla="*/ 340 w 364"/>
                <a:gd name="T31" fmla="*/ 182 h 476"/>
                <a:gd name="T32" fmla="*/ 182 w 364"/>
                <a:gd name="T33" fmla="*/ 24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4" h="476">
                  <a:moveTo>
                    <a:pt x="182" y="476"/>
                  </a:moveTo>
                  <a:cubicBezTo>
                    <a:pt x="170" y="476"/>
                    <a:pt x="159" y="471"/>
                    <a:pt x="152" y="462"/>
                  </a:cubicBezTo>
                  <a:cubicBezTo>
                    <a:pt x="95" y="389"/>
                    <a:pt x="0" y="257"/>
                    <a:pt x="0" y="182"/>
                  </a:cubicBezTo>
                  <a:cubicBezTo>
                    <a:pt x="0" y="133"/>
                    <a:pt x="19" y="87"/>
                    <a:pt x="53" y="53"/>
                  </a:cubicBezTo>
                  <a:cubicBezTo>
                    <a:pt x="87" y="19"/>
                    <a:pt x="133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282" y="0"/>
                    <a:pt x="364" y="81"/>
                    <a:pt x="364" y="182"/>
                  </a:cubicBezTo>
                  <a:cubicBezTo>
                    <a:pt x="364" y="257"/>
                    <a:pt x="269" y="389"/>
                    <a:pt x="212" y="462"/>
                  </a:cubicBezTo>
                  <a:cubicBezTo>
                    <a:pt x="205" y="471"/>
                    <a:pt x="194" y="476"/>
                    <a:pt x="182" y="476"/>
                  </a:cubicBezTo>
                  <a:close/>
                  <a:moveTo>
                    <a:pt x="182" y="24"/>
                  </a:moveTo>
                  <a:cubicBezTo>
                    <a:pt x="140" y="24"/>
                    <a:pt x="100" y="40"/>
                    <a:pt x="70" y="70"/>
                  </a:cubicBezTo>
                  <a:cubicBezTo>
                    <a:pt x="40" y="100"/>
                    <a:pt x="24" y="140"/>
                    <a:pt x="24" y="182"/>
                  </a:cubicBezTo>
                  <a:cubicBezTo>
                    <a:pt x="24" y="254"/>
                    <a:pt x="136" y="403"/>
                    <a:pt x="171" y="447"/>
                  </a:cubicBezTo>
                  <a:cubicBezTo>
                    <a:pt x="174" y="450"/>
                    <a:pt x="178" y="452"/>
                    <a:pt x="182" y="452"/>
                  </a:cubicBezTo>
                  <a:cubicBezTo>
                    <a:pt x="186" y="452"/>
                    <a:pt x="190" y="450"/>
                    <a:pt x="193" y="447"/>
                  </a:cubicBezTo>
                  <a:cubicBezTo>
                    <a:pt x="285" y="329"/>
                    <a:pt x="340" y="230"/>
                    <a:pt x="340" y="182"/>
                  </a:cubicBezTo>
                  <a:cubicBezTo>
                    <a:pt x="340" y="95"/>
                    <a:pt x="269" y="24"/>
                    <a:pt x="18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Freeform 56">
              <a:extLst>
                <a:ext uri="{FF2B5EF4-FFF2-40B4-BE49-F238E27FC236}">
                  <a16:creationId xmlns:a16="http://schemas.microsoft.com/office/drawing/2014/main" id="{470BDAEF-B62C-B5D7-F288-4F8348D328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0775" y="3079750"/>
              <a:ext cx="114300" cy="115888"/>
            </a:xfrm>
            <a:custGeom>
              <a:avLst/>
              <a:gdLst>
                <a:gd name="T0" fmla="*/ 76 w 152"/>
                <a:gd name="T1" fmla="*/ 152 h 152"/>
                <a:gd name="T2" fmla="*/ 0 w 152"/>
                <a:gd name="T3" fmla="*/ 76 h 152"/>
                <a:gd name="T4" fmla="*/ 76 w 152"/>
                <a:gd name="T5" fmla="*/ 0 h 152"/>
                <a:gd name="T6" fmla="*/ 76 w 152"/>
                <a:gd name="T7" fmla="*/ 0 h 152"/>
                <a:gd name="T8" fmla="*/ 130 w 152"/>
                <a:gd name="T9" fmla="*/ 22 h 152"/>
                <a:gd name="T10" fmla="*/ 152 w 152"/>
                <a:gd name="T11" fmla="*/ 76 h 152"/>
                <a:gd name="T12" fmla="*/ 152 w 152"/>
                <a:gd name="T13" fmla="*/ 76 h 152"/>
                <a:gd name="T14" fmla="*/ 76 w 152"/>
                <a:gd name="T15" fmla="*/ 152 h 152"/>
                <a:gd name="T16" fmla="*/ 76 w 152"/>
                <a:gd name="T17" fmla="*/ 24 h 152"/>
                <a:gd name="T18" fmla="*/ 76 w 152"/>
                <a:gd name="T19" fmla="*/ 24 h 152"/>
                <a:gd name="T20" fmla="*/ 24 w 152"/>
                <a:gd name="T21" fmla="*/ 76 h 152"/>
                <a:gd name="T22" fmla="*/ 76 w 152"/>
                <a:gd name="T23" fmla="*/ 128 h 152"/>
                <a:gd name="T24" fmla="*/ 128 w 152"/>
                <a:gd name="T25" fmla="*/ 76 h 152"/>
                <a:gd name="T26" fmla="*/ 128 w 152"/>
                <a:gd name="T27" fmla="*/ 76 h 152"/>
                <a:gd name="T28" fmla="*/ 113 w 152"/>
                <a:gd name="T29" fmla="*/ 39 h 152"/>
                <a:gd name="T30" fmla="*/ 76 w 152"/>
                <a:gd name="T31" fmla="*/ 2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2" h="152">
                  <a:moveTo>
                    <a:pt x="76" y="152"/>
                  </a:moveTo>
                  <a:cubicBezTo>
                    <a:pt x="34" y="152"/>
                    <a:pt x="0" y="118"/>
                    <a:pt x="0" y="76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6" y="0"/>
                    <a:pt x="115" y="8"/>
                    <a:pt x="130" y="22"/>
                  </a:cubicBezTo>
                  <a:cubicBezTo>
                    <a:pt x="144" y="37"/>
                    <a:pt x="152" y="56"/>
                    <a:pt x="152" y="76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118"/>
                    <a:pt x="118" y="152"/>
                    <a:pt x="76" y="152"/>
                  </a:cubicBezTo>
                  <a:close/>
                  <a:moveTo>
                    <a:pt x="76" y="24"/>
                  </a:moveTo>
                  <a:cubicBezTo>
                    <a:pt x="76" y="24"/>
                    <a:pt x="76" y="24"/>
                    <a:pt x="76" y="24"/>
                  </a:cubicBezTo>
                  <a:cubicBezTo>
                    <a:pt x="47" y="24"/>
                    <a:pt x="24" y="47"/>
                    <a:pt x="24" y="76"/>
                  </a:cubicBezTo>
                  <a:cubicBezTo>
                    <a:pt x="24" y="104"/>
                    <a:pt x="47" y="128"/>
                    <a:pt x="76" y="128"/>
                  </a:cubicBezTo>
                  <a:cubicBezTo>
                    <a:pt x="104" y="128"/>
                    <a:pt x="128" y="104"/>
                    <a:pt x="128" y="76"/>
                  </a:cubicBezTo>
                  <a:cubicBezTo>
                    <a:pt x="128" y="76"/>
                    <a:pt x="128" y="76"/>
                    <a:pt x="128" y="76"/>
                  </a:cubicBezTo>
                  <a:cubicBezTo>
                    <a:pt x="128" y="62"/>
                    <a:pt x="122" y="49"/>
                    <a:pt x="113" y="39"/>
                  </a:cubicBezTo>
                  <a:cubicBezTo>
                    <a:pt x="103" y="29"/>
                    <a:pt x="90" y="24"/>
                    <a:pt x="76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Freeform 57">
              <a:extLst>
                <a:ext uri="{FF2B5EF4-FFF2-40B4-BE49-F238E27FC236}">
                  <a16:creationId xmlns:a16="http://schemas.microsoft.com/office/drawing/2014/main" id="{0AC132A1-A4BA-D33E-AD05-08A867462B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9575" y="3232150"/>
              <a:ext cx="361950" cy="514350"/>
            </a:xfrm>
            <a:custGeom>
              <a:avLst/>
              <a:gdLst>
                <a:gd name="T0" fmla="*/ 240 w 480"/>
                <a:gd name="T1" fmla="*/ 681 h 681"/>
                <a:gd name="T2" fmla="*/ 208 w 480"/>
                <a:gd name="T3" fmla="*/ 663 h 681"/>
                <a:gd name="T4" fmla="*/ 16 w 480"/>
                <a:gd name="T5" fmla="*/ 270 h 681"/>
                <a:gd name="T6" fmla="*/ 61 w 480"/>
                <a:gd name="T7" fmla="*/ 80 h 681"/>
                <a:gd name="T8" fmla="*/ 240 w 480"/>
                <a:gd name="T9" fmla="*/ 5 h 681"/>
                <a:gd name="T10" fmla="*/ 419 w 480"/>
                <a:gd name="T11" fmla="*/ 80 h 681"/>
                <a:gd name="T12" fmla="*/ 465 w 480"/>
                <a:gd name="T13" fmla="*/ 270 h 681"/>
                <a:gd name="T14" fmla="*/ 272 w 480"/>
                <a:gd name="T15" fmla="*/ 663 h 681"/>
                <a:gd name="T16" fmla="*/ 240 w 480"/>
                <a:gd name="T17" fmla="*/ 681 h 681"/>
                <a:gd name="T18" fmla="*/ 240 w 480"/>
                <a:gd name="T19" fmla="*/ 681 h 681"/>
                <a:gd name="T20" fmla="*/ 226 w 480"/>
                <a:gd name="T21" fmla="*/ 28 h 681"/>
                <a:gd name="T22" fmla="*/ 80 w 480"/>
                <a:gd name="T23" fmla="*/ 96 h 681"/>
                <a:gd name="T24" fmla="*/ 39 w 480"/>
                <a:gd name="T25" fmla="*/ 264 h 681"/>
                <a:gd name="T26" fmla="*/ 39 w 480"/>
                <a:gd name="T27" fmla="*/ 265 h 681"/>
                <a:gd name="T28" fmla="*/ 228 w 480"/>
                <a:gd name="T29" fmla="*/ 650 h 681"/>
                <a:gd name="T30" fmla="*/ 240 w 480"/>
                <a:gd name="T31" fmla="*/ 657 h 681"/>
                <a:gd name="T32" fmla="*/ 240 w 480"/>
                <a:gd name="T33" fmla="*/ 657 h 681"/>
                <a:gd name="T34" fmla="*/ 252 w 480"/>
                <a:gd name="T35" fmla="*/ 650 h 681"/>
                <a:gd name="T36" fmla="*/ 441 w 480"/>
                <a:gd name="T37" fmla="*/ 265 h 681"/>
                <a:gd name="T38" fmla="*/ 441 w 480"/>
                <a:gd name="T39" fmla="*/ 264 h 681"/>
                <a:gd name="T40" fmla="*/ 401 w 480"/>
                <a:gd name="T41" fmla="*/ 96 h 681"/>
                <a:gd name="T42" fmla="*/ 241 w 480"/>
                <a:gd name="T43" fmla="*/ 29 h 681"/>
                <a:gd name="T44" fmla="*/ 240 w 480"/>
                <a:gd name="T45" fmla="*/ 29 h 681"/>
                <a:gd name="T46" fmla="*/ 239 w 480"/>
                <a:gd name="T47" fmla="*/ 29 h 681"/>
                <a:gd name="T48" fmla="*/ 226 w 480"/>
                <a:gd name="T49" fmla="*/ 28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0" h="681">
                  <a:moveTo>
                    <a:pt x="240" y="681"/>
                  </a:moveTo>
                  <a:cubicBezTo>
                    <a:pt x="227" y="681"/>
                    <a:pt x="214" y="674"/>
                    <a:pt x="208" y="663"/>
                  </a:cubicBezTo>
                  <a:cubicBezTo>
                    <a:pt x="156" y="580"/>
                    <a:pt x="35" y="376"/>
                    <a:pt x="16" y="270"/>
                  </a:cubicBezTo>
                  <a:cubicBezTo>
                    <a:pt x="0" y="203"/>
                    <a:pt x="17" y="132"/>
                    <a:pt x="61" y="80"/>
                  </a:cubicBezTo>
                  <a:cubicBezTo>
                    <a:pt x="105" y="28"/>
                    <a:pt x="172" y="0"/>
                    <a:pt x="240" y="5"/>
                  </a:cubicBezTo>
                  <a:cubicBezTo>
                    <a:pt x="308" y="0"/>
                    <a:pt x="375" y="28"/>
                    <a:pt x="419" y="80"/>
                  </a:cubicBezTo>
                  <a:cubicBezTo>
                    <a:pt x="464" y="132"/>
                    <a:pt x="480" y="203"/>
                    <a:pt x="465" y="270"/>
                  </a:cubicBezTo>
                  <a:cubicBezTo>
                    <a:pt x="449" y="362"/>
                    <a:pt x="325" y="575"/>
                    <a:pt x="272" y="663"/>
                  </a:cubicBezTo>
                  <a:cubicBezTo>
                    <a:pt x="266" y="674"/>
                    <a:pt x="253" y="681"/>
                    <a:pt x="240" y="681"/>
                  </a:cubicBezTo>
                  <a:cubicBezTo>
                    <a:pt x="240" y="681"/>
                    <a:pt x="240" y="681"/>
                    <a:pt x="240" y="681"/>
                  </a:cubicBezTo>
                  <a:close/>
                  <a:moveTo>
                    <a:pt x="226" y="28"/>
                  </a:moveTo>
                  <a:cubicBezTo>
                    <a:pt x="170" y="28"/>
                    <a:pt x="116" y="53"/>
                    <a:pt x="80" y="96"/>
                  </a:cubicBezTo>
                  <a:cubicBezTo>
                    <a:pt x="40" y="142"/>
                    <a:pt x="25" y="205"/>
                    <a:pt x="39" y="264"/>
                  </a:cubicBezTo>
                  <a:cubicBezTo>
                    <a:pt x="39" y="265"/>
                    <a:pt x="39" y="265"/>
                    <a:pt x="39" y="265"/>
                  </a:cubicBezTo>
                  <a:cubicBezTo>
                    <a:pt x="58" y="368"/>
                    <a:pt x="178" y="569"/>
                    <a:pt x="228" y="650"/>
                  </a:cubicBezTo>
                  <a:cubicBezTo>
                    <a:pt x="231" y="655"/>
                    <a:pt x="235" y="657"/>
                    <a:pt x="240" y="657"/>
                  </a:cubicBezTo>
                  <a:cubicBezTo>
                    <a:pt x="240" y="657"/>
                    <a:pt x="240" y="657"/>
                    <a:pt x="240" y="657"/>
                  </a:cubicBezTo>
                  <a:cubicBezTo>
                    <a:pt x="245" y="657"/>
                    <a:pt x="249" y="655"/>
                    <a:pt x="252" y="650"/>
                  </a:cubicBezTo>
                  <a:cubicBezTo>
                    <a:pt x="304" y="564"/>
                    <a:pt x="426" y="353"/>
                    <a:pt x="441" y="265"/>
                  </a:cubicBezTo>
                  <a:cubicBezTo>
                    <a:pt x="441" y="264"/>
                    <a:pt x="441" y="264"/>
                    <a:pt x="441" y="264"/>
                  </a:cubicBezTo>
                  <a:cubicBezTo>
                    <a:pt x="455" y="205"/>
                    <a:pt x="440" y="142"/>
                    <a:pt x="401" y="96"/>
                  </a:cubicBezTo>
                  <a:cubicBezTo>
                    <a:pt x="362" y="49"/>
                    <a:pt x="302" y="24"/>
                    <a:pt x="241" y="29"/>
                  </a:cubicBezTo>
                  <a:cubicBezTo>
                    <a:pt x="240" y="29"/>
                    <a:pt x="240" y="29"/>
                    <a:pt x="240" y="29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35" y="28"/>
                    <a:pt x="230" y="28"/>
                    <a:pt x="226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Freeform 58">
              <a:extLst>
                <a:ext uri="{FF2B5EF4-FFF2-40B4-BE49-F238E27FC236}">
                  <a16:creationId xmlns:a16="http://schemas.microsoft.com/office/drawing/2014/main" id="{8F46188A-E69E-E114-EA4B-32529A69C9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1650" y="3314700"/>
              <a:ext cx="171450" cy="165100"/>
            </a:xfrm>
            <a:custGeom>
              <a:avLst/>
              <a:gdLst>
                <a:gd name="T0" fmla="*/ 118 w 228"/>
                <a:gd name="T1" fmla="*/ 219 h 219"/>
                <a:gd name="T2" fmla="*/ 41 w 228"/>
                <a:gd name="T3" fmla="*/ 187 h 219"/>
                <a:gd name="T4" fmla="*/ 17 w 228"/>
                <a:gd name="T5" fmla="*/ 68 h 219"/>
                <a:gd name="T6" fmla="*/ 118 w 228"/>
                <a:gd name="T7" fmla="*/ 0 h 219"/>
                <a:gd name="T8" fmla="*/ 228 w 228"/>
                <a:gd name="T9" fmla="*/ 110 h 219"/>
                <a:gd name="T10" fmla="*/ 228 w 228"/>
                <a:gd name="T11" fmla="*/ 110 h 219"/>
                <a:gd name="T12" fmla="*/ 160 w 228"/>
                <a:gd name="T13" fmla="*/ 211 h 219"/>
                <a:gd name="T14" fmla="*/ 118 w 228"/>
                <a:gd name="T15" fmla="*/ 219 h 219"/>
                <a:gd name="T16" fmla="*/ 118 w 228"/>
                <a:gd name="T17" fmla="*/ 24 h 219"/>
                <a:gd name="T18" fmla="*/ 39 w 228"/>
                <a:gd name="T19" fmla="*/ 77 h 219"/>
                <a:gd name="T20" fmla="*/ 58 w 228"/>
                <a:gd name="T21" fmla="*/ 170 h 219"/>
                <a:gd name="T22" fmla="*/ 151 w 228"/>
                <a:gd name="T23" fmla="*/ 189 h 219"/>
                <a:gd name="T24" fmla="*/ 204 w 228"/>
                <a:gd name="T25" fmla="*/ 110 h 219"/>
                <a:gd name="T26" fmla="*/ 204 w 228"/>
                <a:gd name="T27" fmla="*/ 110 h 219"/>
                <a:gd name="T28" fmla="*/ 118 w 228"/>
                <a:gd name="T29" fmla="*/ 24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19">
                  <a:moveTo>
                    <a:pt x="118" y="219"/>
                  </a:moveTo>
                  <a:cubicBezTo>
                    <a:pt x="90" y="219"/>
                    <a:pt x="62" y="208"/>
                    <a:pt x="41" y="187"/>
                  </a:cubicBezTo>
                  <a:cubicBezTo>
                    <a:pt x="9" y="156"/>
                    <a:pt x="0" y="109"/>
                    <a:pt x="17" y="68"/>
                  </a:cubicBezTo>
                  <a:cubicBezTo>
                    <a:pt x="34" y="27"/>
                    <a:pt x="74" y="0"/>
                    <a:pt x="118" y="0"/>
                  </a:cubicBezTo>
                  <a:cubicBezTo>
                    <a:pt x="179" y="0"/>
                    <a:pt x="228" y="49"/>
                    <a:pt x="228" y="110"/>
                  </a:cubicBezTo>
                  <a:cubicBezTo>
                    <a:pt x="228" y="110"/>
                    <a:pt x="228" y="110"/>
                    <a:pt x="228" y="110"/>
                  </a:cubicBezTo>
                  <a:cubicBezTo>
                    <a:pt x="228" y="154"/>
                    <a:pt x="201" y="194"/>
                    <a:pt x="160" y="211"/>
                  </a:cubicBezTo>
                  <a:cubicBezTo>
                    <a:pt x="147" y="217"/>
                    <a:pt x="132" y="219"/>
                    <a:pt x="118" y="219"/>
                  </a:cubicBezTo>
                  <a:close/>
                  <a:moveTo>
                    <a:pt x="118" y="24"/>
                  </a:moveTo>
                  <a:cubicBezTo>
                    <a:pt x="84" y="24"/>
                    <a:pt x="53" y="45"/>
                    <a:pt x="39" y="77"/>
                  </a:cubicBezTo>
                  <a:cubicBezTo>
                    <a:pt x="26" y="109"/>
                    <a:pt x="33" y="146"/>
                    <a:pt x="58" y="170"/>
                  </a:cubicBezTo>
                  <a:cubicBezTo>
                    <a:pt x="82" y="195"/>
                    <a:pt x="119" y="202"/>
                    <a:pt x="151" y="189"/>
                  </a:cubicBezTo>
                  <a:cubicBezTo>
                    <a:pt x="183" y="175"/>
                    <a:pt x="204" y="144"/>
                    <a:pt x="204" y="110"/>
                  </a:cubicBezTo>
                  <a:cubicBezTo>
                    <a:pt x="204" y="110"/>
                    <a:pt x="204" y="110"/>
                    <a:pt x="204" y="110"/>
                  </a:cubicBezTo>
                  <a:cubicBezTo>
                    <a:pt x="204" y="63"/>
                    <a:pt x="165" y="24"/>
                    <a:pt x="118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Freeform 59">
              <a:extLst>
                <a:ext uri="{FF2B5EF4-FFF2-40B4-BE49-F238E27FC236}">
                  <a16:creationId xmlns:a16="http://schemas.microsoft.com/office/drawing/2014/main" id="{F3B4DC6F-6566-B97C-0119-105706C3F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913" y="3411538"/>
              <a:ext cx="471488" cy="312738"/>
            </a:xfrm>
            <a:custGeom>
              <a:avLst/>
              <a:gdLst>
                <a:gd name="T0" fmla="*/ 14 w 626"/>
                <a:gd name="T1" fmla="*/ 415 h 415"/>
                <a:gd name="T2" fmla="*/ 4 w 626"/>
                <a:gd name="T3" fmla="*/ 410 h 415"/>
                <a:gd name="T4" fmla="*/ 7 w 626"/>
                <a:gd name="T5" fmla="*/ 393 h 415"/>
                <a:gd name="T6" fmla="*/ 605 w 626"/>
                <a:gd name="T7" fmla="*/ 3 h 415"/>
                <a:gd name="T8" fmla="*/ 622 w 626"/>
                <a:gd name="T9" fmla="*/ 7 h 415"/>
                <a:gd name="T10" fmla="*/ 618 w 626"/>
                <a:gd name="T11" fmla="*/ 24 h 415"/>
                <a:gd name="T12" fmla="*/ 21 w 626"/>
                <a:gd name="T13" fmla="*/ 414 h 415"/>
                <a:gd name="T14" fmla="*/ 14 w 626"/>
                <a:gd name="T15" fmla="*/ 41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6" h="415">
                  <a:moveTo>
                    <a:pt x="14" y="415"/>
                  </a:moveTo>
                  <a:cubicBezTo>
                    <a:pt x="10" y="415"/>
                    <a:pt x="6" y="414"/>
                    <a:pt x="4" y="410"/>
                  </a:cubicBezTo>
                  <a:cubicBezTo>
                    <a:pt x="0" y="405"/>
                    <a:pt x="2" y="397"/>
                    <a:pt x="7" y="393"/>
                  </a:cubicBezTo>
                  <a:cubicBezTo>
                    <a:pt x="605" y="3"/>
                    <a:pt x="605" y="3"/>
                    <a:pt x="605" y="3"/>
                  </a:cubicBezTo>
                  <a:cubicBezTo>
                    <a:pt x="611" y="0"/>
                    <a:pt x="618" y="1"/>
                    <a:pt x="622" y="7"/>
                  </a:cubicBezTo>
                  <a:cubicBezTo>
                    <a:pt x="626" y="13"/>
                    <a:pt x="624" y="20"/>
                    <a:pt x="618" y="24"/>
                  </a:cubicBezTo>
                  <a:cubicBezTo>
                    <a:pt x="21" y="414"/>
                    <a:pt x="21" y="414"/>
                    <a:pt x="21" y="414"/>
                  </a:cubicBezTo>
                  <a:cubicBezTo>
                    <a:pt x="19" y="415"/>
                    <a:pt x="16" y="415"/>
                    <a:pt x="14" y="4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8" name="Title 27">
            <a:extLst>
              <a:ext uri="{FF2B5EF4-FFF2-40B4-BE49-F238E27FC236}">
                <a16:creationId xmlns:a16="http://schemas.microsoft.com/office/drawing/2014/main" id="{7944E854-E934-ED8C-5EEE-86877698A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Privileged Access Management Essentials</a:t>
            </a:r>
          </a:p>
        </p:txBody>
      </p:sp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2F637599-7EE6-81E2-679B-C482184CE4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D4AA5D-1579-479E-D74F-3462E3BA9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52" y="682582"/>
            <a:ext cx="7626961" cy="393952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5191AAE-386E-8B39-3BA2-0A09445ED34B}"/>
                  </a:ext>
                </a:extLst>
              </p14:cNvPr>
              <p14:cNvContentPartPr/>
              <p14:nvPr/>
            </p14:nvContentPartPr>
            <p14:xfrm>
              <a:off x="7396178" y="4583340"/>
              <a:ext cx="240840" cy="36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5191AAE-386E-8B39-3BA2-0A09445ED34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90058" y="4577220"/>
                <a:ext cx="25308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7A8C9BB-D19A-D2F1-E38B-D608BCBE34CD}"/>
                  </a:ext>
                </a:extLst>
              </p14:cNvPr>
              <p14:cNvContentPartPr/>
              <p14:nvPr/>
            </p14:nvContentPartPr>
            <p14:xfrm>
              <a:off x="7381778" y="4519620"/>
              <a:ext cx="653040" cy="38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7A8C9BB-D19A-D2F1-E38B-D608BCBE34C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18778" y="4456620"/>
                <a:ext cx="77868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8F04DCD-0108-5C31-2BD2-32BEA04EE078}"/>
                  </a:ext>
                </a:extLst>
              </p14:cNvPr>
              <p14:cNvContentPartPr/>
              <p14:nvPr/>
            </p14:nvContentPartPr>
            <p14:xfrm>
              <a:off x="7696058" y="4506300"/>
              <a:ext cx="733680" cy="2311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8F04DCD-0108-5C31-2BD2-32BEA04EE07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33058" y="4443660"/>
                <a:ext cx="859320" cy="35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B631B104-9803-698E-A79E-2D535E111EA3}"/>
              </a:ext>
            </a:extLst>
          </p:cNvPr>
          <p:cNvGrpSpPr/>
          <p:nvPr/>
        </p:nvGrpSpPr>
        <p:grpSpPr>
          <a:xfrm>
            <a:off x="652500" y="4528710"/>
            <a:ext cx="1256400" cy="100440"/>
            <a:chOff x="652500" y="4528710"/>
            <a:chExt cx="1256400" cy="10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E831C84-AB15-877D-15B3-809C2046686C}"/>
                    </a:ext>
                  </a:extLst>
                </p14:cNvPr>
                <p14:cNvContentPartPr/>
                <p14:nvPr/>
              </p14:nvContentPartPr>
              <p14:xfrm>
                <a:off x="652500" y="4528710"/>
                <a:ext cx="1256400" cy="61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E831C84-AB15-877D-15B3-809C2046686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89500" y="4465710"/>
                  <a:ext cx="13820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CCC9021-C6B5-EC75-AE06-6B671BC8BB87}"/>
                    </a:ext>
                  </a:extLst>
                </p14:cNvPr>
                <p14:cNvContentPartPr/>
                <p14:nvPr/>
              </p14:nvContentPartPr>
              <p14:xfrm>
                <a:off x="1338300" y="4624110"/>
                <a:ext cx="269280" cy="5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CCC9021-C6B5-EC75-AE06-6B671BC8BB8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75300" y="4561470"/>
                  <a:ext cx="394920" cy="130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27298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2C9F4-0E2A-BEF7-6748-411596CA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2EED74D2-177C-24FD-3DC7-5D98D2BADCE1}"/>
              </a:ext>
            </a:extLst>
          </p:cNvPr>
          <p:cNvGrpSpPr/>
          <p:nvPr/>
        </p:nvGrpSpPr>
        <p:grpSpPr>
          <a:xfrm>
            <a:off x="1646076" y="4029452"/>
            <a:ext cx="570912" cy="419326"/>
            <a:chOff x="6759575" y="3000375"/>
            <a:chExt cx="906463" cy="746125"/>
          </a:xfrm>
          <a:solidFill>
            <a:srgbClr val="F4F3F9"/>
          </a:solidFill>
        </p:grpSpPr>
        <p:sp>
          <p:nvSpPr>
            <p:cNvPr id="50" name="Freeform 55">
              <a:extLst>
                <a:ext uri="{FF2B5EF4-FFF2-40B4-BE49-F238E27FC236}">
                  <a16:creationId xmlns:a16="http://schemas.microsoft.com/office/drawing/2014/main" id="{E09FA341-FAA9-050B-1209-8666FAE0ED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1400" y="3000375"/>
              <a:ext cx="274638" cy="358775"/>
            </a:xfrm>
            <a:custGeom>
              <a:avLst/>
              <a:gdLst>
                <a:gd name="T0" fmla="*/ 182 w 364"/>
                <a:gd name="T1" fmla="*/ 476 h 476"/>
                <a:gd name="T2" fmla="*/ 152 w 364"/>
                <a:gd name="T3" fmla="*/ 462 h 476"/>
                <a:gd name="T4" fmla="*/ 0 w 364"/>
                <a:gd name="T5" fmla="*/ 182 h 476"/>
                <a:gd name="T6" fmla="*/ 53 w 364"/>
                <a:gd name="T7" fmla="*/ 53 h 476"/>
                <a:gd name="T8" fmla="*/ 182 w 364"/>
                <a:gd name="T9" fmla="*/ 0 h 476"/>
                <a:gd name="T10" fmla="*/ 182 w 364"/>
                <a:gd name="T11" fmla="*/ 0 h 476"/>
                <a:gd name="T12" fmla="*/ 364 w 364"/>
                <a:gd name="T13" fmla="*/ 182 h 476"/>
                <a:gd name="T14" fmla="*/ 212 w 364"/>
                <a:gd name="T15" fmla="*/ 462 h 476"/>
                <a:gd name="T16" fmla="*/ 182 w 364"/>
                <a:gd name="T17" fmla="*/ 476 h 476"/>
                <a:gd name="T18" fmla="*/ 182 w 364"/>
                <a:gd name="T19" fmla="*/ 24 h 476"/>
                <a:gd name="T20" fmla="*/ 70 w 364"/>
                <a:gd name="T21" fmla="*/ 70 h 476"/>
                <a:gd name="T22" fmla="*/ 24 w 364"/>
                <a:gd name="T23" fmla="*/ 182 h 476"/>
                <a:gd name="T24" fmla="*/ 171 w 364"/>
                <a:gd name="T25" fmla="*/ 447 h 476"/>
                <a:gd name="T26" fmla="*/ 182 w 364"/>
                <a:gd name="T27" fmla="*/ 452 h 476"/>
                <a:gd name="T28" fmla="*/ 193 w 364"/>
                <a:gd name="T29" fmla="*/ 447 h 476"/>
                <a:gd name="T30" fmla="*/ 340 w 364"/>
                <a:gd name="T31" fmla="*/ 182 h 476"/>
                <a:gd name="T32" fmla="*/ 182 w 364"/>
                <a:gd name="T33" fmla="*/ 24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4" h="476">
                  <a:moveTo>
                    <a:pt x="182" y="476"/>
                  </a:moveTo>
                  <a:cubicBezTo>
                    <a:pt x="170" y="476"/>
                    <a:pt x="159" y="471"/>
                    <a:pt x="152" y="462"/>
                  </a:cubicBezTo>
                  <a:cubicBezTo>
                    <a:pt x="95" y="389"/>
                    <a:pt x="0" y="257"/>
                    <a:pt x="0" y="182"/>
                  </a:cubicBezTo>
                  <a:cubicBezTo>
                    <a:pt x="0" y="133"/>
                    <a:pt x="19" y="87"/>
                    <a:pt x="53" y="53"/>
                  </a:cubicBezTo>
                  <a:cubicBezTo>
                    <a:pt x="87" y="19"/>
                    <a:pt x="133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282" y="0"/>
                    <a:pt x="364" y="81"/>
                    <a:pt x="364" y="182"/>
                  </a:cubicBezTo>
                  <a:cubicBezTo>
                    <a:pt x="364" y="257"/>
                    <a:pt x="269" y="389"/>
                    <a:pt x="212" y="462"/>
                  </a:cubicBezTo>
                  <a:cubicBezTo>
                    <a:pt x="205" y="471"/>
                    <a:pt x="194" y="476"/>
                    <a:pt x="182" y="476"/>
                  </a:cubicBezTo>
                  <a:close/>
                  <a:moveTo>
                    <a:pt x="182" y="24"/>
                  </a:moveTo>
                  <a:cubicBezTo>
                    <a:pt x="140" y="24"/>
                    <a:pt x="100" y="40"/>
                    <a:pt x="70" y="70"/>
                  </a:cubicBezTo>
                  <a:cubicBezTo>
                    <a:pt x="40" y="100"/>
                    <a:pt x="24" y="140"/>
                    <a:pt x="24" y="182"/>
                  </a:cubicBezTo>
                  <a:cubicBezTo>
                    <a:pt x="24" y="254"/>
                    <a:pt x="136" y="403"/>
                    <a:pt x="171" y="447"/>
                  </a:cubicBezTo>
                  <a:cubicBezTo>
                    <a:pt x="174" y="450"/>
                    <a:pt x="178" y="452"/>
                    <a:pt x="182" y="452"/>
                  </a:cubicBezTo>
                  <a:cubicBezTo>
                    <a:pt x="186" y="452"/>
                    <a:pt x="190" y="450"/>
                    <a:pt x="193" y="447"/>
                  </a:cubicBezTo>
                  <a:cubicBezTo>
                    <a:pt x="285" y="329"/>
                    <a:pt x="340" y="230"/>
                    <a:pt x="340" y="182"/>
                  </a:cubicBezTo>
                  <a:cubicBezTo>
                    <a:pt x="340" y="95"/>
                    <a:pt x="269" y="24"/>
                    <a:pt x="18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Freeform 56">
              <a:extLst>
                <a:ext uri="{FF2B5EF4-FFF2-40B4-BE49-F238E27FC236}">
                  <a16:creationId xmlns:a16="http://schemas.microsoft.com/office/drawing/2014/main" id="{B0018D06-35B1-6090-C727-EC10B128B2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0775" y="3079750"/>
              <a:ext cx="114300" cy="115888"/>
            </a:xfrm>
            <a:custGeom>
              <a:avLst/>
              <a:gdLst>
                <a:gd name="T0" fmla="*/ 76 w 152"/>
                <a:gd name="T1" fmla="*/ 152 h 152"/>
                <a:gd name="T2" fmla="*/ 0 w 152"/>
                <a:gd name="T3" fmla="*/ 76 h 152"/>
                <a:gd name="T4" fmla="*/ 76 w 152"/>
                <a:gd name="T5" fmla="*/ 0 h 152"/>
                <a:gd name="T6" fmla="*/ 76 w 152"/>
                <a:gd name="T7" fmla="*/ 0 h 152"/>
                <a:gd name="T8" fmla="*/ 130 w 152"/>
                <a:gd name="T9" fmla="*/ 22 h 152"/>
                <a:gd name="T10" fmla="*/ 152 w 152"/>
                <a:gd name="T11" fmla="*/ 76 h 152"/>
                <a:gd name="T12" fmla="*/ 152 w 152"/>
                <a:gd name="T13" fmla="*/ 76 h 152"/>
                <a:gd name="T14" fmla="*/ 76 w 152"/>
                <a:gd name="T15" fmla="*/ 152 h 152"/>
                <a:gd name="T16" fmla="*/ 76 w 152"/>
                <a:gd name="T17" fmla="*/ 24 h 152"/>
                <a:gd name="T18" fmla="*/ 76 w 152"/>
                <a:gd name="T19" fmla="*/ 24 h 152"/>
                <a:gd name="T20" fmla="*/ 24 w 152"/>
                <a:gd name="T21" fmla="*/ 76 h 152"/>
                <a:gd name="T22" fmla="*/ 76 w 152"/>
                <a:gd name="T23" fmla="*/ 128 h 152"/>
                <a:gd name="T24" fmla="*/ 128 w 152"/>
                <a:gd name="T25" fmla="*/ 76 h 152"/>
                <a:gd name="T26" fmla="*/ 128 w 152"/>
                <a:gd name="T27" fmla="*/ 76 h 152"/>
                <a:gd name="T28" fmla="*/ 113 w 152"/>
                <a:gd name="T29" fmla="*/ 39 h 152"/>
                <a:gd name="T30" fmla="*/ 76 w 152"/>
                <a:gd name="T31" fmla="*/ 2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2" h="152">
                  <a:moveTo>
                    <a:pt x="76" y="152"/>
                  </a:moveTo>
                  <a:cubicBezTo>
                    <a:pt x="34" y="152"/>
                    <a:pt x="0" y="118"/>
                    <a:pt x="0" y="76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6" y="0"/>
                    <a:pt x="115" y="8"/>
                    <a:pt x="130" y="22"/>
                  </a:cubicBezTo>
                  <a:cubicBezTo>
                    <a:pt x="144" y="37"/>
                    <a:pt x="152" y="56"/>
                    <a:pt x="152" y="76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118"/>
                    <a:pt x="118" y="152"/>
                    <a:pt x="76" y="152"/>
                  </a:cubicBezTo>
                  <a:close/>
                  <a:moveTo>
                    <a:pt x="76" y="24"/>
                  </a:moveTo>
                  <a:cubicBezTo>
                    <a:pt x="76" y="24"/>
                    <a:pt x="76" y="24"/>
                    <a:pt x="76" y="24"/>
                  </a:cubicBezTo>
                  <a:cubicBezTo>
                    <a:pt x="47" y="24"/>
                    <a:pt x="24" y="47"/>
                    <a:pt x="24" y="76"/>
                  </a:cubicBezTo>
                  <a:cubicBezTo>
                    <a:pt x="24" y="104"/>
                    <a:pt x="47" y="128"/>
                    <a:pt x="76" y="128"/>
                  </a:cubicBezTo>
                  <a:cubicBezTo>
                    <a:pt x="104" y="128"/>
                    <a:pt x="128" y="104"/>
                    <a:pt x="128" y="76"/>
                  </a:cubicBezTo>
                  <a:cubicBezTo>
                    <a:pt x="128" y="76"/>
                    <a:pt x="128" y="76"/>
                    <a:pt x="128" y="76"/>
                  </a:cubicBezTo>
                  <a:cubicBezTo>
                    <a:pt x="128" y="62"/>
                    <a:pt x="122" y="49"/>
                    <a:pt x="113" y="39"/>
                  </a:cubicBezTo>
                  <a:cubicBezTo>
                    <a:pt x="103" y="29"/>
                    <a:pt x="90" y="24"/>
                    <a:pt x="76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Freeform 57">
              <a:extLst>
                <a:ext uri="{FF2B5EF4-FFF2-40B4-BE49-F238E27FC236}">
                  <a16:creationId xmlns:a16="http://schemas.microsoft.com/office/drawing/2014/main" id="{84565EA9-90AD-52CD-153B-F6818FBC46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9575" y="3232150"/>
              <a:ext cx="361950" cy="514350"/>
            </a:xfrm>
            <a:custGeom>
              <a:avLst/>
              <a:gdLst>
                <a:gd name="T0" fmla="*/ 240 w 480"/>
                <a:gd name="T1" fmla="*/ 681 h 681"/>
                <a:gd name="T2" fmla="*/ 208 w 480"/>
                <a:gd name="T3" fmla="*/ 663 h 681"/>
                <a:gd name="T4" fmla="*/ 16 w 480"/>
                <a:gd name="T5" fmla="*/ 270 h 681"/>
                <a:gd name="T6" fmla="*/ 61 w 480"/>
                <a:gd name="T7" fmla="*/ 80 h 681"/>
                <a:gd name="T8" fmla="*/ 240 w 480"/>
                <a:gd name="T9" fmla="*/ 5 h 681"/>
                <a:gd name="T10" fmla="*/ 419 w 480"/>
                <a:gd name="T11" fmla="*/ 80 h 681"/>
                <a:gd name="T12" fmla="*/ 465 w 480"/>
                <a:gd name="T13" fmla="*/ 270 h 681"/>
                <a:gd name="T14" fmla="*/ 272 w 480"/>
                <a:gd name="T15" fmla="*/ 663 h 681"/>
                <a:gd name="T16" fmla="*/ 240 w 480"/>
                <a:gd name="T17" fmla="*/ 681 h 681"/>
                <a:gd name="T18" fmla="*/ 240 w 480"/>
                <a:gd name="T19" fmla="*/ 681 h 681"/>
                <a:gd name="T20" fmla="*/ 226 w 480"/>
                <a:gd name="T21" fmla="*/ 28 h 681"/>
                <a:gd name="T22" fmla="*/ 80 w 480"/>
                <a:gd name="T23" fmla="*/ 96 h 681"/>
                <a:gd name="T24" fmla="*/ 39 w 480"/>
                <a:gd name="T25" fmla="*/ 264 h 681"/>
                <a:gd name="T26" fmla="*/ 39 w 480"/>
                <a:gd name="T27" fmla="*/ 265 h 681"/>
                <a:gd name="T28" fmla="*/ 228 w 480"/>
                <a:gd name="T29" fmla="*/ 650 h 681"/>
                <a:gd name="T30" fmla="*/ 240 w 480"/>
                <a:gd name="T31" fmla="*/ 657 h 681"/>
                <a:gd name="T32" fmla="*/ 240 w 480"/>
                <a:gd name="T33" fmla="*/ 657 h 681"/>
                <a:gd name="T34" fmla="*/ 252 w 480"/>
                <a:gd name="T35" fmla="*/ 650 h 681"/>
                <a:gd name="T36" fmla="*/ 441 w 480"/>
                <a:gd name="T37" fmla="*/ 265 h 681"/>
                <a:gd name="T38" fmla="*/ 441 w 480"/>
                <a:gd name="T39" fmla="*/ 264 h 681"/>
                <a:gd name="T40" fmla="*/ 401 w 480"/>
                <a:gd name="T41" fmla="*/ 96 h 681"/>
                <a:gd name="T42" fmla="*/ 241 w 480"/>
                <a:gd name="T43" fmla="*/ 29 h 681"/>
                <a:gd name="T44" fmla="*/ 240 w 480"/>
                <a:gd name="T45" fmla="*/ 29 h 681"/>
                <a:gd name="T46" fmla="*/ 239 w 480"/>
                <a:gd name="T47" fmla="*/ 29 h 681"/>
                <a:gd name="T48" fmla="*/ 226 w 480"/>
                <a:gd name="T49" fmla="*/ 28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0" h="681">
                  <a:moveTo>
                    <a:pt x="240" y="681"/>
                  </a:moveTo>
                  <a:cubicBezTo>
                    <a:pt x="227" y="681"/>
                    <a:pt x="214" y="674"/>
                    <a:pt x="208" y="663"/>
                  </a:cubicBezTo>
                  <a:cubicBezTo>
                    <a:pt x="156" y="580"/>
                    <a:pt x="35" y="376"/>
                    <a:pt x="16" y="270"/>
                  </a:cubicBezTo>
                  <a:cubicBezTo>
                    <a:pt x="0" y="203"/>
                    <a:pt x="17" y="132"/>
                    <a:pt x="61" y="80"/>
                  </a:cubicBezTo>
                  <a:cubicBezTo>
                    <a:pt x="105" y="28"/>
                    <a:pt x="172" y="0"/>
                    <a:pt x="240" y="5"/>
                  </a:cubicBezTo>
                  <a:cubicBezTo>
                    <a:pt x="308" y="0"/>
                    <a:pt x="375" y="28"/>
                    <a:pt x="419" y="80"/>
                  </a:cubicBezTo>
                  <a:cubicBezTo>
                    <a:pt x="464" y="132"/>
                    <a:pt x="480" y="203"/>
                    <a:pt x="465" y="270"/>
                  </a:cubicBezTo>
                  <a:cubicBezTo>
                    <a:pt x="449" y="362"/>
                    <a:pt x="325" y="575"/>
                    <a:pt x="272" y="663"/>
                  </a:cubicBezTo>
                  <a:cubicBezTo>
                    <a:pt x="266" y="674"/>
                    <a:pt x="253" y="681"/>
                    <a:pt x="240" y="681"/>
                  </a:cubicBezTo>
                  <a:cubicBezTo>
                    <a:pt x="240" y="681"/>
                    <a:pt x="240" y="681"/>
                    <a:pt x="240" y="681"/>
                  </a:cubicBezTo>
                  <a:close/>
                  <a:moveTo>
                    <a:pt x="226" y="28"/>
                  </a:moveTo>
                  <a:cubicBezTo>
                    <a:pt x="170" y="28"/>
                    <a:pt x="116" y="53"/>
                    <a:pt x="80" y="96"/>
                  </a:cubicBezTo>
                  <a:cubicBezTo>
                    <a:pt x="40" y="142"/>
                    <a:pt x="25" y="205"/>
                    <a:pt x="39" y="264"/>
                  </a:cubicBezTo>
                  <a:cubicBezTo>
                    <a:pt x="39" y="265"/>
                    <a:pt x="39" y="265"/>
                    <a:pt x="39" y="265"/>
                  </a:cubicBezTo>
                  <a:cubicBezTo>
                    <a:pt x="58" y="368"/>
                    <a:pt x="178" y="569"/>
                    <a:pt x="228" y="650"/>
                  </a:cubicBezTo>
                  <a:cubicBezTo>
                    <a:pt x="231" y="655"/>
                    <a:pt x="235" y="657"/>
                    <a:pt x="240" y="657"/>
                  </a:cubicBezTo>
                  <a:cubicBezTo>
                    <a:pt x="240" y="657"/>
                    <a:pt x="240" y="657"/>
                    <a:pt x="240" y="657"/>
                  </a:cubicBezTo>
                  <a:cubicBezTo>
                    <a:pt x="245" y="657"/>
                    <a:pt x="249" y="655"/>
                    <a:pt x="252" y="650"/>
                  </a:cubicBezTo>
                  <a:cubicBezTo>
                    <a:pt x="304" y="564"/>
                    <a:pt x="426" y="353"/>
                    <a:pt x="441" y="265"/>
                  </a:cubicBezTo>
                  <a:cubicBezTo>
                    <a:pt x="441" y="264"/>
                    <a:pt x="441" y="264"/>
                    <a:pt x="441" y="264"/>
                  </a:cubicBezTo>
                  <a:cubicBezTo>
                    <a:pt x="455" y="205"/>
                    <a:pt x="440" y="142"/>
                    <a:pt x="401" y="96"/>
                  </a:cubicBezTo>
                  <a:cubicBezTo>
                    <a:pt x="362" y="49"/>
                    <a:pt x="302" y="24"/>
                    <a:pt x="241" y="29"/>
                  </a:cubicBezTo>
                  <a:cubicBezTo>
                    <a:pt x="240" y="29"/>
                    <a:pt x="240" y="29"/>
                    <a:pt x="240" y="29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35" y="28"/>
                    <a:pt x="230" y="28"/>
                    <a:pt x="226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Freeform 58">
              <a:extLst>
                <a:ext uri="{FF2B5EF4-FFF2-40B4-BE49-F238E27FC236}">
                  <a16:creationId xmlns:a16="http://schemas.microsoft.com/office/drawing/2014/main" id="{FA193D44-6186-6FAC-B26C-BCBB96307D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1650" y="3314700"/>
              <a:ext cx="171450" cy="165100"/>
            </a:xfrm>
            <a:custGeom>
              <a:avLst/>
              <a:gdLst>
                <a:gd name="T0" fmla="*/ 118 w 228"/>
                <a:gd name="T1" fmla="*/ 219 h 219"/>
                <a:gd name="T2" fmla="*/ 41 w 228"/>
                <a:gd name="T3" fmla="*/ 187 h 219"/>
                <a:gd name="T4" fmla="*/ 17 w 228"/>
                <a:gd name="T5" fmla="*/ 68 h 219"/>
                <a:gd name="T6" fmla="*/ 118 w 228"/>
                <a:gd name="T7" fmla="*/ 0 h 219"/>
                <a:gd name="T8" fmla="*/ 228 w 228"/>
                <a:gd name="T9" fmla="*/ 110 h 219"/>
                <a:gd name="T10" fmla="*/ 228 w 228"/>
                <a:gd name="T11" fmla="*/ 110 h 219"/>
                <a:gd name="T12" fmla="*/ 160 w 228"/>
                <a:gd name="T13" fmla="*/ 211 h 219"/>
                <a:gd name="T14" fmla="*/ 118 w 228"/>
                <a:gd name="T15" fmla="*/ 219 h 219"/>
                <a:gd name="T16" fmla="*/ 118 w 228"/>
                <a:gd name="T17" fmla="*/ 24 h 219"/>
                <a:gd name="T18" fmla="*/ 39 w 228"/>
                <a:gd name="T19" fmla="*/ 77 h 219"/>
                <a:gd name="T20" fmla="*/ 58 w 228"/>
                <a:gd name="T21" fmla="*/ 170 h 219"/>
                <a:gd name="T22" fmla="*/ 151 w 228"/>
                <a:gd name="T23" fmla="*/ 189 h 219"/>
                <a:gd name="T24" fmla="*/ 204 w 228"/>
                <a:gd name="T25" fmla="*/ 110 h 219"/>
                <a:gd name="T26" fmla="*/ 204 w 228"/>
                <a:gd name="T27" fmla="*/ 110 h 219"/>
                <a:gd name="T28" fmla="*/ 118 w 228"/>
                <a:gd name="T29" fmla="*/ 24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19">
                  <a:moveTo>
                    <a:pt x="118" y="219"/>
                  </a:moveTo>
                  <a:cubicBezTo>
                    <a:pt x="90" y="219"/>
                    <a:pt x="62" y="208"/>
                    <a:pt x="41" y="187"/>
                  </a:cubicBezTo>
                  <a:cubicBezTo>
                    <a:pt x="9" y="156"/>
                    <a:pt x="0" y="109"/>
                    <a:pt x="17" y="68"/>
                  </a:cubicBezTo>
                  <a:cubicBezTo>
                    <a:pt x="34" y="27"/>
                    <a:pt x="74" y="0"/>
                    <a:pt x="118" y="0"/>
                  </a:cubicBezTo>
                  <a:cubicBezTo>
                    <a:pt x="179" y="0"/>
                    <a:pt x="228" y="49"/>
                    <a:pt x="228" y="110"/>
                  </a:cubicBezTo>
                  <a:cubicBezTo>
                    <a:pt x="228" y="110"/>
                    <a:pt x="228" y="110"/>
                    <a:pt x="228" y="110"/>
                  </a:cubicBezTo>
                  <a:cubicBezTo>
                    <a:pt x="228" y="154"/>
                    <a:pt x="201" y="194"/>
                    <a:pt x="160" y="211"/>
                  </a:cubicBezTo>
                  <a:cubicBezTo>
                    <a:pt x="147" y="217"/>
                    <a:pt x="132" y="219"/>
                    <a:pt x="118" y="219"/>
                  </a:cubicBezTo>
                  <a:close/>
                  <a:moveTo>
                    <a:pt x="118" y="24"/>
                  </a:moveTo>
                  <a:cubicBezTo>
                    <a:pt x="84" y="24"/>
                    <a:pt x="53" y="45"/>
                    <a:pt x="39" y="77"/>
                  </a:cubicBezTo>
                  <a:cubicBezTo>
                    <a:pt x="26" y="109"/>
                    <a:pt x="33" y="146"/>
                    <a:pt x="58" y="170"/>
                  </a:cubicBezTo>
                  <a:cubicBezTo>
                    <a:pt x="82" y="195"/>
                    <a:pt x="119" y="202"/>
                    <a:pt x="151" y="189"/>
                  </a:cubicBezTo>
                  <a:cubicBezTo>
                    <a:pt x="183" y="175"/>
                    <a:pt x="204" y="144"/>
                    <a:pt x="204" y="110"/>
                  </a:cubicBezTo>
                  <a:cubicBezTo>
                    <a:pt x="204" y="110"/>
                    <a:pt x="204" y="110"/>
                    <a:pt x="204" y="110"/>
                  </a:cubicBezTo>
                  <a:cubicBezTo>
                    <a:pt x="204" y="63"/>
                    <a:pt x="165" y="24"/>
                    <a:pt x="118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Freeform 59">
              <a:extLst>
                <a:ext uri="{FF2B5EF4-FFF2-40B4-BE49-F238E27FC236}">
                  <a16:creationId xmlns:a16="http://schemas.microsoft.com/office/drawing/2014/main" id="{644C9386-A013-0954-D2E3-C8C8FE809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913" y="3411538"/>
              <a:ext cx="471488" cy="312738"/>
            </a:xfrm>
            <a:custGeom>
              <a:avLst/>
              <a:gdLst>
                <a:gd name="T0" fmla="*/ 14 w 626"/>
                <a:gd name="T1" fmla="*/ 415 h 415"/>
                <a:gd name="T2" fmla="*/ 4 w 626"/>
                <a:gd name="T3" fmla="*/ 410 h 415"/>
                <a:gd name="T4" fmla="*/ 7 w 626"/>
                <a:gd name="T5" fmla="*/ 393 h 415"/>
                <a:gd name="T6" fmla="*/ 605 w 626"/>
                <a:gd name="T7" fmla="*/ 3 h 415"/>
                <a:gd name="T8" fmla="*/ 622 w 626"/>
                <a:gd name="T9" fmla="*/ 7 h 415"/>
                <a:gd name="T10" fmla="*/ 618 w 626"/>
                <a:gd name="T11" fmla="*/ 24 h 415"/>
                <a:gd name="T12" fmla="*/ 21 w 626"/>
                <a:gd name="T13" fmla="*/ 414 h 415"/>
                <a:gd name="T14" fmla="*/ 14 w 626"/>
                <a:gd name="T15" fmla="*/ 41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6" h="415">
                  <a:moveTo>
                    <a:pt x="14" y="415"/>
                  </a:moveTo>
                  <a:cubicBezTo>
                    <a:pt x="10" y="415"/>
                    <a:pt x="6" y="414"/>
                    <a:pt x="4" y="410"/>
                  </a:cubicBezTo>
                  <a:cubicBezTo>
                    <a:pt x="0" y="405"/>
                    <a:pt x="2" y="397"/>
                    <a:pt x="7" y="393"/>
                  </a:cubicBezTo>
                  <a:cubicBezTo>
                    <a:pt x="605" y="3"/>
                    <a:pt x="605" y="3"/>
                    <a:pt x="605" y="3"/>
                  </a:cubicBezTo>
                  <a:cubicBezTo>
                    <a:pt x="611" y="0"/>
                    <a:pt x="618" y="1"/>
                    <a:pt x="622" y="7"/>
                  </a:cubicBezTo>
                  <a:cubicBezTo>
                    <a:pt x="626" y="13"/>
                    <a:pt x="624" y="20"/>
                    <a:pt x="618" y="24"/>
                  </a:cubicBezTo>
                  <a:cubicBezTo>
                    <a:pt x="21" y="414"/>
                    <a:pt x="21" y="414"/>
                    <a:pt x="21" y="414"/>
                  </a:cubicBezTo>
                  <a:cubicBezTo>
                    <a:pt x="19" y="415"/>
                    <a:pt x="16" y="415"/>
                    <a:pt x="14" y="4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8" name="Title 27">
            <a:extLst>
              <a:ext uri="{FF2B5EF4-FFF2-40B4-BE49-F238E27FC236}">
                <a16:creationId xmlns:a16="http://schemas.microsoft.com/office/drawing/2014/main" id="{930AF77D-A42B-3496-DCC9-AB13EF06C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Privileged Access Management lifecycle </a:t>
            </a:r>
          </a:p>
        </p:txBody>
      </p:sp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A755D007-E43A-016E-0456-A51D55A752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  <p:pic>
        <p:nvPicPr>
          <p:cNvPr id="6146" name="Picture 2" descr="Privileged Access Management Lifecycle">
            <a:extLst>
              <a:ext uri="{FF2B5EF4-FFF2-40B4-BE49-F238E27FC236}">
                <a16:creationId xmlns:a16="http://schemas.microsoft.com/office/drawing/2014/main" id="{D178CDE3-A2A0-23A3-FA23-49BDD0C14D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75" t="14816" r="5733" b="-2316"/>
          <a:stretch/>
        </p:blipFill>
        <p:spPr bwMode="auto">
          <a:xfrm>
            <a:off x="1689069" y="624371"/>
            <a:ext cx="6707702" cy="4350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1881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22307-D026-27EB-1F76-8097CBE42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A990D8B1-1726-F346-C27C-E399CF4B870F}"/>
              </a:ext>
            </a:extLst>
          </p:cNvPr>
          <p:cNvGrpSpPr/>
          <p:nvPr/>
        </p:nvGrpSpPr>
        <p:grpSpPr>
          <a:xfrm>
            <a:off x="1646076" y="4029452"/>
            <a:ext cx="570912" cy="419326"/>
            <a:chOff x="6759575" y="3000375"/>
            <a:chExt cx="906463" cy="746125"/>
          </a:xfrm>
          <a:solidFill>
            <a:srgbClr val="F4F3F9"/>
          </a:solidFill>
        </p:grpSpPr>
        <p:sp>
          <p:nvSpPr>
            <p:cNvPr id="50" name="Freeform 55">
              <a:extLst>
                <a:ext uri="{FF2B5EF4-FFF2-40B4-BE49-F238E27FC236}">
                  <a16:creationId xmlns:a16="http://schemas.microsoft.com/office/drawing/2014/main" id="{FA3B6910-CFA7-B21D-ACC0-B10BC07CF8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1400" y="3000375"/>
              <a:ext cx="274638" cy="358775"/>
            </a:xfrm>
            <a:custGeom>
              <a:avLst/>
              <a:gdLst>
                <a:gd name="T0" fmla="*/ 182 w 364"/>
                <a:gd name="T1" fmla="*/ 476 h 476"/>
                <a:gd name="T2" fmla="*/ 152 w 364"/>
                <a:gd name="T3" fmla="*/ 462 h 476"/>
                <a:gd name="T4" fmla="*/ 0 w 364"/>
                <a:gd name="T5" fmla="*/ 182 h 476"/>
                <a:gd name="T6" fmla="*/ 53 w 364"/>
                <a:gd name="T7" fmla="*/ 53 h 476"/>
                <a:gd name="T8" fmla="*/ 182 w 364"/>
                <a:gd name="T9" fmla="*/ 0 h 476"/>
                <a:gd name="T10" fmla="*/ 182 w 364"/>
                <a:gd name="T11" fmla="*/ 0 h 476"/>
                <a:gd name="T12" fmla="*/ 364 w 364"/>
                <a:gd name="T13" fmla="*/ 182 h 476"/>
                <a:gd name="T14" fmla="*/ 212 w 364"/>
                <a:gd name="T15" fmla="*/ 462 h 476"/>
                <a:gd name="T16" fmla="*/ 182 w 364"/>
                <a:gd name="T17" fmla="*/ 476 h 476"/>
                <a:gd name="T18" fmla="*/ 182 w 364"/>
                <a:gd name="T19" fmla="*/ 24 h 476"/>
                <a:gd name="T20" fmla="*/ 70 w 364"/>
                <a:gd name="T21" fmla="*/ 70 h 476"/>
                <a:gd name="T22" fmla="*/ 24 w 364"/>
                <a:gd name="T23" fmla="*/ 182 h 476"/>
                <a:gd name="T24" fmla="*/ 171 w 364"/>
                <a:gd name="T25" fmla="*/ 447 h 476"/>
                <a:gd name="T26" fmla="*/ 182 w 364"/>
                <a:gd name="T27" fmla="*/ 452 h 476"/>
                <a:gd name="T28" fmla="*/ 193 w 364"/>
                <a:gd name="T29" fmla="*/ 447 h 476"/>
                <a:gd name="T30" fmla="*/ 340 w 364"/>
                <a:gd name="T31" fmla="*/ 182 h 476"/>
                <a:gd name="T32" fmla="*/ 182 w 364"/>
                <a:gd name="T33" fmla="*/ 24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4" h="476">
                  <a:moveTo>
                    <a:pt x="182" y="476"/>
                  </a:moveTo>
                  <a:cubicBezTo>
                    <a:pt x="170" y="476"/>
                    <a:pt x="159" y="471"/>
                    <a:pt x="152" y="462"/>
                  </a:cubicBezTo>
                  <a:cubicBezTo>
                    <a:pt x="95" y="389"/>
                    <a:pt x="0" y="257"/>
                    <a:pt x="0" y="182"/>
                  </a:cubicBezTo>
                  <a:cubicBezTo>
                    <a:pt x="0" y="133"/>
                    <a:pt x="19" y="87"/>
                    <a:pt x="53" y="53"/>
                  </a:cubicBezTo>
                  <a:cubicBezTo>
                    <a:pt x="87" y="19"/>
                    <a:pt x="133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282" y="0"/>
                    <a:pt x="364" y="81"/>
                    <a:pt x="364" y="182"/>
                  </a:cubicBezTo>
                  <a:cubicBezTo>
                    <a:pt x="364" y="257"/>
                    <a:pt x="269" y="389"/>
                    <a:pt x="212" y="462"/>
                  </a:cubicBezTo>
                  <a:cubicBezTo>
                    <a:pt x="205" y="471"/>
                    <a:pt x="194" y="476"/>
                    <a:pt x="182" y="476"/>
                  </a:cubicBezTo>
                  <a:close/>
                  <a:moveTo>
                    <a:pt x="182" y="24"/>
                  </a:moveTo>
                  <a:cubicBezTo>
                    <a:pt x="140" y="24"/>
                    <a:pt x="100" y="40"/>
                    <a:pt x="70" y="70"/>
                  </a:cubicBezTo>
                  <a:cubicBezTo>
                    <a:pt x="40" y="100"/>
                    <a:pt x="24" y="140"/>
                    <a:pt x="24" y="182"/>
                  </a:cubicBezTo>
                  <a:cubicBezTo>
                    <a:pt x="24" y="254"/>
                    <a:pt x="136" y="403"/>
                    <a:pt x="171" y="447"/>
                  </a:cubicBezTo>
                  <a:cubicBezTo>
                    <a:pt x="174" y="450"/>
                    <a:pt x="178" y="452"/>
                    <a:pt x="182" y="452"/>
                  </a:cubicBezTo>
                  <a:cubicBezTo>
                    <a:pt x="186" y="452"/>
                    <a:pt x="190" y="450"/>
                    <a:pt x="193" y="447"/>
                  </a:cubicBezTo>
                  <a:cubicBezTo>
                    <a:pt x="285" y="329"/>
                    <a:pt x="340" y="230"/>
                    <a:pt x="340" y="182"/>
                  </a:cubicBezTo>
                  <a:cubicBezTo>
                    <a:pt x="340" y="95"/>
                    <a:pt x="269" y="24"/>
                    <a:pt x="18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Freeform 56">
              <a:extLst>
                <a:ext uri="{FF2B5EF4-FFF2-40B4-BE49-F238E27FC236}">
                  <a16:creationId xmlns:a16="http://schemas.microsoft.com/office/drawing/2014/main" id="{D607D639-2EDD-A76F-9C61-06ECEABC40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0775" y="3079750"/>
              <a:ext cx="114300" cy="115888"/>
            </a:xfrm>
            <a:custGeom>
              <a:avLst/>
              <a:gdLst>
                <a:gd name="T0" fmla="*/ 76 w 152"/>
                <a:gd name="T1" fmla="*/ 152 h 152"/>
                <a:gd name="T2" fmla="*/ 0 w 152"/>
                <a:gd name="T3" fmla="*/ 76 h 152"/>
                <a:gd name="T4" fmla="*/ 76 w 152"/>
                <a:gd name="T5" fmla="*/ 0 h 152"/>
                <a:gd name="T6" fmla="*/ 76 w 152"/>
                <a:gd name="T7" fmla="*/ 0 h 152"/>
                <a:gd name="T8" fmla="*/ 130 w 152"/>
                <a:gd name="T9" fmla="*/ 22 h 152"/>
                <a:gd name="T10" fmla="*/ 152 w 152"/>
                <a:gd name="T11" fmla="*/ 76 h 152"/>
                <a:gd name="T12" fmla="*/ 152 w 152"/>
                <a:gd name="T13" fmla="*/ 76 h 152"/>
                <a:gd name="T14" fmla="*/ 76 w 152"/>
                <a:gd name="T15" fmla="*/ 152 h 152"/>
                <a:gd name="T16" fmla="*/ 76 w 152"/>
                <a:gd name="T17" fmla="*/ 24 h 152"/>
                <a:gd name="T18" fmla="*/ 76 w 152"/>
                <a:gd name="T19" fmla="*/ 24 h 152"/>
                <a:gd name="T20" fmla="*/ 24 w 152"/>
                <a:gd name="T21" fmla="*/ 76 h 152"/>
                <a:gd name="T22" fmla="*/ 76 w 152"/>
                <a:gd name="T23" fmla="*/ 128 h 152"/>
                <a:gd name="T24" fmla="*/ 128 w 152"/>
                <a:gd name="T25" fmla="*/ 76 h 152"/>
                <a:gd name="T26" fmla="*/ 128 w 152"/>
                <a:gd name="T27" fmla="*/ 76 h 152"/>
                <a:gd name="T28" fmla="*/ 113 w 152"/>
                <a:gd name="T29" fmla="*/ 39 h 152"/>
                <a:gd name="T30" fmla="*/ 76 w 152"/>
                <a:gd name="T31" fmla="*/ 2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2" h="152">
                  <a:moveTo>
                    <a:pt x="76" y="152"/>
                  </a:moveTo>
                  <a:cubicBezTo>
                    <a:pt x="34" y="152"/>
                    <a:pt x="0" y="118"/>
                    <a:pt x="0" y="76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6" y="0"/>
                    <a:pt x="115" y="8"/>
                    <a:pt x="130" y="22"/>
                  </a:cubicBezTo>
                  <a:cubicBezTo>
                    <a:pt x="144" y="37"/>
                    <a:pt x="152" y="56"/>
                    <a:pt x="152" y="76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118"/>
                    <a:pt x="118" y="152"/>
                    <a:pt x="76" y="152"/>
                  </a:cubicBezTo>
                  <a:close/>
                  <a:moveTo>
                    <a:pt x="76" y="24"/>
                  </a:moveTo>
                  <a:cubicBezTo>
                    <a:pt x="76" y="24"/>
                    <a:pt x="76" y="24"/>
                    <a:pt x="76" y="24"/>
                  </a:cubicBezTo>
                  <a:cubicBezTo>
                    <a:pt x="47" y="24"/>
                    <a:pt x="24" y="47"/>
                    <a:pt x="24" y="76"/>
                  </a:cubicBezTo>
                  <a:cubicBezTo>
                    <a:pt x="24" y="104"/>
                    <a:pt x="47" y="128"/>
                    <a:pt x="76" y="128"/>
                  </a:cubicBezTo>
                  <a:cubicBezTo>
                    <a:pt x="104" y="128"/>
                    <a:pt x="128" y="104"/>
                    <a:pt x="128" y="76"/>
                  </a:cubicBezTo>
                  <a:cubicBezTo>
                    <a:pt x="128" y="76"/>
                    <a:pt x="128" y="76"/>
                    <a:pt x="128" y="76"/>
                  </a:cubicBezTo>
                  <a:cubicBezTo>
                    <a:pt x="128" y="62"/>
                    <a:pt x="122" y="49"/>
                    <a:pt x="113" y="39"/>
                  </a:cubicBezTo>
                  <a:cubicBezTo>
                    <a:pt x="103" y="29"/>
                    <a:pt x="90" y="24"/>
                    <a:pt x="76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Freeform 57">
              <a:extLst>
                <a:ext uri="{FF2B5EF4-FFF2-40B4-BE49-F238E27FC236}">
                  <a16:creationId xmlns:a16="http://schemas.microsoft.com/office/drawing/2014/main" id="{1FEB19E1-A7E9-91E9-D6C1-19CCE858B8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9575" y="3232150"/>
              <a:ext cx="361950" cy="514350"/>
            </a:xfrm>
            <a:custGeom>
              <a:avLst/>
              <a:gdLst>
                <a:gd name="T0" fmla="*/ 240 w 480"/>
                <a:gd name="T1" fmla="*/ 681 h 681"/>
                <a:gd name="T2" fmla="*/ 208 w 480"/>
                <a:gd name="T3" fmla="*/ 663 h 681"/>
                <a:gd name="T4" fmla="*/ 16 w 480"/>
                <a:gd name="T5" fmla="*/ 270 h 681"/>
                <a:gd name="T6" fmla="*/ 61 w 480"/>
                <a:gd name="T7" fmla="*/ 80 h 681"/>
                <a:gd name="T8" fmla="*/ 240 w 480"/>
                <a:gd name="T9" fmla="*/ 5 h 681"/>
                <a:gd name="T10" fmla="*/ 419 w 480"/>
                <a:gd name="T11" fmla="*/ 80 h 681"/>
                <a:gd name="T12" fmla="*/ 465 w 480"/>
                <a:gd name="T13" fmla="*/ 270 h 681"/>
                <a:gd name="T14" fmla="*/ 272 w 480"/>
                <a:gd name="T15" fmla="*/ 663 h 681"/>
                <a:gd name="T16" fmla="*/ 240 w 480"/>
                <a:gd name="T17" fmla="*/ 681 h 681"/>
                <a:gd name="T18" fmla="*/ 240 w 480"/>
                <a:gd name="T19" fmla="*/ 681 h 681"/>
                <a:gd name="T20" fmla="*/ 226 w 480"/>
                <a:gd name="T21" fmla="*/ 28 h 681"/>
                <a:gd name="T22" fmla="*/ 80 w 480"/>
                <a:gd name="T23" fmla="*/ 96 h 681"/>
                <a:gd name="T24" fmla="*/ 39 w 480"/>
                <a:gd name="T25" fmla="*/ 264 h 681"/>
                <a:gd name="T26" fmla="*/ 39 w 480"/>
                <a:gd name="T27" fmla="*/ 265 h 681"/>
                <a:gd name="T28" fmla="*/ 228 w 480"/>
                <a:gd name="T29" fmla="*/ 650 h 681"/>
                <a:gd name="T30" fmla="*/ 240 w 480"/>
                <a:gd name="T31" fmla="*/ 657 h 681"/>
                <a:gd name="T32" fmla="*/ 240 w 480"/>
                <a:gd name="T33" fmla="*/ 657 h 681"/>
                <a:gd name="T34" fmla="*/ 252 w 480"/>
                <a:gd name="T35" fmla="*/ 650 h 681"/>
                <a:gd name="T36" fmla="*/ 441 w 480"/>
                <a:gd name="T37" fmla="*/ 265 h 681"/>
                <a:gd name="T38" fmla="*/ 441 w 480"/>
                <a:gd name="T39" fmla="*/ 264 h 681"/>
                <a:gd name="T40" fmla="*/ 401 w 480"/>
                <a:gd name="T41" fmla="*/ 96 h 681"/>
                <a:gd name="T42" fmla="*/ 241 w 480"/>
                <a:gd name="T43" fmla="*/ 29 h 681"/>
                <a:gd name="T44" fmla="*/ 240 w 480"/>
                <a:gd name="T45" fmla="*/ 29 h 681"/>
                <a:gd name="T46" fmla="*/ 239 w 480"/>
                <a:gd name="T47" fmla="*/ 29 h 681"/>
                <a:gd name="T48" fmla="*/ 226 w 480"/>
                <a:gd name="T49" fmla="*/ 28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0" h="681">
                  <a:moveTo>
                    <a:pt x="240" y="681"/>
                  </a:moveTo>
                  <a:cubicBezTo>
                    <a:pt x="227" y="681"/>
                    <a:pt x="214" y="674"/>
                    <a:pt x="208" y="663"/>
                  </a:cubicBezTo>
                  <a:cubicBezTo>
                    <a:pt x="156" y="580"/>
                    <a:pt x="35" y="376"/>
                    <a:pt x="16" y="270"/>
                  </a:cubicBezTo>
                  <a:cubicBezTo>
                    <a:pt x="0" y="203"/>
                    <a:pt x="17" y="132"/>
                    <a:pt x="61" y="80"/>
                  </a:cubicBezTo>
                  <a:cubicBezTo>
                    <a:pt x="105" y="28"/>
                    <a:pt x="172" y="0"/>
                    <a:pt x="240" y="5"/>
                  </a:cubicBezTo>
                  <a:cubicBezTo>
                    <a:pt x="308" y="0"/>
                    <a:pt x="375" y="28"/>
                    <a:pt x="419" y="80"/>
                  </a:cubicBezTo>
                  <a:cubicBezTo>
                    <a:pt x="464" y="132"/>
                    <a:pt x="480" y="203"/>
                    <a:pt x="465" y="270"/>
                  </a:cubicBezTo>
                  <a:cubicBezTo>
                    <a:pt x="449" y="362"/>
                    <a:pt x="325" y="575"/>
                    <a:pt x="272" y="663"/>
                  </a:cubicBezTo>
                  <a:cubicBezTo>
                    <a:pt x="266" y="674"/>
                    <a:pt x="253" y="681"/>
                    <a:pt x="240" y="681"/>
                  </a:cubicBezTo>
                  <a:cubicBezTo>
                    <a:pt x="240" y="681"/>
                    <a:pt x="240" y="681"/>
                    <a:pt x="240" y="681"/>
                  </a:cubicBezTo>
                  <a:close/>
                  <a:moveTo>
                    <a:pt x="226" y="28"/>
                  </a:moveTo>
                  <a:cubicBezTo>
                    <a:pt x="170" y="28"/>
                    <a:pt x="116" y="53"/>
                    <a:pt x="80" y="96"/>
                  </a:cubicBezTo>
                  <a:cubicBezTo>
                    <a:pt x="40" y="142"/>
                    <a:pt x="25" y="205"/>
                    <a:pt x="39" y="264"/>
                  </a:cubicBezTo>
                  <a:cubicBezTo>
                    <a:pt x="39" y="265"/>
                    <a:pt x="39" y="265"/>
                    <a:pt x="39" y="265"/>
                  </a:cubicBezTo>
                  <a:cubicBezTo>
                    <a:pt x="58" y="368"/>
                    <a:pt x="178" y="569"/>
                    <a:pt x="228" y="650"/>
                  </a:cubicBezTo>
                  <a:cubicBezTo>
                    <a:pt x="231" y="655"/>
                    <a:pt x="235" y="657"/>
                    <a:pt x="240" y="657"/>
                  </a:cubicBezTo>
                  <a:cubicBezTo>
                    <a:pt x="240" y="657"/>
                    <a:pt x="240" y="657"/>
                    <a:pt x="240" y="657"/>
                  </a:cubicBezTo>
                  <a:cubicBezTo>
                    <a:pt x="245" y="657"/>
                    <a:pt x="249" y="655"/>
                    <a:pt x="252" y="650"/>
                  </a:cubicBezTo>
                  <a:cubicBezTo>
                    <a:pt x="304" y="564"/>
                    <a:pt x="426" y="353"/>
                    <a:pt x="441" y="265"/>
                  </a:cubicBezTo>
                  <a:cubicBezTo>
                    <a:pt x="441" y="264"/>
                    <a:pt x="441" y="264"/>
                    <a:pt x="441" y="264"/>
                  </a:cubicBezTo>
                  <a:cubicBezTo>
                    <a:pt x="455" y="205"/>
                    <a:pt x="440" y="142"/>
                    <a:pt x="401" y="96"/>
                  </a:cubicBezTo>
                  <a:cubicBezTo>
                    <a:pt x="362" y="49"/>
                    <a:pt x="302" y="24"/>
                    <a:pt x="241" y="29"/>
                  </a:cubicBezTo>
                  <a:cubicBezTo>
                    <a:pt x="240" y="29"/>
                    <a:pt x="240" y="29"/>
                    <a:pt x="240" y="29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35" y="28"/>
                    <a:pt x="230" y="28"/>
                    <a:pt x="226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Freeform 58">
              <a:extLst>
                <a:ext uri="{FF2B5EF4-FFF2-40B4-BE49-F238E27FC236}">
                  <a16:creationId xmlns:a16="http://schemas.microsoft.com/office/drawing/2014/main" id="{14621C7E-6A39-E29F-36F3-BBB9071A6F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1650" y="3314700"/>
              <a:ext cx="171450" cy="165100"/>
            </a:xfrm>
            <a:custGeom>
              <a:avLst/>
              <a:gdLst>
                <a:gd name="T0" fmla="*/ 118 w 228"/>
                <a:gd name="T1" fmla="*/ 219 h 219"/>
                <a:gd name="T2" fmla="*/ 41 w 228"/>
                <a:gd name="T3" fmla="*/ 187 h 219"/>
                <a:gd name="T4" fmla="*/ 17 w 228"/>
                <a:gd name="T5" fmla="*/ 68 h 219"/>
                <a:gd name="T6" fmla="*/ 118 w 228"/>
                <a:gd name="T7" fmla="*/ 0 h 219"/>
                <a:gd name="T8" fmla="*/ 228 w 228"/>
                <a:gd name="T9" fmla="*/ 110 h 219"/>
                <a:gd name="T10" fmla="*/ 228 w 228"/>
                <a:gd name="T11" fmla="*/ 110 h 219"/>
                <a:gd name="T12" fmla="*/ 160 w 228"/>
                <a:gd name="T13" fmla="*/ 211 h 219"/>
                <a:gd name="T14" fmla="*/ 118 w 228"/>
                <a:gd name="T15" fmla="*/ 219 h 219"/>
                <a:gd name="T16" fmla="*/ 118 w 228"/>
                <a:gd name="T17" fmla="*/ 24 h 219"/>
                <a:gd name="T18" fmla="*/ 39 w 228"/>
                <a:gd name="T19" fmla="*/ 77 h 219"/>
                <a:gd name="T20" fmla="*/ 58 w 228"/>
                <a:gd name="T21" fmla="*/ 170 h 219"/>
                <a:gd name="T22" fmla="*/ 151 w 228"/>
                <a:gd name="T23" fmla="*/ 189 h 219"/>
                <a:gd name="T24" fmla="*/ 204 w 228"/>
                <a:gd name="T25" fmla="*/ 110 h 219"/>
                <a:gd name="T26" fmla="*/ 204 w 228"/>
                <a:gd name="T27" fmla="*/ 110 h 219"/>
                <a:gd name="T28" fmla="*/ 118 w 228"/>
                <a:gd name="T29" fmla="*/ 24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19">
                  <a:moveTo>
                    <a:pt x="118" y="219"/>
                  </a:moveTo>
                  <a:cubicBezTo>
                    <a:pt x="90" y="219"/>
                    <a:pt x="62" y="208"/>
                    <a:pt x="41" y="187"/>
                  </a:cubicBezTo>
                  <a:cubicBezTo>
                    <a:pt x="9" y="156"/>
                    <a:pt x="0" y="109"/>
                    <a:pt x="17" y="68"/>
                  </a:cubicBezTo>
                  <a:cubicBezTo>
                    <a:pt x="34" y="27"/>
                    <a:pt x="74" y="0"/>
                    <a:pt x="118" y="0"/>
                  </a:cubicBezTo>
                  <a:cubicBezTo>
                    <a:pt x="179" y="0"/>
                    <a:pt x="228" y="49"/>
                    <a:pt x="228" y="110"/>
                  </a:cubicBezTo>
                  <a:cubicBezTo>
                    <a:pt x="228" y="110"/>
                    <a:pt x="228" y="110"/>
                    <a:pt x="228" y="110"/>
                  </a:cubicBezTo>
                  <a:cubicBezTo>
                    <a:pt x="228" y="154"/>
                    <a:pt x="201" y="194"/>
                    <a:pt x="160" y="211"/>
                  </a:cubicBezTo>
                  <a:cubicBezTo>
                    <a:pt x="147" y="217"/>
                    <a:pt x="132" y="219"/>
                    <a:pt x="118" y="219"/>
                  </a:cubicBezTo>
                  <a:close/>
                  <a:moveTo>
                    <a:pt x="118" y="24"/>
                  </a:moveTo>
                  <a:cubicBezTo>
                    <a:pt x="84" y="24"/>
                    <a:pt x="53" y="45"/>
                    <a:pt x="39" y="77"/>
                  </a:cubicBezTo>
                  <a:cubicBezTo>
                    <a:pt x="26" y="109"/>
                    <a:pt x="33" y="146"/>
                    <a:pt x="58" y="170"/>
                  </a:cubicBezTo>
                  <a:cubicBezTo>
                    <a:pt x="82" y="195"/>
                    <a:pt x="119" y="202"/>
                    <a:pt x="151" y="189"/>
                  </a:cubicBezTo>
                  <a:cubicBezTo>
                    <a:pt x="183" y="175"/>
                    <a:pt x="204" y="144"/>
                    <a:pt x="204" y="110"/>
                  </a:cubicBezTo>
                  <a:cubicBezTo>
                    <a:pt x="204" y="110"/>
                    <a:pt x="204" y="110"/>
                    <a:pt x="204" y="110"/>
                  </a:cubicBezTo>
                  <a:cubicBezTo>
                    <a:pt x="204" y="63"/>
                    <a:pt x="165" y="24"/>
                    <a:pt x="118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Freeform 59">
              <a:extLst>
                <a:ext uri="{FF2B5EF4-FFF2-40B4-BE49-F238E27FC236}">
                  <a16:creationId xmlns:a16="http://schemas.microsoft.com/office/drawing/2014/main" id="{35D20038-47D9-292D-54C4-3FD66A14D1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913" y="3411538"/>
              <a:ext cx="471488" cy="312738"/>
            </a:xfrm>
            <a:custGeom>
              <a:avLst/>
              <a:gdLst>
                <a:gd name="T0" fmla="*/ 14 w 626"/>
                <a:gd name="T1" fmla="*/ 415 h 415"/>
                <a:gd name="T2" fmla="*/ 4 w 626"/>
                <a:gd name="T3" fmla="*/ 410 h 415"/>
                <a:gd name="T4" fmla="*/ 7 w 626"/>
                <a:gd name="T5" fmla="*/ 393 h 415"/>
                <a:gd name="T6" fmla="*/ 605 w 626"/>
                <a:gd name="T7" fmla="*/ 3 h 415"/>
                <a:gd name="T8" fmla="*/ 622 w 626"/>
                <a:gd name="T9" fmla="*/ 7 h 415"/>
                <a:gd name="T10" fmla="*/ 618 w 626"/>
                <a:gd name="T11" fmla="*/ 24 h 415"/>
                <a:gd name="T12" fmla="*/ 21 w 626"/>
                <a:gd name="T13" fmla="*/ 414 h 415"/>
                <a:gd name="T14" fmla="*/ 14 w 626"/>
                <a:gd name="T15" fmla="*/ 41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6" h="415">
                  <a:moveTo>
                    <a:pt x="14" y="415"/>
                  </a:moveTo>
                  <a:cubicBezTo>
                    <a:pt x="10" y="415"/>
                    <a:pt x="6" y="414"/>
                    <a:pt x="4" y="410"/>
                  </a:cubicBezTo>
                  <a:cubicBezTo>
                    <a:pt x="0" y="405"/>
                    <a:pt x="2" y="397"/>
                    <a:pt x="7" y="393"/>
                  </a:cubicBezTo>
                  <a:cubicBezTo>
                    <a:pt x="605" y="3"/>
                    <a:pt x="605" y="3"/>
                    <a:pt x="605" y="3"/>
                  </a:cubicBezTo>
                  <a:cubicBezTo>
                    <a:pt x="611" y="0"/>
                    <a:pt x="618" y="1"/>
                    <a:pt x="622" y="7"/>
                  </a:cubicBezTo>
                  <a:cubicBezTo>
                    <a:pt x="626" y="13"/>
                    <a:pt x="624" y="20"/>
                    <a:pt x="618" y="24"/>
                  </a:cubicBezTo>
                  <a:cubicBezTo>
                    <a:pt x="21" y="414"/>
                    <a:pt x="21" y="414"/>
                    <a:pt x="21" y="414"/>
                  </a:cubicBezTo>
                  <a:cubicBezTo>
                    <a:pt x="19" y="415"/>
                    <a:pt x="16" y="415"/>
                    <a:pt x="14" y="4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8" name="Title 27">
            <a:extLst>
              <a:ext uri="{FF2B5EF4-FFF2-40B4-BE49-F238E27FC236}">
                <a16:creationId xmlns:a16="http://schemas.microsoft.com/office/drawing/2014/main" id="{30780E41-56BC-2BE6-73B7-5FA20DD4F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PAM Components</a:t>
            </a:r>
          </a:p>
        </p:txBody>
      </p:sp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F87BB9A9-3B66-01A8-D0BC-FA90851496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85D7B3-9AF0-4E0C-3282-916C65CEF10C}"/>
              </a:ext>
            </a:extLst>
          </p:cNvPr>
          <p:cNvSpPr txBox="1"/>
          <p:nvPr/>
        </p:nvSpPr>
        <p:spPr>
          <a:xfrm>
            <a:off x="192992" y="707212"/>
            <a:ext cx="839785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E84C4"/>
                </a:solidFill>
                <a:latin typeface="+mj-lt"/>
              </a:rPr>
              <a:t>Credential Vaulting</a:t>
            </a:r>
            <a:r>
              <a:rPr lang="en-US" sz="1600" dirty="0">
                <a:latin typeface="+mj-lt"/>
              </a:rPr>
              <a:t>:</a:t>
            </a:r>
            <a:br>
              <a:rPr lang="en-US" sz="1600" dirty="0">
                <a:solidFill>
                  <a:srgbClr val="4E84C4"/>
                </a:solidFill>
                <a:latin typeface="+mj-lt"/>
              </a:rPr>
            </a:br>
            <a:r>
              <a:rPr lang="en-US" sz="1600" dirty="0">
                <a:latin typeface="+mj-lt"/>
              </a:rPr>
              <a:t>Central storage of passwords and SSH keys in encrypted vaults. Eliminates hardcoded credentials and reduces exposure.</a:t>
            </a:r>
          </a:p>
          <a:p>
            <a:br>
              <a:rPr lang="en-US" sz="1600" dirty="0">
                <a:latin typeface="+mj-lt"/>
              </a:rPr>
            </a:br>
            <a:r>
              <a:rPr lang="en-US" sz="1600" dirty="0">
                <a:solidFill>
                  <a:srgbClr val="4E84C4"/>
                </a:solidFill>
                <a:latin typeface="+mj-lt"/>
              </a:rPr>
              <a:t>Session Recording:</a:t>
            </a:r>
            <a:br>
              <a:rPr lang="en-US" sz="1600" dirty="0">
                <a:latin typeface="+mj-lt"/>
              </a:rPr>
            </a:br>
            <a:r>
              <a:rPr lang="en-US" sz="1600" dirty="0">
                <a:latin typeface="+mj-lt"/>
              </a:rPr>
              <a:t>Records video and metadata of privileged sessions for auditing and incident response. Helps comply with regulatory frameworks like SOX, HIPAA, and GDPR.</a:t>
            </a:r>
          </a:p>
          <a:p>
            <a:br>
              <a:rPr lang="en-US" sz="1600" dirty="0">
                <a:latin typeface="+mj-lt"/>
              </a:rPr>
            </a:br>
            <a:r>
              <a:rPr lang="en-US" sz="1600" dirty="0">
                <a:solidFill>
                  <a:srgbClr val="4E84C4"/>
                </a:solidFill>
                <a:latin typeface="+mj-lt"/>
              </a:rPr>
              <a:t>Just-In-Time (JIT) Access:</a:t>
            </a:r>
            <a:br>
              <a:rPr lang="en-US" sz="1600" dirty="0">
                <a:latin typeface="+mj-lt"/>
              </a:rPr>
            </a:br>
            <a:r>
              <a:rPr lang="en-US" sz="1600" dirty="0">
                <a:latin typeface="+mj-lt"/>
              </a:rPr>
              <a:t>Temporarily elevates privileges for a specific task or time window. Reduces standing access and potential attack surfaces.</a:t>
            </a:r>
          </a:p>
          <a:p>
            <a:br>
              <a:rPr lang="en-US" sz="1600" dirty="0">
                <a:latin typeface="+mj-lt"/>
              </a:rPr>
            </a:br>
            <a:r>
              <a:rPr lang="en-US" sz="1600" dirty="0">
                <a:solidFill>
                  <a:srgbClr val="4E84C4"/>
                </a:solidFill>
                <a:latin typeface="+mj-lt"/>
              </a:rPr>
              <a:t>Least Privilege Principle:</a:t>
            </a:r>
            <a:br>
              <a:rPr lang="en-US" sz="1600" dirty="0">
                <a:latin typeface="+mj-lt"/>
              </a:rPr>
            </a:br>
            <a:r>
              <a:rPr lang="en-US" sz="1600" dirty="0">
                <a:latin typeface="+mj-lt"/>
              </a:rPr>
              <a:t>Ensures users have the minimum necessary access. Reduces impact from compromised accounts.</a:t>
            </a:r>
            <a:endParaRPr lang="en-GB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57629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62A2E-EDDE-72C1-35B9-CE1FD9568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AD71020D-93EA-C829-016C-23552092252F}"/>
              </a:ext>
            </a:extLst>
          </p:cNvPr>
          <p:cNvGrpSpPr/>
          <p:nvPr/>
        </p:nvGrpSpPr>
        <p:grpSpPr>
          <a:xfrm>
            <a:off x="1646076" y="4029452"/>
            <a:ext cx="570912" cy="419326"/>
            <a:chOff x="6759575" y="3000375"/>
            <a:chExt cx="906463" cy="746125"/>
          </a:xfrm>
          <a:solidFill>
            <a:srgbClr val="F4F3F9"/>
          </a:solidFill>
        </p:grpSpPr>
        <p:sp>
          <p:nvSpPr>
            <p:cNvPr id="50" name="Freeform 55">
              <a:extLst>
                <a:ext uri="{FF2B5EF4-FFF2-40B4-BE49-F238E27FC236}">
                  <a16:creationId xmlns:a16="http://schemas.microsoft.com/office/drawing/2014/main" id="{F187C598-F8C4-A175-F87A-6B46B9DCD9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1400" y="3000375"/>
              <a:ext cx="274638" cy="358775"/>
            </a:xfrm>
            <a:custGeom>
              <a:avLst/>
              <a:gdLst>
                <a:gd name="T0" fmla="*/ 182 w 364"/>
                <a:gd name="T1" fmla="*/ 476 h 476"/>
                <a:gd name="T2" fmla="*/ 152 w 364"/>
                <a:gd name="T3" fmla="*/ 462 h 476"/>
                <a:gd name="T4" fmla="*/ 0 w 364"/>
                <a:gd name="T5" fmla="*/ 182 h 476"/>
                <a:gd name="T6" fmla="*/ 53 w 364"/>
                <a:gd name="T7" fmla="*/ 53 h 476"/>
                <a:gd name="T8" fmla="*/ 182 w 364"/>
                <a:gd name="T9" fmla="*/ 0 h 476"/>
                <a:gd name="T10" fmla="*/ 182 w 364"/>
                <a:gd name="T11" fmla="*/ 0 h 476"/>
                <a:gd name="T12" fmla="*/ 364 w 364"/>
                <a:gd name="T13" fmla="*/ 182 h 476"/>
                <a:gd name="T14" fmla="*/ 212 w 364"/>
                <a:gd name="T15" fmla="*/ 462 h 476"/>
                <a:gd name="T16" fmla="*/ 182 w 364"/>
                <a:gd name="T17" fmla="*/ 476 h 476"/>
                <a:gd name="T18" fmla="*/ 182 w 364"/>
                <a:gd name="T19" fmla="*/ 24 h 476"/>
                <a:gd name="T20" fmla="*/ 70 w 364"/>
                <a:gd name="T21" fmla="*/ 70 h 476"/>
                <a:gd name="T22" fmla="*/ 24 w 364"/>
                <a:gd name="T23" fmla="*/ 182 h 476"/>
                <a:gd name="T24" fmla="*/ 171 w 364"/>
                <a:gd name="T25" fmla="*/ 447 h 476"/>
                <a:gd name="T26" fmla="*/ 182 w 364"/>
                <a:gd name="T27" fmla="*/ 452 h 476"/>
                <a:gd name="T28" fmla="*/ 193 w 364"/>
                <a:gd name="T29" fmla="*/ 447 h 476"/>
                <a:gd name="T30" fmla="*/ 340 w 364"/>
                <a:gd name="T31" fmla="*/ 182 h 476"/>
                <a:gd name="T32" fmla="*/ 182 w 364"/>
                <a:gd name="T33" fmla="*/ 24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4" h="476">
                  <a:moveTo>
                    <a:pt x="182" y="476"/>
                  </a:moveTo>
                  <a:cubicBezTo>
                    <a:pt x="170" y="476"/>
                    <a:pt x="159" y="471"/>
                    <a:pt x="152" y="462"/>
                  </a:cubicBezTo>
                  <a:cubicBezTo>
                    <a:pt x="95" y="389"/>
                    <a:pt x="0" y="257"/>
                    <a:pt x="0" y="182"/>
                  </a:cubicBezTo>
                  <a:cubicBezTo>
                    <a:pt x="0" y="133"/>
                    <a:pt x="19" y="87"/>
                    <a:pt x="53" y="53"/>
                  </a:cubicBezTo>
                  <a:cubicBezTo>
                    <a:pt x="87" y="19"/>
                    <a:pt x="133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282" y="0"/>
                    <a:pt x="364" y="81"/>
                    <a:pt x="364" y="182"/>
                  </a:cubicBezTo>
                  <a:cubicBezTo>
                    <a:pt x="364" y="257"/>
                    <a:pt x="269" y="389"/>
                    <a:pt x="212" y="462"/>
                  </a:cubicBezTo>
                  <a:cubicBezTo>
                    <a:pt x="205" y="471"/>
                    <a:pt x="194" y="476"/>
                    <a:pt x="182" y="476"/>
                  </a:cubicBezTo>
                  <a:close/>
                  <a:moveTo>
                    <a:pt x="182" y="24"/>
                  </a:moveTo>
                  <a:cubicBezTo>
                    <a:pt x="140" y="24"/>
                    <a:pt x="100" y="40"/>
                    <a:pt x="70" y="70"/>
                  </a:cubicBezTo>
                  <a:cubicBezTo>
                    <a:pt x="40" y="100"/>
                    <a:pt x="24" y="140"/>
                    <a:pt x="24" y="182"/>
                  </a:cubicBezTo>
                  <a:cubicBezTo>
                    <a:pt x="24" y="254"/>
                    <a:pt x="136" y="403"/>
                    <a:pt x="171" y="447"/>
                  </a:cubicBezTo>
                  <a:cubicBezTo>
                    <a:pt x="174" y="450"/>
                    <a:pt x="178" y="452"/>
                    <a:pt x="182" y="452"/>
                  </a:cubicBezTo>
                  <a:cubicBezTo>
                    <a:pt x="186" y="452"/>
                    <a:pt x="190" y="450"/>
                    <a:pt x="193" y="447"/>
                  </a:cubicBezTo>
                  <a:cubicBezTo>
                    <a:pt x="285" y="329"/>
                    <a:pt x="340" y="230"/>
                    <a:pt x="340" y="182"/>
                  </a:cubicBezTo>
                  <a:cubicBezTo>
                    <a:pt x="340" y="95"/>
                    <a:pt x="269" y="24"/>
                    <a:pt x="18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Freeform 56">
              <a:extLst>
                <a:ext uri="{FF2B5EF4-FFF2-40B4-BE49-F238E27FC236}">
                  <a16:creationId xmlns:a16="http://schemas.microsoft.com/office/drawing/2014/main" id="{2BDA82C2-4F79-FF70-A3AE-3B5C25BB84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0775" y="3079750"/>
              <a:ext cx="114300" cy="115888"/>
            </a:xfrm>
            <a:custGeom>
              <a:avLst/>
              <a:gdLst>
                <a:gd name="T0" fmla="*/ 76 w 152"/>
                <a:gd name="T1" fmla="*/ 152 h 152"/>
                <a:gd name="T2" fmla="*/ 0 w 152"/>
                <a:gd name="T3" fmla="*/ 76 h 152"/>
                <a:gd name="T4" fmla="*/ 76 w 152"/>
                <a:gd name="T5" fmla="*/ 0 h 152"/>
                <a:gd name="T6" fmla="*/ 76 w 152"/>
                <a:gd name="T7" fmla="*/ 0 h 152"/>
                <a:gd name="T8" fmla="*/ 130 w 152"/>
                <a:gd name="T9" fmla="*/ 22 h 152"/>
                <a:gd name="T10" fmla="*/ 152 w 152"/>
                <a:gd name="T11" fmla="*/ 76 h 152"/>
                <a:gd name="T12" fmla="*/ 152 w 152"/>
                <a:gd name="T13" fmla="*/ 76 h 152"/>
                <a:gd name="T14" fmla="*/ 76 w 152"/>
                <a:gd name="T15" fmla="*/ 152 h 152"/>
                <a:gd name="T16" fmla="*/ 76 w 152"/>
                <a:gd name="T17" fmla="*/ 24 h 152"/>
                <a:gd name="T18" fmla="*/ 76 w 152"/>
                <a:gd name="T19" fmla="*/ 24 h 152"/>
                <a:gd name="T20" fmla="*/ 24 w 152"/>
                <a:gd name="T21" fmla="*/ 76 h 152"/>
                <a:gd name="T22" fmla="*/ 76 w 152"/>
                <a:gd name="T23" fmla="*/ 128 h 152"/>
                <a:gd name="T24" fmla="*/ 128 w 152"/>
                <a:gd name="T25" fmla="*/ 76 h 152"/>
                <a:gd name="T26" fmla="*/ 128 w 152"/>
                <a:gd name="T27" fmla="*/ 76 h 152"/>
                <a:gd name="T28" fmla="*/ 113 w 152"/>
                <a:gd name="T29" fmla="*/ 39 h 152"/>
                <a:gd name="T30" fmla="*/ 76 w 152"/>
                <a:gd name="T31" fmla="*/ 2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2" h="152">
                  <a:moveTo>
                    <a:pt x="76" y="152"/>
                  </a:moveTo>
                  <a:cubicBezTo>
                    <a:pt x="34" y="152"/>
                    <a:pt x="0" y="118"/>
                    <a:pt x="0" y="76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6" y="0"/>
                    <a:pt x="115" y="8"/>
                    <a:pt x="130" y="22"/>
                  </a:cubicBezTo>
                  <a:cubicBezTo>
                    <a:pt x="144" y="37"/>
                    <a:pt x="152" y="56"/>
                    <a:pt x="152" y="76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118"/>
                    <a:pt x="118" y="152"/>
                    <a:pt x="76" y="152"/>
                  </a:cubicBezTo>
                  <a:close/>
                  <a:moveTo>
                    <a:pt x="76" y="24"/>
                  </a:moveTo>
                  <a:cubicBezTo>
                    <a:pt x="76" y="24"/>
                    <a:pt x="76" y="24"/>
                    <a:pt x="76" y="24"/>
                  </a:cubicBezTo>
                  <a:cubicBezTo>
                    <a:pt x="47" y="24"/>
                    <a:pt x="24" y="47"/>
                    <a:pt x="24" y="76"/>
                  </a:cubicBezTo>
                  <a:cubicBezTo>
                    <a:pt x="24" y="104"/>
                    <a:pt x="47" y="128"/>
                    <a:pt x="76" y="128"/>
                  </a:cubicBezTo>
                  <a:cubicBezTo>
                    <a:pt x="104" y="128"/>
                    <a:pt x="128" y="104"/>
                    <a:pt x="128" y="76"/>
                  </a:cubicBezTo>
                  <a:cubicBezTo>
                    <a:pt x="128" y="76"/>
                    <a:pt x="128" y="76"/>
                    <a:pt x="128" y="76"/>
                  </a:cubicBezTo>
                  <a:cubicBezTo>
                    <a:pt x="128" y="62"/>
                    <a:pt x="122" y="49"/>
                    <a:pt x="113" y="39"/>
                  </a:cubicBezTo>
                  <a:cubicBezTo>
                    <a:pt x="103" y="29"/>
                    <a:pt x="90" y="24"/>
                    <a:pt x="76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Freeform 57">
              <a:extLst>
                <a:ext uri="{FF2B5EF4-FFF2-40B4-BE49-F238E27FC236}">
                  <a16:creationId xmlns:a16="http://schemas.microsoft.com/office/drawing/2014/main" id="{9580BDE8-0F8A-6F83-B33A-39D0DCBA71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9575" y="3232150"/>
              <a:ext cx="361950" cy="514350"/>
            </a:xfrm>
            <a:custGeom>
              <a:avLst/>
              <a:gdLst>
                <a:gd name="T0" fmla="*/ 240 w 480"/>
                <a:gd name="T1" fmla="*/ 681 h 681"/>
                <a:gd name="T2" fmla="*/ 208 w 480"/>
                <a:gd name="T3" fmla="*/ 663 h 681"/>
                <a:gd name="T4" fmla="*/ 16 w 480"/>
                <a:gd name="T5" fmla="*/ 270 h 681"/>
                <a:gd name="T6" fmla="*/ 61 w 480"/>
                <a:gd name="T7" fmla="*/ 80 h 681"/>
                <a:gd name="T8" fmla="*/ 240 w 480"/>
                <a:gd name="T9" fmla="*/ 5 h 681"/>
                <a:gd name="T10" fmla="*/ 419 w 480"/>
                <a:gd name="T11" fmla="*/ 80 h 681"/>
                <a:gd name="T12" fmla="*/ 465 w 480"/>
                <a:gd name="T13" fmla="*/ 270 h 681"/>
                <a:gd name="T14" fmla="*/ 272 w 480"/>
                <a:gd name="T15" fmla="*/ 663 h 681"/>
                <a:gd name="T16" fmla="*/ 240 w 480"/>
                <a:gd name="T17" fmla="*/ 681 h 681"/>
                <a:gd name="T18" fmla="*/ 240 w 480"/>
                <a:gd name="T19" fmla="*/ 681 h 681"/>
                <a:gd name="T20" fmla="*/ 226 w 480"/>
                <a:gd name="T21" fmla="*/ 28 h 681"/>
                <a:gd name="T22" fmla="*/ 80 w 480"/>
                <a:gd name="T23" fmla="*/ 96 h 681"/>
                <a:gd name="T24" fmla="*/ 39 w 480"/>
                <a:gd name="T25" fmla="*/ 264 h 681"/>
                <a:gd name="T26" fmla="*/ 39 w 480"/>
                <a:gd name="T27" fmla="*/ 265 h 681"/>
                <a:gd name="T28" fmla="*/ 228 w 480"/>
                <a:gd name="T29" fmla="*/ 650 h 681"/>
                <a:gd name="T30" fmla="*/ 240 w 480"/>
                <a:gd name="T31" fmla="*/ 657 h 681"/>
                <a:gd name="T32" fmla="*/ 240 w 480"/>
                <a:gd name="T33" fmla="*/ 657 h 681"/>
                <a:gd name="T34" fmla="*/ 252 w 480"/>
                <a:gd name="T35" fmla="*/ 650 h 681"/>
                <a:gd name="T36" fmla="*/ 441 w 480"/>
                <a:gd name="T37" fmla="*/ 265 h 681"/>
                <a:gd name="T38" fmla="*/ 441 w 480"/>
                <a:gd name="T39" fmla="*/ 264 h 681"/>
                <a:gd name="T40" fmla="*/ 401 w 480"/>
                <a:gd name="T41" fmla="*/ 96 h 681"/>
                <a:gd name="T42" fmla="*/ 241 w 480"/>
                <a:gd name="T43" fmla="*/ 29 h 681"/>
                <a:gd name="T44" fmla="*/ 240 w 480"/>
                <a:gd name="T45" fmla="*/ 29 h 681"/>
                <a:gd name="T46" fmla="*/ 239 w 480"/>
                <a:gd name="T47" fmla="*/ 29 h 681"/>
                <a:gd name="T48" fmla="*/ 226 w 480"/>
                <a:gd name="T49" fmla="*/ 28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0" h="681">
                  <a:moveTo>
                    <a:pt x="240" y="681"/>
                  </a:moveTo>
                  <a:cubicBezTo>
                    <a:pt x="227" y="681"/>
                    <a:pt x="214" y="674"/>
                    <a:pt x="208" y="663"/>
                  </a:cubicBezTo>
                  <a:cubicBezTo>
                    <a:pt x="156" y="580"/>
                    <a:pt x="35" y="376"/>
                    <a:pt x="16" y="270"/>
                  </a:cubicBezTo>
                  <a:cubicBezTo>
                    <a:pt x="0" y="203"/>
                    <a:pt x="17" y="132"/>
                    <a:pt x="61" y="80"/>
                  </a:cubicBezTo>
                  <a:cubicBezTo>
                    <a:pt x="105" y="28"/>
                    <a:pt x="172" y="0"/>
                    <a:pt x="240" y="5"/>
                  </a:cubicBezTo>
                  <a:cubicBezTo>
                    <a:pt x="308" y="0"/>
                    <a:pt x="375" y="28"/>
                    <a:pt x="419" y="80"/>
                  </a:cubicBezTo>
                  <a:cubicBezTo>
                    <a:pt x="464" y="132"/>
                    <a:pt x="480" y="203"/>
                    <a:pt x="465" y="270"/>
                  </a:cubicBezTo>
                  <a:cubicBezTo>
                    <a:pt x="449" y="362"/>
                    <a:pt x="325" y="575"/>
                    <a:pt x="272" y="663"/>
                  </a:cubicBezTo>
                  <a:cubicBezTo>
                    <a:pt x="266" y="674"/>
                    <a:pt x="253" y="681"/>
                    <a:pt x="240" y="681"/>
                  </a:cubicBezTo>
                  <a:cubicBezTo>
                    <a:pt x="240" y="681"/>
                    <a:pt x="240" y="681"/>
                    <a:pt x="240" y="681"/>
                  </a:cubicBezTo>
                  <a:close/>
                  <a:moveTo>
                    <a:pt x="226" y="28"/>
                  </a:moveTo>
                  <a:cubicBezTo>
                    <a:pt x="170" y="28"/>
                    <a:pt x="116" y="53"/>
                    <a:pt x="80" y="96"/>
                  </a:cubicBezTo>
                  <a:cubicBezTo>
                    <a:pt x="40" y="142"/>
                    <a:pt x="25" y="205"/>
                    <a:pt x="39" y="264"/>
                  </a:cubicBezTo>
                  <a:cubicBezTo>
                    <a:pt x="39" y="265"/>
                    <a:pt x="39" y="265"/>
                    <a:pt x="39" y="265"/>
                  </a:cubicBezTo>
                  <a:cubicBezTo>
                    <a:pt x="58" y="368"/>
                    <a:pt x="178" y="569"/>
                    <a:pt x="228" y="650"/>
                  </a:cubicBezTo>
                  <a:cubicBezTo>
                    <a:pt x="231" y="655"/>
                    <a:pt x="235" y="657"/>
                    <a:pt x="240" y="657"/>
                  </a:cubicBezTo>
                  <a:cubicBezTo>
                    <a:pt x="240" y="657"/>
                    <a:pt x="240" y="657"/>
                    <a:pt x="240" y="657"/>
                  </a:cubicBezTo>
                  <a:cubicBezTo>
                    <a:pt x="245" y="657"/>
                    <a:pt x="249" y="655"/>
                    <a:pt x="252" y="650"/>
                  </a:cubicBezTo>
                  <a:cubicBezTo>
                    <a:pt x="304" y="564"/>
                    <a:pt x="426" y="353"/>
                    <a:pt x="441" y="265"/>
                  </a:cubicBezTo>
                  <a:cubicBezTo>
                    <a:pt x="441" y="264"/>
                    <a:pt x="441" y="264"/>
                    <a:pt x="441" y="264"/>
                  </a:cubicBezTo>
                  <a:cubicBezTo>
                    <a:pt x="455" y="205"/>
                    <a:pt x="440" y="142"/>
                    <a:pt x="401" y="96"/>
                  </a:cubicBezTo>
                  <a:cubicBezTo>
                    <a:pt x="362" y="49"/>
                    <a:pt x="302" y="24"/>
                    <a:pt x="241" y="29"/>
                  </a:cubicBezTo>
                  <a:cubicBezTo>
                    <a:pt x="240" y="29"/>
                    <a:pt x="240" y="29"/>
                    <a:pt x="240" y="29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35" y="28"/>
                    <a:pt x="230" y="28"/>
                    <a:pt x="226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Freeform 58">
              <a:extLst>
                <a:ext uri="{FF2B5EF4-FFF2-40B4-BE49-F238E27FC236}">
                  <a16:creationId xmlns:a16="http://schemas.microsoft.com/office/drawing/2014/main" id="{B318B721-B9EF-D988-0E79-DA06A021A8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1650" y="3314700"/>
              <a:ext cx="171450" cy="165100"/>
            </a:xfrm>
            <a:custGeom>
              <a:avLst/>
              <a:gdLst>
                <a:gd name="T0" fmla="*/ 118 w 228"/>
                <a:gd name="T1" fmla="*/ 219 h 219"/>
                <a:gd name="T2" fmla="*/ 41 w 228"/>
                <a:gd name="T3" fmla="*/ 187 h 219"/>
                <a:gd name="T4" fmla="*/ 17 w 228"/>
                <a:gd name="T5" fmla="*/ 68 h 219"/>
                <a:gd name="T6" fmla="*/ 118 w 228"/>
                <a:gd name="T7" fmla="*/ 0 h 219"/>
                <a:gd name="T8" fmla="*/ 228 w 228"/>
                <a:gd name="T9" fmla="*/ 110 h 219"/>
                <a:gd name="T10" fmla="*/ 228 w 228"/>
                <a:gd name="T11" fmla="*/ 110 h 219"/>
                <a:gd name="T12" fmla="*/ 160 w 228"/>
                <a:gd name="T13" fmla="*/ 211 h 219"/>
                <a:gd name="T14" fmla="*/ 118 w 228"/>
                <a:gd name="T15" fmla="*/ 219 h 219"/>
                <a:gd name="T16" fmla="*/ 118 w 228"/>
                <a:gd name="T17" fmla="*/ 24 h 219"/>
                <a:gd name="T18" fmla="*/ 39 w 228"/>
                <a:gd name="T19" fmla="*/ 77 h 219"/>
                <a:gd name="T20" fmla="*/ 58 w 228"/>
                <a:gd name="T21" fmla="*/ 170 h 219"/>
                <a:gd name="T22" fmla="*/ 151 w 228"/>
                <a:gd name="T23" fmla="*/ 189 h 219"/>
                <a:gd name="T24" fmla="*/ 204 w 228"/>
                <a:gd name="T25" fmla="*/ 110 h 219"/>
                <a:gd name="T26" fmla="*/ 204 w 228"/>
                <a:gd name="T27" fmla="*/ 110 h 219"/>
                <a:gd name="T28" fmla="*/ 118 w 228"/>
                <a:gd name="T29" fmla="*/ 24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19">
                  <a:moveTo>
                    <a:pt x="118" y="219"/>
                  </a:moveTo>
                  <a:cubicBezTo>
                    <a:pt x="90" y="219"/>
                    <a:pt x="62" y="208"/>
                    <a:pt x="41" y="187"/>
                  </a:cubicBezTo>
                  <a:cubicBezTo>
                    <a:pt x="9" y="156"/>
                    <a:pt x="0" y="109"/>
                    <a:pt x="17" y="68"/>
                  </a:cubicBezTo>
                  <a:cubicBezTo>
                    <a:pt x="34" y="27"/>
                    <a:pt x="74" y="0"/>
                    <a:pt x="118" y="0"/>
                  </a:cubicBezTo>
                  <a:cubicBezTo>
                    <a:pt x="179" y="0"/>
                    <a:pt x="228" y="49"/>
                    <a:pt x="228" y="110"/>
                  </a:cubicBezTo>
                  <a:cubicBezTo>
                    <a:pt x="228" y="110"/>
                    <a:pt x="228" y="110"/>
                    <a:pt x="228" y="110"/>
                  </a:cubicBezTo>
                  <a:cubicBezTo>
                    <a:pt x="228" y="154"/>
                    <a:pt x="201" y="194"/>
                    <a:pt x="160" y="211"/>
                  </a:cubicBezTo>
                  <a:cubicBezTo>
                    <a:pt x="147" y="217"/>
                    <a:pt x="132" y="219"/>
                    <a:pt x="118" y="219"/>
                  </a:cubicBezTo>
                  <a:close/>
                  <a:moveTo>
                    <a:pt x="118" y="24"/>
                  </a:moveTo>
                  <a:cubicBezTo>
                    <a:pt x="84" y="24"/>
                    <a:pt x="53" y="45"/>
                    <a:pt x="39" y="77"/>
                  </a:cubicBezTo>
                  <a:cubicBezTo>
                    <a:pt x="26" y="109"/>
                    <a:pt x="33" y="146"/>
                    <a:pt x="58" y="170"/>
                  </a:cubicBezTo>
                  <a:cubicBezTo>
                    <a:pt x="82" y="195"/>
                    <a:pt x="119" y="202"/>
                    <a:pt x="151" y="189"/>
                  </a:cubicBezTo>
                  <a:cubicBezTo>
                    <a:pt x="183" y="175"/>
                    <a:pt x="204" y="144"/>
                    <a:pt x="204" y="110"/>
                  </a:cubicBezTo>
                  <a:cubicBezTo>
                    <a:pt x="204" y="110"/>
                    <a:pt x="204" y="110"/>
                    <a:pt x="204" y="110"/>
                  </a:cubicBezTo>
                  <a:cubicBezTo>
                    <a:pt x="204" y="63"/>
                    <a:pt x="165" y="24"/>
                    <a:pt x="118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Freeform 59">
              <a:extLst>
                <a:ext uri="{FF2B5EF4-FFF2-40B4-BE49-F238E27FC236}">
                  <a16:creationId xmlns:a16="http://schemas.microsoft.com/office/drawing/2014/main" id="{27BC77EA-588B-589D-BE9F-13224D0F63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913" y="3411538"/>
              <a:ext cx="471488" cy="312738"/>
            </a:xfrm>
            <a:custGeom>
              <a:avLst/>
              <a:gdLst>
                <a:gd name="T0" fmla="*/ 14 w 626"/>
                <a:gd name="T1" fmla="*/ 415 h 415"/>
                <a:gd name="T2" fmla="*/ 4 w 626"/>
                <a:gd name="T3" fmla="*/ 410 h 415"/>
                <a:gd name="T4" fmla="*/ 7 w 626"/>
                <a:gd name="T5" fmla="*/ 393 h 415"/>
                <a:gd name="T6" fmla="*/ 605 w 626"/>
                <a:gd name="T7" fmla="*/ 3 h 415"/>
                <a:gd name="T8" fmla="*/ 622 w 626"/>
                <a:gd name="T9" fmla="*/ 7 h 415"/>
                <a:gd name="T10" fmla="*/ 618 w 626"/>
                <a:gd name="T11" fmla="*/ 24 h 415"/>
                <a:gd name="T12" fmla="*/ 21 w 626"/>
                <a:gd name="T13" fmla="*/ 414 h 415"/>
                <a:gd name="T14" fmla="*/ 14 w 626"/>
                <a:gd name="T15" fmla="*/ 41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6" h="415">
                  <a:moveTo>
                    <a:pt x="14" y="415"/>
                  </a:moveTo>
                  <a:cubicBezTo>
                    <a:pt x="10" y="415"/>
                    <a:pt x="6" y="414"/>
                    <a:pt x="4" y="410"/>
                  </a:cubicBezTo>
                  <a:cubicBezTo>
                    <a:pt x="0" y="405"/>
                    <a:pt x="2" y="397"/>
                    <a:pt x="7" y="393"/>
                  </a:cubicBezTo>
                  <a:cubicBezTo>
                    <a:pt x="605" y="3"/>
                    <a:pt x="605" y="3"/>
                    <a:pt x="605" y="3"/>
                  </a:cubicBezTo>
                  <a:cubicBezTo>
                    <a:pt x="611" y="0"/>
                    <a:pt x="618" y="1"/>
                    <a:pt x="622" y="7"/>
                  </a:cubicBezTo>
                  <a:cubicBezTo>
                    <a:pt x="626" y="13"/>
                    <a:pt x="624" y="20"/>
                    <a:pt x="618" y="24"/>
                  </a:cubicBezTo>
                  <a:cubicBezTo>
                    <a:pt x="21" y="414"/>
                    <a:pt x="21" y="414"/>
                    <a:pt x="21" y="414"/>
                  </a:cubicBezTo>
                  <a:cubicBezTo>
                    <a:pt x="19" y="415"/>
                    <a:pt x="16" y="415"/>
                    <a:pt x="14" y="4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8" name="Title 27">
            <a:extLst>
              <a:ext uri="{FF2B5EF4-FFF2-40B4-BE49-F238E27FC236}">
                <a16:creationId xmlns:a16="http://schemas.microsoft.com/office/drawing/2014/main" id="{C2972566-ADF4-75E0-F59F-323E9DD07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PAM Reference Architecture</a:t>
            </a:r>
          </a:p>
        </p:txBody>
      </p:sp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3699364F-757B-6485-8C8B-C6E6A20D5C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40E91A3-A25F-6D81-E001-894CB26C5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244" y="660942"/>
            <a:ext cx="6604001" cy="4159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6291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2C9D9-73DE-8EBE-D8D0-C8FEA8202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58284D31-B9AE-E784-31F4-46CEA07950A6}"/>
              </a:ext>
            </a:extLst>
          </p:cNvPr>
          <p:cNvGrpSpPr/>
          <p:nvPr/>
        </p:nvGrpSpPr>
        <p:grpSpPr>
          <a:xfrm>
            <a:off x="1646076" y="4029452"/>
            <a:ext cx="570912" cy="419326"/>
            <a:chOff x="6759575" y="3000375"/>
            <a:chExt cx="906463" cy="746125"/>
          </a:xfrm>
          <a:solidFill>
            <a:srgbClr val="F4F3F9"/>
          </a:solidFill>
        </p:grpSpPr>
        <p:sp>
          <p:nvSpPr>
            <p:cNvPr id="50" name="Freeform 55">
              <a:extLst>
                <a:ext uri="{FF2B5EF4-FFF2-40B4-BE49-F238E27FC236}">
                  <a16:creationId xmlns:a16="http://schemas.microsoft.com/office/drawing/2014/main" id="{A7045B7D-BFD0-E7E5-0C11-30A78D8735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1400" y="3000375"/>
              <a:ext cx="274638" cy="358775"/>
            </a:xfrm>
            <a:custGeom>
              <a:avLst/>
              <a:gdLst>
                <a:gd name="T0" fmla="*/ 182 w 364"/>
                <a:gd name="T1" fmla="*/ 476 h 476"/>
                <a:gd name="T2" fmla="*/ 152 w 364"/>
                <a:gd name="T3" fmla="*/ 462 h 476"/>
                <a:gd name="T4" fmla="*/ 0 w 364"/>
                <a:gd name="T5" fmla="*/ 182 h 476"/>
                <a:gd name="T6" fmla="*/ 53 w 364"/>
                <a:gd name="T7" fmla="*/ 53 h 476"/>
                <a:gd name="T8" fmla="*/ 182 w 364"/>
                <a:gd name="T9" fmla="*/ 0 h 476"/>
                <a:gd name="T10" fmla="*/ 182 w 364"/>
                <a:gd name="T11" fmla="*/ 0 h 476"/>
                <a:gd name="T12" fmla="*/ 364 w 364"/>
                <a:gd name="T13" fmla="*/ 182 h 476"/>
                <a:gd name="T14" fmla="*/ 212 w 364"/>
                <a:gd name="T15" fmla="*/ 462 h 476"/>
                <a:gd name="T16" fmla="*/ 182 w 364"/>
                <a:gd name="T17" fmla="*/ 476 h 476"/>
                <a:gd name="T18" fmla="*/ 182 w 364"/>
                <a:gd name="T19" fmla="*/ 24 h 476"/>
                <a:gd name="T20" fmla="*/ 70 w 364"/>
                <a:gd name="T21" fmla="*/ 70 h 476"/>
                <a:gd name="T22" fmla="*/ 24 w 364"/>
                <a:gd name="T23" fmla="*/ 182 h 476"/>
                <a:gd name="T24" fmla="*/ 171 w 364"/>
                <a:gd name="T25" fmla="*/ 447 h 476"/>
                <a:gd name="T26" fmla="*/ 182 w 364"/>
                <a:gd name="T27" fmla="*/ 452 h 476"/>
                <a:gd name="T28" fmla="*/ 193 w 364"/>
                <a:gd name="T29" fmla="*/ 447 h 476"/>
                <a:gd name="T30" fmla="*/ 340 w 364"/>
                <a:gd name="T31" fmla="*/ 182 h 476"/>
                <a:gd name="T32" fmla="*/ 182 w 364"/>
                <a:gd name="T33" fmla="*/ 24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4" h="476">
                  <a:moveTo>
                    <a:pt x="182" y="476"/>
                  </a:moveTo>
                  <a:cubicBezTo>
                    <a:pt x="170" y="476"/>
                    <a:pt x="159" y="471"/>
                    <a:pt x="152" y="462"/>
                  </a:cubicBezTo>
                  <a:cubicBezTo>
                    <a:pt x="95" y="389"/>
                    <a:pt x="0" y="257"/>
                    <a:pt x="0" y="182"/>
                  </a:cubicBezTo>
                  <a:cubicBezTo>
                    <a:pt x="0" y="133"/>
                    <a:pt x="19" y="87"/>
                    <a:pt x="53" y="53"/>
                  </a:cubicBezTo>
                  <a:cubicBezTo>
                    <a:pt x="87" y="19"/>
                    <a:pt x="133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282" y="0"/>
                    <a:pt x="364" y="81"/>
                    <a:pt x="364" y="182"/>
                  </a:cubicBezTo>
                  <a:cubicBezTo>
                    <a:pt x="364" y="257"/>
                    <a:pt x="269" y="389"/>
                    <a:pt x="212" y="462"/>
                  </a:cubicBezTo>
                  <a:cubicBezTo>
                    <a:pt x="205" y="471"/>
                    <a:pt x="194" y="476"/>
                    <a:pt x="182" y="476"/>
                  </a:cubicBezTo>
                  <a:close/>
                  <a:moveTo>
                    <a:pt x="182" y="24"/>
                  </a:moveTo>
                  <a:cubicBezTo>
                    <a:pt x="140" y="24"/>
                    <a:pt x="100" y="40"/>
                    <a:pt x="70" y="70"/>
                  </a:cubicBezTo>
                  <a:cubicBezTo>
                    <a:pt x="40" y="100"/>
                    <a:pt x="24" y="140"/>
                    <a:pt x="24" y="182"/>
                  </a:cubicBezTo>
                  <a:cubicBezTo>
                    <a:pt x="24" y="254"/>
                    <a:pt x="136" y="403"/>
                    <a:pt x="171" y="447"/>
                  </a:cubicBezTo>
                  <a:cubicBezTo>
                    <a:pt x="174" y="450"/>
                    <a:pt x="178" y="452"/>
                    <a:pt x="182" y="452"/>
                  </a:cubicBezTo>
                  <a:cubicBezTo>
                    <a:pt x="186" y="452"/>
                    <a:pt x="190" y="450"/>
                    <a:pt x="193" y="447"/>
                  </a:cubicBezTo>
                  <a:cubicBezTo>
                    <a:pt x="285" y="329"/>
                    <a:pt x="340" y="230"/>
                    <a:pt x="340" y="182"/>
                  </a:cubicBezTo>
                  <a:cubicBezTo>
                    <a:pt x="340" y="95"/>
                    <a:pt x="269" y="24"/>
                    <a:pt x="18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Freeform 56">
              <a:extLst>
                <a:ext uri="{FF2B5EF4-FFF2-40B4-BE49-F238E27FC236}">
                  <a16:creationId xmlns:a16="http://schemas.microsoft.com/office/drawing/2014/main" id="{CC09EF66-3A58-DA03-2B66-6BC219579F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0775" y="3079750"/>
              <a:ext cx="114300" cy="115888"/>
            </a:xfrm>
            <a:custGeom>
              <a:avLst/>
              <a:gdLst>
                <a:gd name="T0" fmla="*/ 76 w 152"/>
                <a:gd name="T1" fmla="*/ 152 h 152"/>
                <a:gd name="T2" fmla="*/ 0 w 152"/>
                <a:gd name="T3" fmla="*/ 76 h 152"/>
                <a:gd name="T4" fmla="*/ 76 w 152"/>
                <a:gd name="T5" fmla="*/ 0 h 152"/>
                <a:gd name="T6" fmla="*/ 76 w 152"/>
                <a:gd name="T7" fmla="*/ 0 h 152"/>
                <a:gd name="T8" fmla="*/ 130 w 152"/>
                <a:gd name="T9" fmla="*/ 22 h 152"/>
                <a:gd name="T10" fmla="*/ 152 w 152"/>
                <a:gd name="T11" fmla="*/ 76 h 152"/>
                <a:gd name="T12" fmla="*/ 152 w 152"/>
                <a:gd name="T13" fmla="*/ 76 h 152"/>
                <a:gd name="T14" fmla="*/ 76 w 152"/>
                <a:gd name="T15" fmla="*/ 152 h 152"/>
                <a:gd name="T16" fmla="*/ 76 w 152"/>
                <a:gd name="T17" fmla="*/ 24 h 152"/>
                <a:gd name="T18" fmla="*/ 76 w 152"/>
                <a:gd name="T19" fmla="*/ 24 h 152"/>
                <a:gd name="T20" fmla="*/ 24 w 152"/>
                <a:gd name="T21" fmla="*/ 76 h 152"/>
                <a:gd name="T22" fmla="*/ 76 w 152"/>
                <a:gd name="T23" fmla="*/ 128 h 152"/>
                <a:gd name="T24" fmla="*/ 128 w 152"/>
                <a:gd name="T25" fmla="*/ 76 h 152"/>
                <a:gd name="T26" fmla="*/ 128 w 152"/>
                <a:gd name="T27" fmla="*/ 76 h 152"/>
                <a:gd name="T28" fmla="*/ 113 w 152"/>
                <a:gd name="T29" fmla="*/ 39 h 152"/>
                <a:gd name="T30" fmla="*/ 76 w 152"/>
                <a:gd name="T31" fmla="*/ 2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2" h="152">
                  <a:moveTo>
                    <a:pt x="76" y="152"/>
                  </a:moveTo>
                  <a:cubicBezTo>
                    <a:pt x="34" y="152"/>
                    <a:pt x="0" y="118"/>
                    <a:pt x="0" y="76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6" y="0"/>
                    <a:pt x="115" y="8"/>
                    <a:pt x="130" y="22"/>
                  </a:cubicBezTo>
                  <a:cubicBezTo>
                    <a:pt x="144" y="37"/>
                    <a:pt x="152" y="56"/>
                    <a:pt x="152" y="76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118"/>
                    <a:pt x="118" y="152"/>
                    <a:pt x="76" y="152"/>
                  </a:cubicBezTo>
                  <a:close/>
                  <a:moveTo>
                    <a:pt x="76" y="24"/>
                  </a:moveTo>
                  <a:cubicBezTo>
                    <a:pt x="76" y="24"/>
                    <a:pt x="76" y="24"/>
                    <a:pt x="76" y="24"/>
                  </a:cubicBezTo>
                  <a:cubicBezTo>
                    <a:pt x="47" y="24"/>
                    <a:pt x="24" y="47"/>
                    <a:pt x="24" y="76"/>
                  </a:cubicBezTo>
                  <a:cubicBezTo>
                    <a:pt x="24" y="104"/>
                    <a:pt x="47" y="128"/>
                    <a:pt x="76" y="128"/>
                  </a:cubicBezTo>
                  <a:cubicBezTo>
                    <a:pt x="104" y="128"/>
                    <a:pt x="128" y="104"/>
                    <a:pt x="128" y="76"/>
                  </a:cubicBezTo>
                  <a:cubicBezTo>
                    <a:pt x="128" y="76"/>
                    <a:pt x="128" y="76"/>
                    <a:pt x="128" y="76"/>
                  </a:cubicBezTo>
                  <a:cubicBezTo>
                    <a:pt x="128" y="62"/>
                    <a:pt x="122" y="49"/>
                    <a:pt x="113" y="39"/>
                  </a:cubicBezTo>
                  <a:cubicBezTo>
                    <a:pt x="103" y="29"/>
                    <a:pt x="90" y="24"/>
                    <a:pt x="76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Freeform 57">
              <a:extLst>
                <a:ext uri="{FF2B5EF4-FFF2-40B4-BE49-F238E27FC236}">
                  <a16:creationId xmlns:a16="http://schemas.microsoft.com/office/drawing/2014/main" id="{C1EAB371-6D84-43B8-D1E1-DC2D943F94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9575" y="3232150"/>
              <a:ext cx="361950" cy="514350"/>
            </a:xfrm>
            <a:custGeom>
              <a:avLst/>
              <a:gdLst>
                <a:gd name="T0" fmla="*/ 240 w 480"/>
                <a:gd name="T1" fmla="*/ 681 h 681"/>
                <a:gd name="T2" fmla="*/ 208 w 480"/>
                <a:gd name="T3" fmla="*/ 663 h 681"/>
                <a:gd name="T4" fmla="*/ 16 w 480"/>
                <a:gd name="T5" fmla="*/ 270 h 681"/>
                <a:gd name="T6" fmla="*/ 61 w 480"/>
                <a:gd name="T7" fmla="*/ 80 h 681"/>
                <a:gd name="T8" fmla="*/ 240 w 480"/>
                <a:gd name="T9" fmla="*/ 5 h 681"/>
                <a:gd name="T10" fmla="*/ 419 w 480"/>
                <a:gd name="T11" fmla="*/ 80 h 681"/>
                <a:gd name="T12" fmla="*/ 465 w 480"/>
                <a:gd name="T13" fmla="*/ 270 h 681"/>
                <a:gd name="T14" fmla="*/ 272 w 480"/>
                <a:gd name="T15" fmla="*/ 663 h 681"/>
                <a:gd name="T16" fmla="*/ 240 w 480"/>
                <a:gd name="T17" fmla="*/ 681 h 681"/>
                <a:gd name="T18" fmla="*/ 240 w 480"/>
                <a:gd name="T19" fmla="*/ 681 h 681"/>
                <a:gd name="T20" fmla="*/ 226 w 480"/>
                <a:gd name="T21" fmla="*/ 28 h 681"/>
                <a:gd name="T22" fmla="*/ 80 w 480"/>
                <a:gd name="T23" fmla="*/ 96 h 681"/>
                <a:gd name="T24" fmla="*/ 39 w 480"/>
                <a:gd name="T25" fmla="*/ 264 h 681"/>
                <a:gd name="T26" fmla="*/ 39 w 480"/>
                <a:gd name="T27" fmla="*/ 265 h 681"/>
                <a:gd name="T28" fmla="*/ 228 w 480"/>
                <a:gd name="T29" fmla="*/ 650 h 681"/>
                <a:gd name="T30" fmla="*/ 240 w 480"/>
                <a:gd name="T31" fmla="*/ 657 h 681"/>
                <a:gd name="T32" fmla="*/ 240 w 480"/>
                <a:gd name="T33" fmla="*/ 657 h 681"/>
                <a:gd name="T34" fmla="*/ 252 w 480"/>
                <a:gd name="T35" fmla="*/ 650 h 681"/>
                <a:gd name="T36" fmla="*/ 441 w 480"/>
                <a:gd name="T37" fmla="*/ 265 h 681"/>
                <a:gd name="T38" fmla="*/ 441 w 480"/>
                <a:gd name="T39" fmla="*/ 264 h 681"/>
                <a:gd name="T40" fmla="*/ 401 w 480"/>
                <a:gd name="T41" fmla="*/ 96 h 681"/>
                <a:gd name="T42" fmla="*/ 241 w 480"/>
                <a:gd name="T43" fmla="*/ 29 h 681"/>
                <a:gd name="T44" fmla="*/ 240 w 480"/>
                <a:gd name="T45" fmla="*/ 29 h 681"/>
                <a:gd name="T46" fmla="*/ 239 w 480"/>
                <a:gd name="T47" fmla="*/ 29 h 681"/>
                <a:gd name="T48" fmla="*/ 226 w 480"/>
                <a:gd name="T49" fmla="*/ 28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0" h="681">
                  <a:moveTo>
                    <a:pt x="240" y="681"/>
                  </a:moveTo>
                  <a:cubicBezTo>
                    <a:pt x="227" y="681"/>
                    <a:pt x="214" y="674"/>
                    <a:pt x="208" y="663"/>
                  </a:cubicBezTo>
                  <a:cubicBezTo>
                    <a:pt x="156" y="580"/>
                    <a:pt x="35" y="376"/>
                    <a:pt x="16" y="270"/>
                  </a:cubicBezTo>
                  <a:cubicBezTo>
                    <a:pt x="0" y="203"/>
                    <a:pt x="17" y="132"/>
                    <a:pt x="61" y="80"/>
                  </a:cubicBezTo>
                  <a:cubicBezTo>
                    <a:pt x="105" y="28"/>
                    <a:pt x="172" y="0"/>
                    <a:pt x="240" y="5"/>
                  </a:cubicBezTo>
                  <a:cubicBezTo>
                    <a:pt x="308" y="0"/>
                    <a:pt x="375" y="28"/>
                    <a:pt x="419" y="80"/>
                  </a:cubicBezTo>
                  <a:cubicBezTo>
                    <a:pt x="464" y="132"/>
                    <a:pt x="480" y="203"/>
                    <a:pt x="465" y="270"/>
                  </a:cubicBezTo>
                  <a:cubicBezTo>
                    <a:pt x="449" y="362"/>
                    <a:pt x="325" y="575"/>
                    <a:pt x="272" y="663"/>
                  </a:cubicBezTo>
                  <a:cubicBezTo>
                    <a:pt x="266" y="674"/>
                    <a:pt x="253" y="681"/>
                    <a:pt x="240" y="681"/>
                  </a:cubicBezTo>
                  <a:cubicBezTo>
                    <a:pt x="240" y="681"/>
                    <a:pt x="240" y="681"/>
                    <a:pt x="240" y="681"/>
                  </a:cubicBezTo>
                  <a:close/>
                  <a:moveTo>
                    <a:pt x="226" y="28"/>
                  </a:moveTo>
                  <a:cubicBezTo>
                    <a:pt x="170" y="28"/>
                    <a:pt x="116" y="53"/>
                    <a:pt x="80" y="96"/>
                  </a:cubicBezTo>
                  <a:cubicBezTo>
                    <a:pt x="40" y="142"/>
                    <a:pt x="25" y="205"/>
                    <a:pt x="39" y="264"/>
                  </a:cubicBezTo>
                  <a:cubicBezTo>
                    <a:pt x="39" y="265"/>
                    <a:pt x="39" y="265"/>
                    <a:pt x="39" y="265"/>
                  </a:cubicBezTo>
                  <a:cubicBezTo>
                    <a:pt x="58" y="368"/>
                    <a:pt x="178" y="569"/>
                    <a:pt x="228" y="650"/>
                  </a:cubicBezTo>
                  <a:cubicBezTo>
                    <a:pt x="231" y="655"/>
                    <a:pt x="235" y="657"/>
                    <a:pt x="240" y="657"/>
                  </a:cubicBezTo>
                  <a:cubicBezTo>
                    <a:pt x="240" y="657"/>
                    <a:pt x="240" y="657"/>
                    <a:pt x="240" y="657"/>
                  </a:cubicBezTo>
                  <a:cubicBezTo>
                    <a:pt x="245" y="657"/>
                    <a:pt x="249" y="655"/>
                    <a:pt x="252" y="650"/>
                  </a:cubicBezTo>
                  <a:cubicBezTo>
                    <a:pt x="304" y="564"/>
                    <a:pt x="426" y="353"/>
                    <a:pt x="441" y="265"/>
                  </a:cubicBezTo>
                  <a:cubicBezTo>
                    <a:pt x="441" y="264"/>
                    <a:pt x="441" y="264"/>
                    <a:pt x="441" y="264"/>
                  </a:cubicBezTo>
                  <a:cubicBezTo>
                    <a:pt x="455" y="205"/>
                    <a:pt x="440" y="142"/>
                    <a:pt x="401" y="96"/>
                  </a:cubicBezTo>
                  <a:cubicBezTo>
                    <a:pt x="362" y="49"/>
                    <a:pt x="302" y="24"/>
                    <a:pt x="241" y="29"/>
                  </a:cubicBezTo>
                  <a:cubicBezTo>
                    <a:pt x="240" y="29"/>
                    <a:pt x="240" y="29"/>
                    <a:pt x="240" y="29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35" y="28"/>
                    <a:pt x="230" y="28"/>
                    <a:pt x="226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Freeform 58">
              <a:extLst>
                <a:ext uri="{FF2B5EF4-FFF2-40B4-BE49-F238E27FC236}">
                  <a16:creationId xmlns:a16="http://schemas.microsoft.com/office/drawing/2014/main" id="{C7C81B49-53AC-9192-64EF-7097F0876F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1650" y="3314700"/>
              <a:ext cx="171450" cy="165100"/>
            </a:xfrm>
            <a:custGeom>
              <a:avLst/>
              <a:gdLst>
                <a:gd name="T0" fmla="*/ 118 w 228"/>
                <a:gd name="T1" fmla="*/ 219 h 219"/>
                <a:gd name="T2" fmla="*/ 41 w 228"/>
                <a:gd name="T3" fmla="*/ 187 h 219"/>
                <a:gd name="T4" fmla="*/ 17 w 228"/>
                <a:gd name="T5" fmla="*/ 68 h 219"/>
                <a:gd name="T6" fmla="*/ 118 w 228"/>
                <a:gd name="T7" fmla="*/ 0 h 219"/>
                <a:gd name="T8" fmla="*/ 228 w 228"/>
                <a:gd name="T9" fmla="*/ 110 h 219"/>
                <a:gd name="T10" fmla="*/ 228 w 228"/>
                <a:gd name="T11" fmla="*/ 110 h 219"/>
                <a:gd name="T12" fmla="*/ 160 w 228"/>
                <a:gd name="T13" fmla="*/ 211 h 219"/>
                <a:gd name="T14" fmla="*/ 118 w 228"/>
                <a:gd name="T15" fmla="*/ 219 h 219"/>
                <a:gd name="T16" fmla="*/ 118 w 228"/>
                <a:gd name="T17" fmla="*/ 24 h 219"/>
                <a:gd name="T18" fmla="*/ 39 w 228"/>
                <a:gd name="T19" fmla="*/ 77 h 219"/>
                <a:gd name="T20" fmla="*/ 58 w 228"/>
                <a:gd name="T21" fmla="*/ 170 h 219"/>
                <a:gd name="T22" fmla="*/ 151 w 228"/>
                <a:gd name="T23" fmla="*/ 189 h 219"/>
                <a:gd name="T24" fmla="*/ 204 w 228"/>
                <a:gd name="T25" fmla="*/ 110 h 219"/>
                <a:gd name="T26" fmla="*/ 204 w 228"/>
                <a:gd name="T27" fmla="*/ 110 h 219"/>
                <a:gd name="T28" fmla="*/ 118 w 228"/>
                <a:gd name="T29" fmla="*/ 24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19">
                  <a:moveTo>
                    <a:pt x="118" y="219"/>
                  </a:moveTo>
                  <a:cubicBezTo>
                    <a:pt x="90" y="219"/>
                    <a:pt x="62" y="208"/>
                    <a:pt x="41" y="187"/>
                  </a:cubicBezTo>
                  <a:cubicBezTo>
                    <a:pt x="9" y="156"/>
                    <a:pt x="0" y="109"/>
                    <a:pt x="17" y="68"/>
                  </a:cubicBezTo>
                  <a:cubicBezTo>
                    <a:pt x="34" y="27"/>
                    <a:pt x="74" y="0"/>
                    <a:pt x="118" y="0"/>
                  </a:cubicBezTo>
                  <a:cubicBezTo>
                    <a:pt x="179" y="0"/>
                    <a:pt x="228" y="49"/>
                    <a:pt x="228" y="110"/>
                  </a:cubicBezTo>
                  <a:cubicBezTo>
                    <a:pt x="228" y="110"/>
                    <a:pt x="228" y="110"/>
                    <a:pt x="228" y="110"/>
                  </a:cubicBezTo>
                  <a:cubicBezTo>
                    <a:pt x="228" y="154"/>
                    <a:pt x="201" y="194"/>
                    <a:pt x="160" y="211"/>
                  </a:cubicBezTo>
                  <a:cubicBezTo>
                    <a:pt x="147" y="217"/>
                    <a:pt x="132" y="219"/>
                    <a:pt x="118" y="219"/>
                  </a:cubicBezTo>
                  <a:close/>
                  <a:moveTo>
                    <a:pt x="118" y="24"/>
                  </a:moveTo>
                  <a:cubicBezTo>
                    <a:pt x="84" y="24"/>
                    <a:pt x="53" y="45"/>
                    <a:pt x="39" y="77"/>
                  </a:cubicBezTo>
                  <a:cubicBezTo>
                    <a:pt x="26" y="109"/>
                    <a:pt x="33" y="146"/>
                    <a:pt x="58" y="170"/>
                  </a:cubicBezTo>
                  <a:cubicBezTo>
                    <a:pt x="82" y="195"/>
                    <a:pt x="119" y="202"/>
                    <a:pt x="151" y="189"/>
                  </a:cubicBezTo>
                  <a:cubicBezTo>
                    <a:pt x="183" y="175"/>
                    <a:pt x="204" y="144"/>
                    <a:pt x="204" y="110"/>
                  </a:cubicBezTo>
                  <a:cubicBezTo>
                    <a:pt x="204" y="110"/>
                    <a:pt x="204" y="110"/>
                    <a:pt x="204" y="110"/>
                  </a:cubicBezTo>
                  <a:cubicBezTo>
                    <a:pt x="204" y="63"/>
                    <a:pt x="165" y="24"/>
                    <a:pt x="118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Freeform 59">
              <a:extLst>
                <a:ext uri="{FF2B5EF4-FFF2-40B4-BE49-F238E27FC236}">
                  <a16:creationId xmlns:a16="http://schemas.microsoft.com/office/drawing/2014/main" id="{1075BCFE-75E5-C56A-9CE4-AF285048B7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913" y="3411538"/>
              <a:ext cx="471488" cy="312738"/>
            </a:xfrm>
            <a:custGeom>
              <a:avLst/>
              <a:gdLst>
                <a:gd name="T0" fmla="*/ 14 w 626"/>
                <a:gd name="T1" fmla="*/ 415 h 415"/>
                <a:gd name="T2" fmla="*/ 4 w 626"/>
                <a:gd name="T3" fmla="*/ 410 h 415"/>
                <a:gd name="T4" fmla="*/ 7 w 626"/>
                <a:gd name="T5" fmla="*/ 393 h 415"/>
                <a:gd name="T6" fmla="*/ 605 w 626"/>
                <a:gd name="T7" fmla="*/ 3 h 415"/>
                <a:gd name="T8" fmla="*/ 622 w 626"/>
                <a:gd name="T9" fmla="*/ 7 h 415"/>
                <a:gd name="T10" fmla="*/ 618 w 626"/>
                <a:gd name="T11" fmla="*/ 24 h 415"/>
                <a:gd name="T12" fmla="*/ 21 w 626"/>
                <a:gd name="T13" fmla="*/ 414 h 415"/>
                <a:gd name="T14" fmla="*/ 14 w 626"/>
                <a:gd name="T15" fmla="*/ 41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6" h="415">
                  <a:moveTo>
                    <a:pt x="14" y="415"/>
                  </a:moveTo>
                  <a:cubicBezTo>
                    <a:pt x="10" y="415"/>
                    <a:pt x="6" y="414"/>
                    <a:pt x="4" y="410"/>
                  </a:cubicBezTo>
                  <a:cubicBezTo>
                    <a:pt x="0" y="405"/>
                    <a:pt x="2" y="397"/>
                    <a:pt x="7" y="393"/>
                  </a:cubicBezTo>
                  <a:cubicBezTo>
                    <a:pt x="605" y="3"/>
                    <a:pt x="605" y="3"/>
                    <a:pt x="605" y="3"/>
                  </a:cubicBezTo>
                  <a:cubicBezTo>
                    <a:pt x="611" y="0"/>
                    <a:pt x="618" y="1"/>
                    <a:pt x="622" y="7"/>
                  </a:cubicBezTo>
                  <a:cubicBezTo>
                    <a:pt x="626" y="13"/>
                    <a:pt x="624" y="20"/>
                    <a:pt x="618" y="24"/>
                  </a:cubicBezTo>
                  <a:cubicBezTo>
                    <a:pt x="21" y="414"/>
                    <a:pt x="21" y="414"/>
                    <a:pt x="21" y="414"/>
                  </a:cubicBezTo>
                  <a:cubicBezTo>
                    <a:pt x="19" y="415"/>
                    <a:pt x="16" y="415"/>
                    <a:pt x="14" y="4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8" name="Title 27">
            <a:extLst>
              <a:ext uri="{FF2B5EF4-FFF2-40B4-BE49-F238E27FC236}">
                <a16:creationId xmlns:a16="http://schemas.microsoft.com/office/drawing/2014/main" id="{ECC0D63A-E240-ECAA-18AD-BEED45957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PAM as it Began</a:t>
            </a:r>
          </a:p>
        </p:txBody>
      </p:sp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83550B8A-447F-BCF3-D8BC-A5AC445B26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70288E-0C18-218D-6C13-6AE4B7CEBD10}"/>
              </a:ext>
            </a:extLst>
          </p:cNvPr>
          <p:cNvSpPr txBox="1"/>
          <p:nvPr/>
        </p:nvSpPr>
        <p:spPr>
          <a:xfrm>
            <a:off x="192991" y="711921"/>
            <a:ext cx="65238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Vaulting and rotating credentials for on-premises it systems </a:t>
            </a:r>
            <a:endParaRPr lang="en-GB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0F2CA0-CA18-E876-5820-E04D6FD9C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94" y="1123748"/>
            <a:ext cx="8507012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540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C19AD-24BD-DF3F-0307-00E1FFFDC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64F25CB6-DA08-C2E8-7C24-3154E2D2D363}"/>
              </a:ext>
            </a:extLst>
          </p:cNvPr>
          <p:cNvGrpSpPr/>
          <p:nvPr/>
        </p:nvGrpSpPr>
        <p:grpSpPr>
          <a:xfrm>
            <a:off x="1646076" y="4029452"/>
            <a:ext cx="570912" cy="419326"/>
            <a:chOff x="6759575" y="3000375"/>
            <a:chExt cx="906463" cy="746125"/>
          </a:xfrm>
          <a:solidFill>
            <a:srgbClr val="F4F3F9"/>
          </a:solidFill>
        </p:grpSpPr>
        <p:sp>
          <p:nvSpPr>
            <p:cNvPr id="50" name="Freeform 55">
              <a:extLst>
                <a:ext uri="{FF2B5EF4-FFF2-40B4-BE49-F238E27FC236}">
                  <a16:creationId xmlns:a16="http://schemas.microsoft.com/office/drawing/2014/main" id="{7CB71A49-E931-14AC-CCF7-AAA3538395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1400" y="3000375"/>
              <a:ext cx="274638" cy="358775"/>
            </a:xfrm>
            <a:custGeom>
              <a:avLst/>
              <a:gdLst>
                <a:gd name="T0" fmla="*/ 182 w 364"/>
                <a:gd name="T1" fmla="*/ 476 h 476"/>
                <a:gd name="T2" fmla="*/ 152 w 364"/>
                <a:gd name="T3" fmla="*/ 462 h 476"/>
                <a:gd name="T4" fmla="*/ 0 w 364"/>
                <a:gd name="T5" fmla="*/ 182 h 476"/>
                <a:gd name="T6" fmla="*/ 53 w 364"/>
                <a:gd name="T7" fmla="*/ 53 h 476"/>
                <a:gd name="T8" fmla="*/ 182 w 364"/>
                <a:gd name="T9" fmla="*/ 0 h 476"/>
                <a:gd name="T10" fmla="*/ 182 w 364"/>
                <a:gd name="T11" fmla="*/ 0 h 476"/>
                <a:gd name="T12" fmla="*/ 364 w 364"/>
                <a:gd name="T13" fmla="*/ 182 h 476"/>
                <a:gd name="T14" fmla="*/ 212 w 364"/>
                <a:gd name="T15" fmla="*/ 462 h 476"/>
                <a:gd name="T16" fmla="*/ 182 w 364"/>
                <a:gd name="T17" fmla="*/ 476 h 476"/>
                <a:gd name="T18" fmla="*/ 182 w 364"/>
                <a:gd name="T19" fmla="*/ 24 h 476"/>
                <a:gd name="T20" fmla="*/ 70 w 364"/>
                <a:gd name="T21" fmla="*/ 70 h 476"/>
                <a:gd name="T22" fmla="*/ 24 w 364"/>
                <a:gd name="T23" fmla="*/ 182 h 476"/>
                <a:gd name="T24" fmla="*/ 171 w 364"/>
                <a:gd name="T25" fmla="*/ 447 h 476"/>
                <a:gd name="T26" fmla="*/ 182 w 364"/>
                <a:gd name="T27" fmla="*/ 452 h 476"/>
                <a:gd name="T28" fmla="*/ 193 w 364"/>
                <a:gd name="T29" fmla="*/ 447 h 476"/>
                <a:gd name="T30" fmla="*/ 340 w 364"/>
                <a:gd name="T31" fmla="*/ 182 h 476"/>
                <a:gd name="T32" fmla="*/ 182 w 364"/>
                <a:gd name="T33" fmla="*/ 24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4" h="476">
                  <a:moveTo>
                    <a:pt x="182" y="476"/>
                  </a:moveTo>
                  <a:cubicBezTo>
                    <a:pt x="170" y="476"/>
                    <a:pt x="159" y="471"/>
                    <a:pt x="152" y="462"/>
                  </a:cubicBezTo>
                  <a:cubicBezTo>
                    <a:pt x="95" y="389"/>
                    <a:pt x="0" y="257"/>
                    <a:pt x="0" y="182"/>
                  </a:cubicBezTo>
                  <a:cubicBezTo>
                    <a:pt x="0" y="133"/>
                    <a:pt x="19" y="87"/>
                    <a:pt x="53" y="53"/>
                  </a:cubicBezTo>
                  <a:cubicBezTo>
                    <a:pt x="87" y="19"/>
                    <a:pt x="133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282" y="0"/>
                    <a:pt x="364" y="81"/>
                    <a:pt x="364" y="182"/>
                  </a:cubicBezTo>
                  <a:cubicBezTo>
                    <a:pt x="364" y="257"/>
                    <a:pt x="269" y="389"/>
                    <a:pt x="212" y="462"/>
                  </a:cubicBezTo>
                  <a:cubicBezTo>
                    <a:pt x="205" y="471"/>
                    <a:pt x="194" y="476"/>
                    <a:pt x="182" y="476"/>
                  </a:cubicBezTo>
                  <a:close/>
                  <a:moveTo>
                    <a:pt x="182" y="24"/>
                  </a:moveTo>
                  <a:cubicBezTo>
                    <a:pt x="140" y="24"/>
                    <a:pt x="100" y="40"/>
                    <a:pt x="70" y="70"/>
                  </a:cubicBezTo>
                  <a:cubicBezTo>
                    <a:pt x="40" y="100"/>
                    <a:pt x="24" y="140"/>
                    <a:pt x="24" y="182"/>
                  </a:cubicBezTo>
                  <a:cubicBezTo>
                    <a:pt x="24" y="254"/>
                    <a:pt x="136" y="403"/>
                    <a:pt x="171" y="447"/>
                  </a:cubicBezTo>
                  <a:cubicBezTo>
                    <a:pt x="174" y="450"/>
                    <a:pt x="178" y="452"/>
                    <a:pt x="182" y="452"/>
                  </a:cubicBezTo>
                  <a:cubicBezTo>
                    <a:pt x="186" y="452"/>
                    <a:pt x="190" y="450"/>
                    <a:pt x="193" y="447"/>
                  </a:cubicBezTo>
                  <a:cubicBezTo>
                    <a:pt x="285" y="329"/>
                    <a:pt x="340" y="230"/>
                    <a:pt x="340" y="182"/>
                  </a:cubicBezTo>
                  <a:cubicBezTo>
                    <a:pt x="340" y="95"/>
                    <a:pt x="269" y="24"/>
                    <a:pt x="18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Freeform 56">
              <a:extLst>
                <a:ext uri="{FF2B5EF4-FFF2-40B4-BE49-F238E27FC236}">
                  <a16:creationId xmlns:a16="http://schemas.microsoft.com/office/drawing/2014/main" id="{00BB91B8-165E-3ADD-5CC0-B97B318558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0775" y="3079750"/>
              <a:ext cx="114300" cy="115888"/>
            </a:xfrm>
            <a:custGeom>
              <a:avLst/>
              <a:gdLst>
                <a:gd name="T0" fmla="*/ 76 w 152"/>
                <a:gd name="T1" fmla="*/ 152 h 152"/>
                <a:gd name="T2" fmla="*/ 0 w 152"/>
                <a:gd name="T3" fmla="*/ 76 h 152"/>
                <a:gd name="T4" fmla="*/ 76 w 152"/>
                <a:gd name="T5" fmla="*/ 0 h 152"/>
                <a:gd name="T6" fmla="*/ 76 w 152"/>
                <a:gd name="T7" fmla="*/ 0 h 152"/>
                <a:gd name="T8" fmla="*/ 130 w 152"/>
                <a:gd name="T9" fmla="*/ 22 h 152"/>
                <a:gd name="T10" fmla="*/ 152 w 152"/>
                <a:gd name="T11" fmla="*/ 76 h 152"/>
                <a:gd name="T12" fmla="*/ 152 w 152"/>
                <a:gd name="T13" fmla="*/ 76 h 152"/>
                <a:gd name="T14" fmla="*/ 76 w 152"/>
                <a:gd name="T15" fmla="*/ 152 h 152"/>
                <a:gd name="T16" fmla="*/ 76 w 152"/>
                <a:gd name="T17" fmla="*/ 24 h 152"/>
                <a:gd name="T18" fmla="*/ 76 w 152"/>
                <a:gd name="T19" fmla="*/ 24 h 152"/>
                <a:gd name="T20" fmla="*/ 24 w 152"/>
                <a:gd name="T21" fmla="*/ 76 h 152"/>
                <a:gd name="T22" fmla="*/ 76 w 152"/>
                <a:gd name="T23" fmla="*/ 128 h 152"/>
                <a:gd name="T24" fmla="*/ 128 w 152"/>
                <a:gd name="T25" fmla="*/ 76 h 152"/>
                <a:gd name="T26" fmla="*/ 128 w 152"/>
                <a:gd name="T27" fmla="*/ 76 h 152"/>
                <a:gd name="T28" fmla="*/ 113 w 152"/>
                <a:gd name="T29" fmla="*/ 39 h 152"/>
                <a:gd name="T30" fmla="*/ 76 w 152"/>
                <a:gd name="T31" fmla="*/ 2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2" h="152">
                  <a:moveTo>
                    <a:pt x="76" y="152"/>
                  </a:moveTo>
                  <a:cubicBezTo>
                    <a:pt x="34" y="152"/>
                    <a:pt x="0" y="118"/>
                    <a:pt x="0" y="76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6" y="0"/>
                    <a:pt x="115" y="8"/>
                    <a:pt x="130" y="22"/>
                  </a:cubicBezTo>
                  <a:cubicBezTo>
                    <a:pt x="144" y="37"/>
                    <a:pt x="152" y="56"/>
                    <a:pt x="152" y="76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118"/>
                    <a:pt x="118" y="152"/>
                    <a:pt x="76" y="152"/>
                  </a:cubicBezTo>
                  <a:close/>
                  <a:moveTo>
                    <a:pt x="76" y="24"/>
                  </a:moveTo>
                  <a:cubicBezTo>
                    <a:pt x="76" y="24"/>
                    <a:pt x="76" y="24"/>
                    <a:pt x="76" y="24"/>
                  </a:cubicBezTo>
                  <a:cubicBezTo>
                    <a:pt x="47" y="24"/>
                    <a:pt x="24" y="47"/>
                    <a:pt x="24" y="76"/>
                  </a:cubicBezTo>
                  <a:cubicBezTo>
                    <a:pt x="24" y="104"/>
                    <a:pt x="47" y="128"/>
                    <a:pt x="76" y="128"/>
                  </a:cubicBezTo>
                  <a:cubicBezTo>
                    <a:pt x="104" y="128"/>
                    <a:pt x="128" y="104"/>
                    <a:pt x="128" y="76"/>
                  </a:cubicBezTo>
                  <a:cubicBezTo>
                    <a:pt x="128" y="76"/>
                    <a:pt x="128" y="76"/>
                    <a:pt x="128" y="76"/>
                  </a:cubicBezTo>
                  <a:cubicBezTo>
                    <a:pt x="128" y="62"/>
                    <a:pt x="122" y="49"/>
                    <a:pt x="113" y="39"/>
                  </a:cubicBezTo>
                  <a:cubicBezTo>
                    <a:pt x="103" y="29"/>
                    <a:pt x="90" y="24"/>
                    <a:pt x="76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Freeform 57">
              <a:extLst>
                <a:ext uri="{FF2B5EF4-FFF2-40B4-BE49-F238E27FC236}">
                  <a16:creationId xmlns:a16="http://schemas.microsoft.com/office/drawing/2014/main" id="{38273093-16F9-1165-32D6-C263C24ABE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9575" y="3232150"/>
              <a:ext cx="361950" cy="514350"/>
            </a:xfrm>
            <a:custGeom>
              <a:avLst/>
              <a:gdLst>
                <a:gd name="T0" fmla="*/ 240 w 480"/>
                <a:gd name="T1" fmla="*/ 681 h 681"/>
                <a:gd name="T2" fmla="*/ 208 w 480"/>
                <a:gd name="T3" fmla="*/ 663 h 681"/>
                <a:gd name="T4" fmla="*/ 16 w 480"/>
                <a:gd name="T5" fmla="*/ 270 h 681"/>
                <a:gd name="T6" fmla="*/ 61 w 480"/>
                <a:gd name="T7" fmla="*/ 80 h 681"/>
                <a:gd name="T8" fmla="*/ 240 w 480"/>
                <a:gd name="T9" fmla="*/ 5 h 681"/>
                <a:gd name="T10" fmla="*/ 419 w 480"/>
                <a:gd name="T11" fmla="*/ 80 h 681"/>
                <a:gd name="T12" fmla="*/ 465 w 480"/>
                <a:gd name="T13" fmla="*/ 270 h 681"/>
                <a:gd name="T14" fmla="*/ 272 w 480"/>
                <a:gd name="T15" fmla="*/ 663 h 681"/>
                <a:gd name="T16" fmla="*/ 240 w 480"/>
                <a:gd name="T17" fmla="*/ 681 h 681"/>
                <a:gd name="T18" fmla="*/ 240 w 480"/>
                <a:gd name="T19" fmla="*/ 681 h 681"/>
                <a:gd name="T20" fmla="*/ 226 w 480"/>
                <a:gd name="T21" fmla="*/ 28 h 681"/>
                <a:gd name="T22" fmla="*/ 80 w 480"/>
                <a:gd name="T23" fmla="*/ 96 h 681"/>
                <a:gd name="T24" fmla="*/ 39 w 480"/>
                <a:gd name="T25" fmla="*/ 264 h 681"/>
                <a:gd name="T26" fmla="*/ 39 w 480"/>
                <a:gd name="T27" fmla="*/ 265 h 681"/>
                <a:gd name="T28" fmla="*/ 228 w 480"/>
                <a:gd name="T29" fmla="*/ 650 h 681"/>
                <a:gd name="T30" fmla="*/ 240 w 480"/>
                <a:gd name="T31" fmla="*/ 657 h 681"/>
                <a:gd name="T32" fmla="*/ 240 w 480"/>
                <a:gd name="T33" fmla="*/ 657 h 681"/>
                <a:gd name="T34" fmla="*/ 252 w 480"/>
                <a:gd name="T35" fmla="*/ 650 h 681"/>
                <a:gd name="T36" fmla="*/ 441 w 480"/>
                <a:gd name="T37" fmla="*/ 265 h 681"/>
                <a:gd name="T38" fmla="*/ 441 w 480"/>
                <a:gd name="T39" fmla="*/ 264 h 681"/>
                <a:gd name="T40" fmla="*/ 401 w 480"/>
                <a:gd name="T41" fmla="*/ 96 h 681"/>
                <a:gd name="T42" fmla="*/ 241 w 480"/>
                <a:gd name="T43" fmla="*/ 29 h 681"/>
                <a:gd name="T44" fmla="*/ 240 w 480"/>
                <a:gd name="T45" fmla="*/ 29 h 681"/>
                <a:gd name="T46" fmla="*/ 239 w 480"/>
                <a:gd name="T47" fmla="*/ 29 h 681"/>
                <a:gd name="T48" fmla="*/ 226 w 480"/>
                <a:gd name="T49" fmla="*/ 28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0" h="681">
                  <a:moveTo>
                    <a:pt x="240" y="681"/>
                  </a:moveTo>
                  <a:cubicBezTo>
                    <a:pt x="227" y="681"/>
                    <a:pt x="214" y="674"/>
                    <a:pt x="208" y="663"/>
                  </a:cubicBezTo>
                  <a:cubicBezTo>
                    <a:pt x="156" y="580"/>
                    <a:pt x="35" y="376"/>
                    <a:pt x="16" y="270"/>
                  </a:cubicBezTo>
                  <a:cubicBezTo>
                    <a:pt x="0" y="203"/>
                    <a:pt x="17" y="132"/>
                    <a:pt x="61" y="80"/>
                  </a:cubicBezTo>
                  <a:cubicBezTo>
                    <a:pt x="105" y="28"/>
                    <a:pt x="172" y="0"/>
                    <a:pt x="240" y="5"/>
                  </a:cubicBezTo>
                  <a:cubicBezTo>
                    <a:pt x="308" y="0"/>
                    <a:pt x="375" y="28"/>
                    <a:pt x="419" y="80"/>
                  </a:cubicBezTo>
                  <a:cubicBezTo>
                    <a:pt x="464" y="132"/>
                    <a:pt x="480" y="203"/>
                    <a:pt x="465" y="270"/>
                  </a:cubicBezTo>
                  <a:cubicBezTo>
                    <a:pt x="449" y="362"/>
                    <a:pt x="325" y="575"/>
                    <a:pt x="272" y="663"/>
                  </a:cubicBezTo>
                  <a:cubicBezTo>
                    <a:pt x="266" y="674"/>
                    <a:pt x="253" y="681"/>
                    <a:pt x="240" y="681"/>
                  </a:cubicBezTo>
                  <a:cubicBezTo>
                    <a:pt x="240" y="681"/>
                    <a:pt x="240" y="681"/>
                    <a:pt x="240" y="681"/>
                  </a:cubicBezTo>
                  <a:close/>
                  <a:moveTo>
                    <a:pt x="226" y="28"/>
                  </a:moveTo>
                  <a:cubicBezTo>
                    <a:pt x="170" y="28"/>
                    <a:pt x="116" y="53"/>
                    <a:pt x="80" y="96"/>
                  </a:cubicBezTo>
                  <a:cubicBezTo>
                    <a:pt x="40" y="142"/>
                    <a:pt x="25" y="205"/>
                    <a:pt x="39" y="264"/>
                  </a:cubicBezTo>
                  <a:cubicBezTo>
                    <a:pt x="39" y="265"/>
                    <a:pt x="39" y="265"/>
                    <a:pt x="39" y="265"/>
                  </a:cubicBezTo>
                  <a:cubicBezTo>
                    <a:pt x="58" y="368"/>
                    <a:pt x="178" y="569"/>
                    <a:pt x="228" y="650"/>
                  </a:cubicBezTo>
                  <a:cubicBezTo>
                    <a:pt x="231" y="655"/>
                    <a:pt x="235" y="657"/>
                    <a:pt x="240" y="657"/>
                  </a:cubicBezTo>
                  <a:cubicBezTo>
                    <a:pt x="240" y="657"/>
                    <a:pt x="240" y="657"/>
                    <a:pt x="240" y="657"/>
                  </a:cubicBezTo>
                  <a:cubicBezTo>
                    <a:pt x="245" y="657"/>
                    <a:pt x="249" y="655"/>
                    <a:pt x="252" y="650"/>
                  </a:cubicBezTo>
                  <a:cubicBezTo>
                    <a:pt x="304" y="564"/>
                    <a:pt x="426" y="353"/>
                    <a:pt x="441" y="265"/>
                  </a:cubicBezTo>
                  <a:cubicBezTo>
                    <a:pt x="441" y="264"/>
                    <a:pt x="441" y="264"/>
                    <a:pt x="441" y="264"/>
                  </a:cubicBezTo>
                  <a:cubicBezTo>
                    <a:pt x="455" y="205"/>
                    <a:pt x="440" y="142"/>
                    <a:pt x="401" y="96"/>
                  </a:cubicBezTo>
                  <a:cubicBezTo>
                    <a:pt x="362" y="49"/>
                    <a:pt x="302" y="24"/>
                    <a:pt x="241" y="29"/>
                  </a:cubicBezTo>
                  <a:cubicBezTo>
                    <a:pt x="240" y="29"/>
                    <a:pt x="240" y="29"/>
                    <a:pt x="240" y="29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35" y="28"/>
                    <a:pt x="230" y="28"/>
                    <a:pt x="226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Freeform 58">
              <a:extLst>
                <a:ext uri="{FF2B5EF4-FFF2-40B4-BE49-F238E27FC236}">
                  <a16:creationId xmlns:a16="http://schemas.microsoft.com/office/drawing/2014/main" id="{461E380F-235E-F174-F70A-3443288E0B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1650" y="3314700"/>
              <a:ext cx="171450" cy="165100"/>
            </a:xfrm>
            <a:custGeom>
              <a:avLst/>
              <a:gdLst>
                <a:gd name="T0" fmla="*/ 118 w 228"/>
                <a:gd name="T1" fmla="*/ 219 h 219"/>
                <a:gd name="T2" fmla="*/ 41 w 228"/>
                <a:gd name="T3" fmla="*/ 187 h 219"/>
                <a:gd name="T4" fmla="*/ 17 w 228"/>
                <a:gd name="T5" fmla="*/ 68 h 219"/>
                <a:gd name="T6" fmla="*/ 118 w 228"/>
                <a:gd name="T7" fmla="*/ 0 h 219"/>
                <a:gd name="T8" fmla="*/ 228 w 228"/>
                <a:gd name="T9" fmla="*/ 110 h 219"/>
                <a:gd name="T10" fmla="*/ 228 w 228"/>
                <a:gd name="T11" fmla="*/ 110 h 219"/>
                <a:gd name="T12" fmla="*/ 160 w 228"/>
                <a:gd name="T13" fmla="*/ 211 h 219"/>
                <a:gd name="T14" fmla="*/ 118 w 228"/>
                <a:gd name="T15" fmla="*/ 219 h 219"/>
                <a:gd name="T16" fmla="*/ 118 w 228"/>
                <a:gd name="T17" fmla="*/ 24 h 219"/>
                <a:gd name="T18" fmla="*/ 39 w 228"/>
                <a:gd name="T19" fmla="*/ 77 h 219"/>
                <a:gd name="T20" fmla="*/ 58 w 228"/>
                <a:gd name="T21" fmla="*/ 170 h 219"/>
                <a:gd name="T22" fmla="*/ 151 w 228"/>
                <a:gd name="T23" fmla="*/ 189 h 219"/>
                <a:gd name="T24" fmla="*/ 204 w 228"/>
                <a:gd name="T25" fmla="*/ 110 h 219"/>
                <a:gd name="T26" fmla="*/ 204 w 228"/>
                <a:gd name="T27" fmla="*/ 110 h 219"/>
                <a:gd name="T28" fmla="*/ 118 w 228"/>
                <a:gd name="T29" fmla="*/ 24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19">
                  <a:moveTo>
                    <a:pt x="118" y="219"/>
                  </a:moveTo>
                  <a:cubicBezTo>
                    <a:pt x="90" y="219"/>
                    <a:pt x="62" y="208"/>
                    <a:pt x="41" y="187"/>
                  </a:cubicBezTo>
                  <a:cubicBezTo>
                    <a:pt x="9" y="156"/>
                    <a:pt x="0" y="109"/>
                    <a:pt x="17" y="68"/>
                  </a:cubicBezTo>
                  <a:cubicBezTo>
                    <a:pt x="34" y="27"/>
                    <a:pt x="74" y="0"/>
                    <a:pt x="118" y="0"/>
                  </a:cubicBezTo>
                  <a:cubicBezTo>
                    <a:pt x="179" y="0"/>
                    <a:pt x="228" y="49"/>
                    <a:pt x="228" y="110"/>
                  </a:cubicBezTo>
                  <a:cubicBezTo>
                    <a:pt x="228" y="110"/>
                    <a:pt x="228" y="110"/>
                    <a:pt x="228" y="110"/>
                  </a:cubicBezTo>
                  <a:cubicBezTo>
                    <a:pt x="228" y="154"/>
                    <a:pt x="201" y="194"/>
                    <a:pt x="160" y="211"/>
                  </a:cubicBezTo>
                  <a:cubicBezTo>
                    <a:pt x="147" y="217"/>
                    <a:pt x="132" y="219"/>
                    <a:pt x="118" y="219"/>
                  </a:cubicBezTo>
                  <a:close/>
                  <a:moveTo>
                    <a:pt x="118" y="24"/>
                  </a:moveTo>
                  <a:cubicBezTo>
                    <a:pt x="84" y="24"/>
                    <a:pt x="53" y="45"/>
                    <a:pt x="39" y="77"/>
                  </a:cubicBezTo>
                  <a:cubicBezTo>
                    <a:pt x="26" y="109"/>
                    <a:pt x="33" y="146"/>
                    <a:pt x="58" y="170"/>
                  </a:cubicBezTo>
                  <a:cubicBezTo>
                    <a:pt x="82" y="195"/>
                    <a:pt x="119" y="202"/>
                    <a:pt x="151" y="189"/>
                  </a:cubicBezTo>
                  <a:cubicBezTo>
                    <a:pt x="183" y="175"/>
                    <a:pt x="204" y="144"/>
                    <a:pt x="204" y="110"/>
                  </a:cubicBezTo>
                  <a:cubicBezTo>
                    <a:pt x="204" y="110"/>
                    <a:pt x="204" y="110"/>
                    <a:pt x="204" y="110"/>
                  </a:cubicBezTo>
                  <a:cubicBezTo>
                    <a:pt x="204" y="63"/>
                    <a:pt x="165" y="24"/>
                    <a:pt x="118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Freeform 59">
              <a:extLst>
                <a:ext uri="{FF2B5EF4-FFF2-40B4-BE49-F238E27FC236}">
                  <a16:creationId xmlns:a16="http://schemas.microsoft.com/office/drawing/2014/main" id="{E2E833FA-931D-0FB4-4801-16F769F063C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913" y="3411538"/>
              <a:ext cx="471488" cy="312738"/>
            </a:xfrm>
            <a:custGeom>
              <a:avLst/>
              <a:gdLst>
                <a:gd name="T0" fmla="*/ 14 w 626"/>
                <a:gd name="T1" fmla="*/ 415 h 415"/>
                <a:gd name="T2" fmla="*/ 4 w 626"/>
                <a:gd name="T3" fmla="*/ 410 h 415"/>
                <a:gd name="T4" fmla="*/ 7 w 626"/>
                <a:gd name="T5" fmla="*/ 393 h 415"/>
                <a:gd name="T6" fmla="*/ 605 w 626"/>
                <a:gd name="T7" fmla="*/ 3 h 415"/>
                <a:gd name="T8" fmla="*/ 622 w 626"/>
                <a:gd name="T9" fmla="*/ 7 h 415"/>
                <a:gd name="T10" fmla="*/ 618 w 626"/>
                <a:gd name="T11" fmla="*/ 24 h 415"/>
                <a:gd name="T12" fmla="*/ 21 w 626"/>
                <a:gd name="T13" fmla="*/ 414 h 415"/>
                <a:gd name="T14" fmla="*/ 14 w 626"/>
                <a:gd name="T15" fmla="*/ 41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6" h="415">
                  <a:moveTo>
                    <a:pt x="14" y="415"/>
                  </a:moveTo>
                  <a:cubicBezTo>
                    <a:pt x="10" y="415"/>
                    <a:pt x="6" y="414"/>
                    <a:pt x="4" y="410"/>
                  </a:cubicBezTo>
                  <a:cubicBezTo>
                    <a:pt x="0" y="405"/>
                    <a:pt x="2" y="397"/>
                    <a:pt x="7" y="393"/>
                  </a:cubicBezTo>
                  <a:cubicBezTo>
                    <a:pt x="605" y="3"/>
                    <a:pt x="605" y="3"/>
                    <a:pt x="605" y="3"/>
                  </a:cubicBezTo>
                  <a:cubicBezTo>
                    <a:pt x="611" y="0"/>
                    <a:pt x="618" y="1"/>
                    <a:pt x="622" y="7"/>
                  </a:cubicBezTo>
                  <a:cubicBezTo>
                    <a:pt x="626" y="13"/>
                    <a:pt x="624" y="20"/>
                    <a:pt x="618" y="24"/>
                  </a:cubicBezTo>
                  <a:cubicBezTo>
                    <a:pt x="21" y="414"/>
                    <a:pt x="21" y="414"/>
                    <a:pt x="21" y="414"/>
                  </a:cubicBezTo>
                  <a:cubicBezTo>
                    <a:pt x="19" y="415"/>
                    <a:pt x="16" y="415"/>
                    <a:pt x="14" y="4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8" name="Title 27">
            <a:extLst>
              <a:ext uri="{FF2B5EF4-FFF2-40B4-BE49-F238E27FC236}">
                <a16:creationId xmlns:a16="http://schemas.microsoft.com/office/drawing/2014/main" id="{FA535179-81FF-A15C-C406-B0B8608BD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PAM Today</a:t>
            </a:r>
          </a:p>
        </p:txBody>
      </p:sp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22C81056-D239-AA15-0041-5A4ADBECAA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0FB12D-3F38-647C-E977-B92DE120D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92" y="107915"/>
            <a:ext cx="8322983" cy="440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53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5F3CE-51C6-3F04-59CC-A6041AD18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0CAEBAF1-8609-1ACF-7B6B-C39116D67FB7}"/>
              </a:ext>
            </a:extLst>
          </p:cNvPr>
          <p:cNvGrpSpPr/>
          <p:nvPr/>
        </p:nvGrpSpPr>
        <p:grpSpPr>
          <a:xfrm>
            <a:off x="1646076" y="4029452"/>
            <a:ext cx="570912" cy="419326"/>
            <a:chOff x="6759575" y="3000375"/>
            <a:chExt cx="906463" cy="746125"/>
          </a:xfrm>
          <a:solidFill>
            <a:srgbClr val="F4F3F9"/>
          </a:solidFill>
        </p:grpSpPr>
        <p:sp>
          <p:nvSpPr>
            <p:cNvPr id="50" name="Freeform 55">
              <a:extLst>
                <a:ext uri="{FF2B5EF4-FFF2-40B4-BE49-F238E27FC236}">
                  <a16:creationId xmlns:a16="http://schemas.microsoft.com/office/drawing/2014/main" id="{15C142F7-DED3-0B8B-8C9C-F4C870873B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1400" y="3000375"/>
              <a:ext cx="274638" cy="358775"/>
            </a:xfrm>
            <a:custGeom>
              <a:avLst/>
              <a:gdLst>
                <a:gd name="T0" fmla="*/ 182 w 364"/>
                <a:gd name="T1" fmla="*/ 476 h 476"/>
                <a:gd name="T2" fmla="*/ 152 w 364"/>
                <a:gd name="T3" fmla="*/ 462 h 476"/>
                <a:gd name="T4" fmla="*/ 0 w 364"/>
                <a:gd name="T5" fmla="*/ 182 h 476"/>
                <a:gd name="T6" fmla="*/ 53 w 364"/>
                <a:gd name="T7" fmla="*/ 53 h 476"/>
                <a:gd name="T8" fmla="*/ 182 w 364"/>
                <a:gd name="T9" fmla="*/ 0 h 476"/>
                <a:gd name="T10" fmla="*/ 182 w 364"/>
                <a:gd name="T11" fmla="*/ 0 h 476"/>
                <a:gd name="T12" fmla="*/ 364 w 364"/>
                <a:gd name="T13" fmla="*/ 182 h 476"/>
                <a:gd name="T14" fmla="*/ 212 w 364"/>
                <a:gd name="T15" fmla="*/ 462 h 476"/>
                <a:gd name="T16" fmla="*/ 182 w 364"/>
                <a:gd name="T17" fmla="*/ 476 h 476"/>
                <a:gd name="T18" fmla="*/ 182 w 364"/>
                <a:gd name="T19" fmla="*/ 24 h 476"/>
                <a:gd name="T20" fmla="*/ 70 w 364"/>
                <a:gd name="T21" fmla="*/ 70 h 476"/>
                <a:gd name="T22" fmla="*/ 24 w 364"/>
                <a:gd name="T23" fmla="*/ 182 h 476"/>
                <a:gd name="T24" fmla="*/ 171 w 364"/>
                <a:gd name="T25" fmla="*/ 447 h 476"/>
                <a:gd name="T26" fmla="*/ 182 w 364"/>
                <a:gd name="T27" fmla="*/ 452 h 476"/>
                <a:gd name="T28" fmla="*/ 193 w 364"/>
                <a:gd name="T29" fmla="*/ 447 h 476"/>
                <a:gd name="T30" fmla="*/ 340 w 364"/>
                <a:gd name="T31" fmla="*/ 182 h 476"/>
                <a:gd name="T32" fmla="*/ 182 w 364"/>
                <a:gd name="T33" fmla="*/ 24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4" h="476">
                  <a:moveTo>
                    <a:pt x="182" y="476"/>
                  </a:moveTo>
                  <a:cubicBezTo>
                    <a:pt x="170" y="476"/>
                    <a:pt x="159" y="471"/>
                    <a:pt x="152" y="462"/>
                  </a:cubicBezTo>
                  <a:cubicBezTo>
                    <a:pt x="95" y="389"/>
                    <a:pt x="0" y="257"/>
                    <a:pt x="0" y="182"/>
                  </a:cubicBezTo>
                  <a:cubicBezTo>
                    <a:pt x="0" y="133"/>
                    <a:pt x="19" y="87"/>
                    <a:pt x="53" y="53"/>
                  </a:cubicBezTo>
                  <a:cubicBezTo>
                    <a:pt x="87" y="19"/>
                    <a:pt x="133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282" y="0"/>
                    <a:pt x="364" y="81"/>
                    <a:pt x="364" y="182"/>
                  </a:cubicBezTo>
                  <a:cubicBezTo>
                    <a:pt x="364" y="257"/>
                    <a:pt x="269" y="389"/>
                    <a:pt x="212" y="462"/>
                  </a:cubicBezTo>
                  <a:cubicBezTo>
                    <a:pt x="205" y="471"/>
                    <a:pt x="194" y="476"/>
                    <a:pt x="182" y="476"/>
                  </a:cubicBezTo>
                  <a:close/>
                  <a:moveTo>
                    <a:pt x="182" y="24"/>
                  </a:moveTo>
                  <a:cubicBezTo>
                    <a:pt x="140" y="24"/>
                    <a:pt x="100" y="40"/>
                    <a:pt x="70" y="70"/>
                  </a:cubicBezTo>
                  <a:cubicBezTo>
                    <a:pt x="40" y="100"/>
                    <a:pt x="24" y="140"/>
                    <a:pt x="24" y="182"/>
                  </a:cubicBezTo>
                  <a:cubicBezTo>
                    <a:pt x="24" y="254"/>
                    <a:pt x="136" y="403"/>
                    <a:pt x="171" y="447"/>
                  </a:cubicBezTo>
                  <a:cubicBezTo>
                    <a:pt x="174" y="450"/>
                    <a:pt x="178" y="452"/>
                    <a:pt x="182" y="452"/>
                  </a:cubicBezTo>
                  <a:cubicBezTo>
                    <a:pt x="186" y="452"/>
                    <a:pt x="190" y="450"/>
                    <a:pt x="193" y="447"/>
                  </a:cubicBezTo>
                  <a:cubicBezTo>
                    <a:pt x="285" y="329"/>
                    <a:pt x="340" y="230"/>
                    <a:pt x="340" y="182"/>
                  </a:cubicBezTo>
                  <a:cubicBezTo>
                    <a:pt x="340" y="95"/>
                    <a:pt x="269" y="24"/>
                    <a:pt x="18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Freeform 56">
              <a:extLst>
                <a:ext uri="{FF2B5EF4-FFF2-40B4-BE49-F238E27FC236}">
                  <a16:creationId xmlns:a16="http://schemas.microsoft.com/office/drawing/2014/main" id="{3868B297-63E4-02EE-BCD5-9444348DA6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0775" y="3079750"/>
              <a:ext cx="114300" cy="115888"/>
            </a:xfrm>
            <a:custGeom>
              <a:avLst/>
              <a:gdLst>
                <a:gd name="T0" fmla="*/ 76 w 152"/>
                <a:gd name="T1" fmla="*/ 152 h 152"/>
                <a:gd name="T2" fmla="*/ 0 w 152"/>
                <a:gd name="T3" fmla="*/ 76 h 152"/>
                <a:gd name="T4" fmla="*/ 76 w 152"/>
                <a:gd name="T5" fmla="*/ 0 h 152"/>
                <a:gd name="T6" fmla="*/ 76 w 152"/>
                <a:gd name="T7" fmla="*/ 0 h 152"/>
                <a:gd name="T8" fmla="*/ 130 w 152"/>
                <a:gd name="T9" fmla="*/ 22 h 152"/>
                <a:gd name="T10" fmla="*/ 152 w 152"/>
                <a:gd name="T11" fmla="*/ 76 h 152"/>
                <a:gd name="T12" fmla="*/ 152 w 152"/>
                <a:gd name="T13" fmla="*/ 76 h 152"/>
                <a:gd name="T14" fmla="*/ 76 w 152"/>
                <a:gd name="T15" fmla="*/ 152 h 152"/>
                <a:gd name="T16" fmla="*/ 76 w 152"/>
                <a:gd name="T17" fmla="*/ 24 h 152"/>
                <a:gd name="T18" fmla="*/ 76 w 152"/>
                <a:gd name="T19" fmla="*/ 24 h 152"/>
                <a:gd name="T20" fmla="*/ 24 w 152"/>
                <a:gd name="T21" fmla="*/ 76 h 152"/>
                <a:gd name="T22" fmla="*/ 76 w 152"/>
                <a:gd name="T23" fmla="*/ 128 h 152"/>
                <a:gd name="T24" fmla="*/ 128 w 152"/>
                <a:gd name="T25" fmla="*/ 76 h 152"/>
                <a:gd name="T26" fmla="*/ 128 w 152"/>
                <a:gd name="T27" fmla="*/ 76 h 152"/>
                <a:gd name="T28" fmla="*/ 113 w 152"/>
                <a:gd name="T29" fmla="*/ 39 h 152"/>
                <a:gd name="T30" fmla="*/ 76 w 152"/>
                <a:gd name="T31" fmla="*/ 2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2" h="152">
                  <a:moveTo>
                    <a:pt x="76" y="152"/>
                  </a:moveTo>
                  <a:cubicBezTo>
                    <a:pt x="34" y="152"/>
                    <a:pt x="0" y="118"/>
                    <a:pt x="0" y="76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6" y="0"/>
                    <a:pt x="115" y="8"/>
                    <a:pt x="130" y="22"/>
                  </a:cubicBezTo>
                  <a:cubicBezTo>
                    <a:pt x="144" y="37"/>
                    <a:pt x="152" y="56"/>
                    <a:pt x="152" y="76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118"/>
                    <a:pt x="118" y="152"/>
                    <a:pt x="76" y="152"/>
                  </a:cubicBezTo>
                  <a:close/>
                  <a:moveTo>
                    <a:pt x="76" y="24"/>
                  </a:moveTo>
                  <a:cubicBezTo>
                    <a:pt x="76" y="24"/>
                    <a:pt x="76" y="24"/>
                    <a:pt x="76" y="24"/>
                  </a:cubicBezTo>
                  <a:cubicBezTo>
                    <a:pt x="47" y="24"/>
                    <a:pt x="24" y="47"/>
                    <a:pt x="24" y="76"/>
                  </a:cubicBezTo>
                  <a:cubicBezTo>
                    <a:pt x="24" y="104"/>
                    <a:pt x="47" y="128"/>
                    <a:pt x="76" y="128"/>
                  </a:cubicBezTo>
                  <a:cubicBezTo>
                    <a:pt x="104" y="128"/>
                    <a:pt x="128" y="104"/>
                    <a:pt x="128" y="76"/>
                  </a:cubicBezTo>
                  <a:cubicBezTo>
                    <a:pt x="128" y="76"/>
                    <a:pt x="128" y="76"/>
                    <a:pt x="128" y="76"/>
                  </a:cubicBezTo>
                  <a:cubicBezTo>
                    <a:pt x="128" y="62"/>
                    <a:pt x="122" y="49"/>
                    <a:pt x="113" y="39"/>
                  </a:cubicBezTo>
                  <a:cubicBezTo>
                    <a:pt x="103" y="29"/>
                    <a:pt x="90" y="24"/>
                    <a:pt x="76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Freeform 57">
              <a:extLst>
                <a:ext uri="{FF2B5EF4-FFF2-40B4-BE49-F238E27FC236}">
                  <a16:creationId xmlns:a16="http://schemas.microsoft.com/office/drawing/2014/main" id="{97CECF8B-18FF-CD64-4672-3033E9836F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9575" y="3232150"/>
              <a:ext cx="361950" cy="514350"/>
            </a:xfrm>
            <a:custGeom>
              <a:avLst/>
              <a:gdLst>
                <a:gd name="T0" fmla="*/ 240 w 480"/>
                <a:gd name="T1" fmla="*/ 681 h 681"/>
                <a:gd name="T2" fmla="*/ 208 w 480"/>
                <a:gd name="T3" fmla="*/ 663 h 681"/>
                <a:gd name="T4" fmla="*/ 16 w 480"/>
                <a:gd name="T5" fmla="*/ 270 h 681"/>
                <a:gd name="T6" fmla="*/ 61 w 480"/>
                <a:gd name="T7" fmla="*/ 80 h 681"/>
                <a:gd name="T8" fmla="*/ 240 w 480"/>
                <a:gd name="T9" fmla="*/ 5 h 681"/>
                <a:gd name="T10" fmla="*/ 419 w 480"/>
                <a:gd name="T11" fmla="*/ 80 h 681"/>
                <a:gd name="T12" fmla="*/ 465 w 480"/>
                <a:gd name="T13" fmla="*/ 270 h 681"/>
                <a:gd name="T14" fmla="*/ 272 w 480"/>
                <a:gd name="T15" fmla="*/ 663 h 681"/>
                <a:gd name="T16" fmla="*/ 240 w 480"/>
                <a:gd name="T17" fmla="*/ 681 h 681"/>
                <a:gd name="T18" fmla="*/ 240 w 480"/>
                <a:gd name="T19" fmla="*/ 681 h 681"/>
                <a:gd name="T20" fmla="*/ 226 w 480"/>
                <a:gd name="T21" fmla="*/ 28 h 681"/>
                <a:gd name="T22" fmla="*/ 80 w 480"/>
                <a:gd name="T23" fmla="*/ 96 h 681"/>
                <a:gd name="T24" fmla="*/ 39 w 480"/>
                <a:gd name="T25" fmla="*/ 264 h 681"/>
                <a:gd name="T26" fmla="*/ 39 w 480"/>
                <a:gd name="T27" fmla="*/ 265 h 681"/>
                <a:gd name="T28" fmla="*/ 228 w 480"/>
                <a:gd name="T29" fmla="*/ 650 h 681"/>
                <a:gd name="T30" fmla="*/ 240 w 480"/>
                <a:gd name="T31" fmla="*/ 657 h 681"/>
                <a:gd name="T32" fmla="*/ 240 w 480"/>
                <a:gd name="T33" fmla="*/ 657 h 681"/>
                <a:gd name="T34" fmla="*/ 252 w 480"/>
                <a:gd name="T35" fmla="*/ 650 h 681"/>
                <a:gd name="T36" fmla="*/ 441 w 480"/>
                <a:gd name="T37" fmla="*/ 265 h 681"/>
                <a:gd name="T38" fmla="*/ 441 w 480"/>
                <a:gd name="T39" fmla="*/ 264 h 681"/>
                <a:gd name="T40" fmla="*/ 401 w 480"/>
                <a:gd name="T41" fmla="*/ 96 h 681"/>
                <a:gd name="T42" fmla="*/ 241 w 480"/>
                <a:gd name="T43" fmla="*/ 29 h 681"/>
                <a:gd name="T44" fmla="*/ 240 w 480"/>
                <a:gd name="T45" fmla="*/ 29 h 681"/>
                <a:gd name="T46" fmla="*/ 239 w 480"/>
                <a:gd name="T47" fmla="*/ 29 h 681"/>
                <a:gd name="T48" fmla="*/ 226 w 480"/>
                <a:gd name="T49" fmla="*/ 28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0" h="681">
                  <a:moveTo>
                    <a:pt x="240" y="681"/>
                  </a:moveTo>
                  <a:cubicBezTo>
                    <a:pt x="227" y="681"/>
                    <a:pt x="214" y="674"/>
                    <a:pt x="208" y="663"/>
                  </a:cubicBezTo>
                  <a:cubicBezTo>
                    <a:pt x="156" y="580"/>
                    <a:pt x="35" y="376"/>
                    <a:pt x="16" y="270"/>
                  </a:cubicBezTo>
                  <a:cubicBezTo>
                    <a:pt x="0" y="203"/>
                    <a:pt x="17" y="132"/>
                    <a:pt x="61" y="80"/>
                  </a:cubicBezTo>
                  <a:cubicBezTo>
                    <a:pt x="105" y="28"/>
                    <a:pt x="172" y="0"/>
                    <a:pt x="240" y="5"/>
                  </a:cubicBezTo>
                  <a:cubicBezTo>
                    <a:pt x="308" y="0"/>
                    <a:pt x="375" y="28"/>
                    <a:pt x="419" y="80"/>
                  </a:cubicBezTo>
                  <a:cubicBezTo>
                    <a:pt x="464" y="132"/>
                    <a:pt x="480" y="203"/>
                    <a:pt x="465" y="270"/>
                  </a:cubicBezTo>
                  <a:cubicBezTo>
                    <a:pt x="449" y="362"/>
                    <a:pt x="325" y="575"/>
                    <a:pt x="272" y="663"/>
                  </a:cubicBezTo>
                  <a:cubicBezTo>
                    <a:pt x="266" y="674"/>
                    <a:pt x="253" y="681"/>
                    <a:pt x="240" y="681"/>
                  </a:cubicBezTo>
                  <a:cubicBezTo>
                    <a:pt x="240" y="681"/>
                    <a:pt x="240" y="681"/>
                    <a:pt x="240" y="681"/>
                  </a:cubicBezTo>
                  <a:close/>
                  <a:moveTo>
                    <a:pt x="226" y="28"/>
                  </a:moveTo>
                  <a:cubicBezTo>
                    <a:pt x="170" y="28"/>
                    <a:pt x="116" y="53"/>
                    <a:pt x="80" y="96"/>
                  </a:cubicBezTo>
                  <a:cubicBezTo>
                    <a:pt x="40" y="142"/>
                    <a:pt x="25" y="205"/>
                    <a:pt x="39" y="264"/>
                  </a:cubicBezTo>
                  <a:cubicBezTo>
                    <a:pt x="39" y="265"/>
                    <a:pt x="39" y="265"/>
                    <a:pt x="39" y="265"/>
                  </a:cubicBezTo>
                  <a:cubicBezTo>
                    <a:pt x="58" y="368"/>
                    <a:pt x="178" y="569"/>
                    <a:pt x="228" y="650"/>
                  </a:cubicBezTo>
                  <a:cubicBezTo>
                    <a:pt x="231" y="655"/>
                    <a:pt x="235" y="657"/>
                    <a:pt x="240" y="657"/>
                  </a:cubicBezTo>
                  <a:cubicBezTo>
                    <a:pt x="240" y="657"/>
                    <a:pt x="240" y="657"/>
                    <a:pt x="240" y="657"/>
                  </a:cubicBezTo>
                  <a:cubicBezTo>
                    <a:pt x="245" y="657"/>
                    <a:pt x="249" y="655"/>
                    <a:pt x="252" y="650"/>
                  </a:cubicBezTo>
                  <a:cubicBezTo>
                    <a:pt x="304" y="564"/>
                    <a:pt x="426" y="353"/>
                    <a:pt x="441" y="265"/>
                  </a:cubicBezTo>
                  <a:cubicBezTo>
                    <a:pt x="441" y="264"/>
                    <a:pt x="441" y="264"/>
                    <a:pt x="441" y="264"/>
                  </a:cubicBezTo>
                  <a:cubicBezTo>
                    <a:pt x="455" y="205"/>
                    <a:pt x="440" y="142"/>
                    <a:pt x="401" y="96"/>
                  </a:cubicBezTo>
                  <a:cubicBezTo>
                    <a:pt x="362" y="49"/>
                    <a:pt x="302" y="24"/>
                    <a:pt x="241" y="29"/>
                  </a:cubicBezTo>
                  <a:cubicBezTo>
                    <a:pt x="240" y="29"/>
                    <a:pt x="240" y="29"/>
                    <a:pt x="240" y="29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35" y="28"/>
                    <a:pt x="230" y="28"/>
                    <a:pt x="226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Freeform 58">
              <a:extLst>
                <a:ext uri="{FF2B5EF4-FFF2-40B4-BE49-F238E27FC236}">
                  <a16:creationId xmlns:a16="http://schemas.microsoft.com/office/drawing/2014/main" id="{8092596D-AB26-34DA-E1D5-8B930B7A7E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1650" y="3314700"/>
              <a:ext cx="171450" cy="165100"/>
            </a:xfrm>
            <a:custGeom>
              <a:avLst/>
              <a:gdLst>
                <a:gd name="T0" fmla="*/ 118 w 228"/>
                <a:gd name="T1" fmla="*/ 219 h 219"/>
                <a:gd name="T2" fmla="*/ 41 w 228"/>
                <a:gd name="T3" fmla="*/ 187 h 219"/>
                <a:gd name="T4" fmla="*/ 17 w 228"/>
                <a:gd name="T5" fmla="*/ 68 h 219"/>
                <a:gd name="T6" fmla="*/ 118 w 228"/>
                <a:gd name="T7" fmla="*/ 0 h 219"/>
                <a:gd name="T8" fmla="*/ 228 w 228"/>
                <a:gd name="T9" fmla="*/ 110 h 219"/>
                <a:gd name="T10" fmla="*/ 228 w 228"/>
                <a:gd name="T11" fmla="*/ 110 h 219"/>
                <a:gd name="T12" fmla="*/ 160 w 228"/>
                <a:gd name="T13" fmla="*/ 211 h 219"/>
                <a:gd name="T14" fmla="*/ 118 w 228"/>
                <a:gd name="T15" fmla="*/ 219 h 219"/>
                <a:gd name="T16" fmla="*/ 118 w 228"/>
                <a:gd name="T17" fmla="*/ 24 h 219"/>
                <a:gd name="T18" fmla="*/ 39 w 228"/>
                <a:gd name="T19" fmla="*/ 77 h 219"/>
                <a:gd name="T20" fmla="*/ 58 w 228"/>
                <a:gd name="T21" fmla="*/ 170 h 219"/>
                <a:gd name="T22" fmla="*/ 151 w 228"/>
                <a:gd name="T23" fmla="*/ 189 h 219"/>
                <a:gd name="T24" fmla="*/ 204 w 228"/>
                <a:gd name="T25" fmla="*/ 110 h 219"/>
                <a:gd name="T26" fmla="*/ 204 w 228"/>
                <a:gd name="T27" fmla="*/ 110 h 219"/>
                <a:gd name="T28" fmla="*/ 118 w 228"/>
                <a:gd name="T29" fmla="*/ 24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19">
                  <a:moveTo>
                    <a:pt x="118" y="219"/>
                  </a:moveTo>
                  <a:cubicBezTo>
                    <a:pt x="90" y="219"/>
                    <a:pt x="62" y="208"/>
                    <a:pt x="41" y="187"/>
                  </a:cubicBezTo>
                  <a:cubicBezTo>
                    <a:pt x="9" y="156"/>
                    <a:pt x="0" y="109"/>
                    <a:pt x="17" y="68"/>
                  </a:cubicBezTo>
                  <a:cubicBezTo>
                    <a:pt x="34" y="27"/>
                    <a:pt x="74" y="0"/>
                    <a:pt x="118" y="0"/>
                  </a:cubicBezTo>
                  <a:cubicBezTo>
                    <a:pt x="179" y="0"/>
                    <a:pt x="228" y="49"/>
                    <a:pt x="228" y="110"/>
                  </a:cubicBezTo>
                  <a:cubicBezTo>
                    <a:pt x="228" y="110"/>
                    <a:pt x="228" y="110"/>
                    <a:pt x="228" y="110"/>
                  </a:cubicBezTo>
                  <a:cubicBezTo>
                    <a:pt x="228" y="154"/>
                    <a:pt x="201" y="194"/>
                    <a:pt x="160" y="211"/>
                  </a:cubicBezTo>
                  <a:cubicBezTo>
                    <a:pt x="147" y="217"/>
                    <a:pt x="132" y="219"/>
                    <a:pt x="118" y="219"/>
                  </a:cubicBezTo>
                  <a:close/>
                  <a:moveTo>
                    <a:pt x="118" y="24"/>
                  </a:moveTo>
                  <a:cubicBezTo>
                    <a:pt x="84" y="24"/>
                    <a:pt x="53" y="45"/>
                    <a:pt x="39" y="77"/>
                  </a:cubicBezTo>
                  <a:cubicBezTo>
                    <a:pt x="26" y="109"/>
                    <a:pt x="33" y="146"/>
                    <a:pt x="58" y="170"/>
                  </a:cubicBezTo>
                  <a:cubicBezTo>
                    <a:pt x="82" y="195"/>
                    <a:pt x="119" y="202"/>
                    <a:pt x="151" y="189"/>
                  </a:cubicBezTo>
                  <a:cubicBezTo>
                    <a:pt x="183" y="175"/>
                    <a:pt x="204" y="144"/>
                    <a:pt x="204" y="110"/>
                  </a:cubicBezTo>
                  <a:cubicBezTo>
                    <a:pt x="204" y="110"/>
                    <a:pt x="204" y="110"/>
                    <a:pt x="204" y="110"/>
                  </a:cubicBezTo>
                  <a:cubicBezTo>
                    <a:pt x="204" y="63"/>
                    <a:pt x="165" y="24"/>
                    <a:pt x="118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Freeform 59">
              <a:extLst>
                <a:ext uri="{FF2B5EF4-FFF2-40B4-BE49-F238E27FC236}">
                  <a16:creationId xmlns:a16="http://schemas.microsoft.com/office/drawing/2014/main" id="{617D4D56-6AF4-D440-EA21-5FEB58BF2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913" y="3411538"/>
              <a:ext cx="471488" cy="312738"/>
            </a:xfrm>
            <a:custGeom>
              <a:avLst/>
              <a:gdLst>
                <a:gd name="T0" fmla="*/ 14 w 626"/>
                <a:gd name="T1" fmla="*/ 415 h 415"/>
                <a:gd name="T2" fmla="*/ 4 w 626"/>
                <a:gd name="T3" fmla="*/ 410 h 415"/>
                <a:gd name="T4" fmla="*/ 7 w 626"/>
                <a:gd name="T5" fmla="*/ 393 h 415"/>
                <a:gd name="T6" fmla="*/ 605 w 626"/>
                <a:gd name="T7" fmla="*/ 3 h 415"/>
                <a:gd name="T8" fmla="*/ 622 w 626"/>
                <a:gd name="T9" fmla="*/ 7 h 415"/>
                <a:gd name="T10" fmla="*/ 618 w 626"/>
                <a:gd name="T11" fmla="*/ 24 h 415"/>
                <a:gd name="T12" fmla="*/ 21 w 626"/>
                <a:gd name="T13" fmla="*/ 414 h 415"/>
                <a:gd name="T14" fmla="*/ 14 w 626"/>
                <a:gd name="T15" fmla="*/ 41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6" h="415">
                  <a:moveTo>
                    <a:pt x="14" y="415"/>
                  </a:moveTo>
                  <a:cubicBezTo>
                    <a:pt x="10" y="415"/>
                    <a:pt x="6" y="414"/>
                    <a:pt x="4" y="410"/>
                  </a:cubicBezTo>
                  <a:cubicBezTo>
                    <a:pt x="0" y="405"/>
                    <a:pt x="2" y="397"/>
                    <a:pt x="7" y="393"/>
                  </a:cubicBezTo>
                  <a:cubicBezTo>
                    <a:pt x="605" y="3"/>
                    <a:pt x="605" y="3"/>
                    <a:pt x="605" y="3"/>
                  </a:cubicBezTo>
                  <a:cubicBezTo>
                    <a:pt x="611" y="0"/>
                    <a:pt x="618" y="1"/>
                    <a:pt x="622" y="7"/>
                  </a:cubicBezTo>
                  <a:cubicBezTo>
                    <a:pt x="626" y="13"/>
                    <a:pt x="624" y="20"/>
                    <a:pt x="618" y="24"/>
                  </a:cubicBezTo>
                  <a:cubicBezTo>
                    <a:pt x="21" y="414"/>
                    <a:pt x="21" y="414"/>
                    <a:pt x="21" y="414"/>
                  </a:cubicBezTo>
                  <a:cubicBezTo>
                    <a:pt x="19" y="415"/>
                    <a:pt x="16" y="415"/>
                    <a:pt x="14" y="4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8" name="Title 27">
            <a:extLst>
              <a:ext uri="{FF2B5EF4-FFF2-40B4-BE49-F238E27FC236}">
                <a16:creationId xmlns:a16="http://schemas.microsoft.com/office/drawing/2014/main" id="{BA4F1395-FF53-7783-9DD8-C3407BA72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Leading PAM Solutions Overview</a:t>
            </a:r>
          </a:p>
        </p:txBody>
      </p:sp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62C516E0-0670-CA7B-55C4-6AA2C97543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C22A2B-817B-F237-7D84-8DA7DF2A6B40}"/>
              </a:ext>
            </a:extLst>
          </p:cNvPr>
          <p:cNvSpPr txBox="1"/>
          <p:nvPr/>
        </p:nvSpPr>
        <p:spPr>
          <a:xfrm>
            <a:off x="192992" y="460335"/>
            <a:ext cx="806591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The PAM market is dominated by several key players, each offering unique strengths and capabilities</a:t>
            </a:r>
            <a:r>
              <a:rPr lang="en-GB" sz="1600" dirty="0">
                <a:solidFill>
                  <a:srgbClr val="000000"/>
                </a:solidFill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. Below are the 3 Industry best PAM tools</a:t>
            </a:r>
          </a:p>
          <a:p>
            <a:endParaRPr lang="en-GB" sz="1600" dirty="0">
              <a:solidFill>
                <a:srgbClr val="000000"/>
              </a:solidFill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r>
              <a:rPr lang="en-GB" sz="1600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Market Leaders (Gartner Magic Quadrant 2024)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23D3FA-4004-DD56-CB2F-34CC3E39D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136796"/>
              </p:ext>
            </p:extLst>
          </p:nvPr>
        </p:nvGraphicFramePr>
        <p:xfrm>
          <a:off x="325469" y="1566996"/>
          <a:ext cx="7886700" cy="13563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2978071346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3759097865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1829260298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7882511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 dirty="0">
                          <a:effectLst/>
                        </a:rPr>
                        <a:t>Vendor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 dirty="0">
                          <a:effectLst/>
                        </a:rPr>
                        <a:t>Market Position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 dirty="0">
                          <a:effectLst/>
                        </a:rPr>
                        <a:t>Key Strengths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 dirty="0">
                          <a:effectLst/>
                        </a:rPr>
                        <a:t>Target Market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109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 dirty="0">
                          <a:effectLst/>
                        </a:rPr>
                        <a:t>CyberArk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 dirty="0">
                          <a:effectLst/>
                        </a:rPr>
                        <a:t>Leader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>
                          <a:effectLst/>
                        </a:rPr>
                        <a:t>Comprehensive platform, strong enterprise presence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>
                          <a:effectLst/>
                        </a:rPr>
                        <a:t>Large enterprises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31943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 dirty="0">
                          <a:effectLst/>
                        </a:rPr>
                        <a:t>BeyondTrust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 dirty="0">
                          <a:effectLst/>
                        </a:rPr>
                        <a:t>Leader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 dirty="0">
                          <a:effectLst/>
                        </a:rPr>
                        <a:t>Unified platform, strong remote access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 dirty="0">
                          <a:effectLst/>
                        </a:rPr>
                        <a:t>Mid to large enterprises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75934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 dirty="0">
                          <a:effectLst/>
                        </a:rPr>
                        <a:t>Delinea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>
                          <a:effectLst/>
                        </a:rPr>
                        <a:t>Challenger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>
                          <a:effectLst/>
                        </a:rPr>
                        <a:t>Strong cloud-native approach, competitive pricing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 dirty="0">
                          <a:effectLst/>
                        </a:rPr>
                        <a:t>SMB to enterprise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8998522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9EBD16B-890F-53FE-5F75-4C4D1F40F3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332912"/>
              </p:ext>
            </p:extLst>
          </p:nvPr>
        </p:nvGraphicFramePr>
        <p:xfrm>
          <a:off x="372204" y="3262227"/>
          <a:ext cx="7886700" cy="14135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48235054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894605635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1721241546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6069535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 dirty="0">
                          <a:effectLst/>
                        </a:rPr>
                        <a:t>Feature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 dirty="0">
                          <a:effectLst/>
                        </a:rPr>
                        <a:t>CyberArk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 dirty="0">
                          <a:effectLst/>
                        </a:rPr>
                        <a:t>BeyondTrust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 dirty="0">
                          <a:effectLst/>
                        </a:rPr>
                        <a:t>Delinea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8382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 dirty="0">
                          <a:effectLst/>
                        </a:rPr>
                        <a:t>Password Vaulting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 dirty="0">
                          <a:effectLst/>
                        </a:rPr>
                        <a:t>★★★★★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>
                          <a:effectLst/>
                        </a:rPr>
                        <a:t>★★★★☆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>
                          <a:effectLst/>
                        </a:rPr>
                        <a:t>★★★★☆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51878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 dirty="0">
                          <a:effectLst/>
                        </a:rPr>
                        <a:t>Session Management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 dirty="0">
                          <a:effectLst/>
                        </a:rPr>
                        <a:t>★★★★★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 dirty="0">
                          <a:effectLst/>
                        </a:rPr>
                        <a:t>★★★★★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>
                          <a:effectLst/>
                        </a:rPr>
                        <a:t>★★★★☆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83925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 dirty="0">
                          <a:effectLst/>
                        </a:rPr>
                        <a:t>Cloud Native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 dirty="0">
                          <a:effectLst/>
                        </a:rPr>
                        <a:t>★★★☆☆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 dirty="0">
                          <a:effectLst/>
                        </a:rPr>
                        <a:t>★★★★☆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>
                          <a:effectLst/>
                        </a:rPr>
                        <a:t>★★★★★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84392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 dirty="0">
                          <a:effectLst/>
                        </a:rPr>
                        <a:t>Endpoint Protection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 dirty="0">
                          <a:effectLst/>
                        </a:rPr>
                        <a:t>★★★★☆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>
                          <a:effectLst/>
                        </a:rPr>
                        <a:t>★★★★★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 dirty="0">
                          <a:effectLst/>
                        </a:rPr>
                        <a:t>★★★☆☆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32723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 dirty="0">
                          <a:effectLst/>
                        </a:rPr>
                        <a:t>DevOps Integration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>
                          <a:effectLst/>
                        </a:rPr>
                        <a:t>★★★★☆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>
                          <a:effectLst/>
                        </a:rPr>
                        <a:t>★★★☆☆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 dirty="0">
                          <a:effectLst/>
                        </a:rPr>
                        <a:t>★★★★☆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69553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 dirty="0">
                          <a:effectLst/>
                        </a:rPr>
                        <a:t>Ease of Deployment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>
                          <a:effectLst/>
                        </a:rPr>
                        <a:t>★★★☆☆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>
                          <a:effectLst/>
                        </a:rPr>
                        <a:t>★★★★☆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kern="100" dirty="0">
                          <a:effectLst/>
                        </a:rPr>
                        <a:t>★★★★★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74604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4CB9670-5985-A76D-4ED6-786DBFCE2910}"/>
              </a:ext>
            </a:extLst>
          </p:cNvPr>
          <p:cNvSpPr txBox="1"/>
          <p:nvPr/>
        </p:nvSpPr>
        <p:spPr>
          <a:xfrm>
            <a:off x="325469" y="2972738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spc="-20" dirty="0">
                <a:solidFill>
                  <a:srgbClr val="4E84C4"/>
                </a:solidFill>
                <a:effectLst/>
                <a:latin typeface="+mj-lt"/>
                <a:cs typeface="Aptos" panose="020B0004020202020204" pitchFamily="34" charset="0"/>
              </a:rPr>
              <a:t>Technology Comparison Matrix</a:t>
            </a:r>
            <a:endParaRPr lang="en-GB" sz="1600" dirty="0">
              <a:solidFill>
                <a:srgbClr val="4E84C4"/>
              </a:solidFill>
              <a:effectLst/>
              <a:latin typeface="+mj-lt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273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B5366-55E6-9D4B-F9BE-B999F4100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73FD36D5-BC43-9DF3-6910-26E637C03FCC}"/>
              </a:ext>
            </a:extLst>
          </p:cNvPr>
          <p:cNvGrpSpPr/>
          <p:nvPr/>
        </p:nvGrpSpPr>
        <p:grpSpPr>
          <a:xfrm>
            <a:off x="1646076" y="4029452"/>
            <a:ext cx="570912" cy="419326"/>
            <a:chOff x="6759575" y="3000375"/>
            <a:chExt cx="906463" cy="746125"/>
          </a:xfrm>
          <a:solidFill>
            <a:srgbClr val="F4F3F9"/>
          </a:solidFill>
        </p:grpSpPr>
        <p:sp>
          <p:nvSpPr>
            <p:cNvPr id="50" name="Freeform 55">
              <a:extLst>
                <a:ext uri="{FF2B5EF4-FFF2-40B4-BE49-F238E27FC236}">
                  <a16:creationId xmlns:a16="http://schemas.microsoft.com/office/drawing/2014/main" id="{B59E3CA1-3981-FEF1-9F24-1CE1D03B59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1400" y="3000375"/>
              <a:ext cx="274638" cy="358775"/>
            </a:xfrm>
            <a:custGeom>
              <a:avLst/>
              <a:gdLst>
                <a:gd name="T0" fmla="*/ 182 w 364"/>
                <a:gd name="T1" fmla="*/ 476 h 476"/>
                <a:gd name="T2" fmla="*/ 152 w 364"/>
                <a:gd name="T3" fmla="*/ 462 h 476"/>
                <a:gd name="T4" fmla="*/ 0 w 364"/>
                <a:gd name="T5" fmla="*/ 182 h 476"/>
                <a:gd name="T6" fmla="*/ 53 w 364"/>
                <a:gd name="T7" fmla="*/ 53 h 476"/>
                <a:gd name="T8" fmla="*/ 182 w 364"/>
                <a:gd name="T9" fmla="*/ 0 h 476"/>
                <a:gd name="T10" fmla="*/ 182 w 364"/>
                <a:gd name="T11" fmla="*/ 0 h 476"/>
                <a:gd name="T12" fmla="*/ 364 w 364"/>
                <a:gd name="T13" fmla="*/ 182 h 476"/>
                <a:gd name="T14" fmla="*/ 212 w 364"/>
                <a:gd name="T15" fmla="*/ 462 h 476"/>
                <a:gd name="T16" fmla="*/ 182 w 364"/>
                <a:gd name="T17" fmla="*/ 476 h 476"/>
                <a:gd name="T18" fmla="*/ 182 w 364"/>
                <a:gd name="T19" fmla="*/ 24 h 476"/>
                <a:gd name="T20" fmla="*/ 70 w 364"/>
                <a:gd name="T21" fmla="*/ 70 h 476"/>
                <a:gd name="T22" fmla="*/ 24 w 364"/>
                <a:gd name="T23" fmla="*/ 182 h 476"/>
                <a:gd name="T24" fmla="*/ 171 w 364"/>
                <a:gd name="T25" fmla="*/ 447 h 476"/>
                <a:gd name="T26" fmla="*/ 182 w 364"/>
                <a:gd name="T27" fmla="*/ 452 h 476"/>
                <a:gd name="T28" fmla="*/ 193 w 364"/>
                <a:gd name="T29" fmla="*/ 447 h 476"/>
                <a:gd name="T30" fmla="*/ 340 w 364"/>
                <a:gd name="T31" fmla="*/ 182 h 476"/>
                <a:gd name="T32" fmla="*/ 182 w 364"/>
                <a:gd name="T33" fmla="*/ 24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4" h="476">
                  <a:moveTo>
                    <a:pt x="182" y="476"/>
                  </a:moveTo>
                  <a:cubicBezTo>
                    <a:pt x="170" y="476"/>
                    <a:pt x="159" y="471"/>
                    <a:pt x="152" y="462"/>
                  </a:cubicBezTo>
                  <a:cubicBezTo>
                    <a:pt x="95" y="389"/>
                    <a:pt x="0" y="257"/>
                    <a:pt x="0" y="182"/>
                  </a:cubicBezTo>
                  <a:cubicBezTo>
                    <a:pt x="0" y="133"/>
                    <a:pt x="19" y="87"/>
                    <a:pt x="53" y="53"/>
                  </a:cubicBezTo>
                  <a:cubicBezTo>
                    <a:pt x="87" y="19"/>
                    <a:pt x="133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282" y="0"/>
                    <a:pt x="364" y="81"/>
                    <a:pt x="364" y="182"/>
                  </a:cubicBezTo>
                  <a:cubicBezTo>
                    <a:pt x="364" y="257"/>
                    <a:pt x="269" y="389"/>
                    <a:pt x="212" y="462"/>
                  </a:cubicBezTo>
                  <a:cubicBezTo>
                    <a:pt x="205" y="471"/>
                    <a:pt x="194" y="476"/>
                    <a:pt x="182" y="476"/>
                  </a:cubicBezTo>
                  <a:close/>
                  <a:moveTo>
                    <a:pt x="182" y="24"/>
                  </a:moveTo>
                  <a:cubicBezTo>
                    <a:pt x="140" y="24"/>
                    <a:pt x="100" y="40"/>
                    <a:pt x="70" y="70"/>
                  </a:cubicBezTo>
                  <a:cubicBezTo>
                    <a:pt x="40" y="100"/>
                    <a:pt x="24" y="140"/>
                    <a:pt x="24" y="182"/>
                  </a:cubicBezTo>
                  <a:cubicBezTo>
                    <a:pt x="24" y="254"/>
                    <a:pt x="136" y="403"/>
                    <a:pt x="171" y="447"/>
                  </a:cubicBezTo>
                  <a:cubicBezTo>
                    <a:pt x="174" y="450"/>
                    <a:pt x="178" y="452"/>
                    <a:pt x="182" y="452"/>
                  </a:cubicBezTo>
                  <a:cubicBezTo>
                    <a:pt x="186" y="452"/>
                    <a:pt x="190" y="450"/>
                    <a:pt x="193" y="447"/>
                  </a:cubicBezTo>
                  <a:cubicBezTo>
                    <a:pt x="285" y="329"/>
                    <a:pt x="340" y="230"/>
                    <a:pt x="340" y="182"/>
                  </a:cubicBezTo>
                  <a:cubicBezTo>
                    <a:pt x="340" y="95"/>
                    <a:pt x="269" y="24"/>
                    <a:pt x="18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Freeform 56">
              <a:extLst>
                <a:ext uri="{FF2B5EF4-FFF2-40B4-BE49-F238E27FC236}">
                  <a16:creationId xmlns:a16="http://schemas.microsoft.com/office/drawing/2014/main" id="{DF130484-F2BD-1A06-1438-F1C8A5C5E1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0775" y="3079750"/>
              <a:ext cx="114300" cy="115888"/>
            </a:xfrm>
            <a:custGeom>
              <a:avLst/>
              <a:gdLst>
                <a:gd name="T0" fmla="*/ 76 w 152"/>
                <a:gd name="T1" fmla="*/ 152 h 152"/>
                <a:gd name="T2" fmla="*/ 0 w 152"/>
                <a:gd name="T3" fmla="*/ 76 h 152"/>
                <a:gd name="T4" fmla="*/ 76 w 152"/>
                <a:gd name="T5" fmla="*/ 0 h 152"/>
                <a:gd name="T6" fmla="*/ 76 w 152"/>
                <a:gd name="T7" fmla="*/ 0 h 152"/>
                <a:gd name="T8" fmla="*/ 130 w 152"/>
                <a:gd name="T9" fmla="*/ 22 h 152"/>
                <a:gd name="T10" fmla="*/ 152 w 152"/>
                <a:gd name="T11" fmla="*/ 76 h 152"/>
                <a:gd name="T12" fmla="*/ 152 w 152"/>
                <a:gd name="T13" fmla="*/ 76 h 152"/>
                <a:gd name="T14" fmla="*/ 76 w 152"/>
                <a:gd name="T15" fmla="*/ 152 h 152"/>
                <a:gd name="T16" fmla="*/ 76 w 152"/>
                <a:gd name="T17" fmla="*/ 24 h 152"/>
                <a:gd name="T18" fmla="*/ 76 w 152"/>
                <a:gd name="T19" fmla="*/ 24 h 152"/>
                <a:gd name="T20" fmla="*/ 24 w 152"/>
                <a:gd name="T21" fmla="*/ 76 h 152"/>
                <a:gd name="T22" fmla="*/ 76 w 152"/>
                <a:gd name="T23" fmla="*/ 128 h 152"/>
                <a:gd name="T24" fmla="*/ 128 w 152"/>
                <a:gd name="T25" fmla="*/ 76 h 152"/>
                <a:gd name="T26" fmla="*/ 128 w 152"/>
                <a:gd name="T27" fmla="*/ 76 h 152"/>
                <a:gd name="T28" fmla="*/ 113 w 152"/>
                <a:gd name="T29" fmla="*/ 39 h 152"/>
                <a:gd name="T30" fmla="*/ 76 w 152"/>
                <a:gd name="T31" fmla="*/ 2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2" h="152">
                  <a:moveTo>
                    <a:pt x="76" y="152"/>
                  </a:moveTo>
                  <a:cubicBezTo>
                    <a:pt x="34" y="152"/>
                    <a:pt x="0" y="118"/>
                    <a:pt x="0" y="76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6" y="0"/>
                    <a:pt x="115" y="8"/>
                    <a:pt x="130" y="22"/>
                  </a:cubicBezTo>
                  <a:cubicBezTo>
                    <a:pt x="144" y="37"/>
                    <a:pt x="152" y="56"/>
                    <a:pt x="152" y="76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118"/>
                    <a:pt x="118" y="152"/>
                    <a:pt x="76" y="152"/>
                  </a:cubicBezTo>
                  <a:close/>
                  <a:moveTo>
                    <a:pt x="76" y="24"/>
                  </a:moveTo>
                  <a:cubicBezTo>
                    <a:pt x="76" y="24"/>
                    <a:pt x="76" y="24"/>
                    <a:pt x="76" y="24"/>
                  </a:cubicBezTo>
                  <a:cubicBezTo>
                    <a:pt x="47" y="24"/>
                    <a:pt x="24" y="47"/>
                    <a:pt x="24" y="76"/>
                  </a:cubicBezTo>
                  <a:cubicBezTo>
                    <a:pt x="24" y="104"/>
                    <a:pt x="47" y="128"/>
                    <a:pt x="76" y="128"/>
                  </a:cubicBezTo>
                  <a:cubicBezTo>
                    <a:pt x="104" y="128"/>
                    <a:pt x="128" y="104"/>
                    <a:pt x="128" y="76"/>
                  </a:cubicBezTo>
                  <a:cubicBezTo>
                    <a:pt x="128" y="76"/>
                    <a:pt x="128" y="76"/>
                    <a:pt x="128" y="76"/>
                  </a:cubicBezTo>
                  <a:cubicBezTo>
                    <a:pt x="128" y="62"/>
                    <a:pt x="122" y="49"/>
                    <a:pt x="113" y="39"/>
                  </a:cubicBezTo>
                  <a:cubicBezTo>
                    <a:pt x="103" y="29"/>
                    <a:pt x="90" y="24"/>
                    <a:pt x="76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Freeform 57">
              <a:extLst>
                <a:ext uri="{FF2B5EF4-FFF2-40B4-BE49-F238E27FC236}">
                  <a16:creationId xmlns:a16="http://schemas.microsoft.com/office/drawing/2014/main" id="{43E71F62-5BD9-276E-13D9-EDEE9BDCEF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9575" y="3232150"/>
              <a:ext cx="361950" cy="514350"/>
            </a:xfrm>
            <a:custGeom>
              <a:avLst/>
              <a:gdLst>
                <a:gd name="T0" fmla="*/ 240 w 480"/>
                <a:gd name="T1" fmla="*/ 681 h 681"/>
                <a:gd name="T2" fmla="*/ 208 w 480"/>
                <a:gd name="T3" fmla="*/ 663 h 681"/>
                <a:gd name="T4" fmla="*/ 16 w 480"/>
                <a:gd name="T5" fmla="*/ 270 h 681"/>
                <a:gd name="T6" fmla="*/ 61 w 480"/>
                <a:gd name="T7" fmla="*/ 80 h 681"/>
                <a:gd name="T8" fmla="*/ 240 w 480"/>
                <a:gd name="T9" fmla="*/ 5 h 681"/>
                <a:gd name="T10" fmla="*/ 419 w 480"/>
                <a:gd name="T11" fmla="*/ 80 h 681"/>
                <a:gd name="T12" fmla="*/ 465 w 480"/>
                <a:gd name="T13" fmla="*/ 270 h 681"/>
                <a:gd name="T14" fmla="*/ 272 w 480"/>
                <a:gd name="T15" fmla="*/ 663 h 681"/>
                <a:gd name="T16" fmla="*/ 240 w 480"/>
                <a:gd name="T17" fmla="*/ 681 h 681"/>
                <a:gd name="T18" fmla="*/ 240 w 480"/>
                <a:gd name="T19" fmla="*/ 681 h 681"/>
                <a:gd name="T20" fmla="*/ 226 w 480"/>
                <a:gd name="T21" fmla="*/ 28 h 681"/>
                <a:gd name="T22" fmla="*/ 80 w 480"/>
                <a:gd name="T23" fmla="*/ 96 h 681"/>
                <a:gd name="T24" fmla="*/ 39 w 480"/>
                <a:gd name="T25" fmla="*/ 264 h 681"/>
                <a:gd name="T26" fmla="*/ 39 w 480"/>
                <a:gd name="T27" fmla="*/ 265 h 681"/>
                <a:gd name="T28" fmla="*/ 228 w 480"/>
                <a:gd name="T29" fmla="*/ 650 h 681"/>
                <a:gd name="T30" fmla="*/ 240 w 480"/>
                <a:gd name="T31" fmla="*/ 657 h 681"/>
                <a:gd name="T32" fmla="*/ 240 w 480"/>
                <a:gd name="T33" fmla="*/ 657 h 681"/>
                <a:gd name="T34" fmla="*/ 252 w 480"/>
                <a:gd name="T35" fmla="*/ 650 h 681"/>
                <a:gd name="T36" fmla="*/ 441 w 480"/>
                <a:gd name="T37" fmla="*/ 265 h 681"/>
                <a:gd name="T38" fmla="*/ 441 w 480"/>
                <a:gd name="T39" fmla="*/ 264 h 681"/>
                <a:gd name="T40" fmla="*/ 401 w 480"/>
                <a:gd name="T41" fmla="*/ 96 h 681"/>
                <a:gd name="T42" fmla="*/ 241 w 480"/>
                <a:gd name="T43" fmla="*/ 29 h 681"/>
                <a:gd name="T44" fmla="*/ 240 w 480"/>
                <a:gd name="T45" fmla="*/ 29 h 681"/>
                <a:gd name="T46" fmla="*/ 239 w 480"/>
                <a:gd name="T47" fmla="*/ 29 h 681"/>
                <a:gd name="T48" fmla="*/ 226 w 480"/>
                <a:gd name="T49" fmla="*/ 28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0" h="681">
                  <a:moveTo>
                    <a:pt x="240" y="681"/>
                  </a:moveTo>
                  <a:cubicBezTo>
                    <a:pt x="227" y="681"/>
                    <a:pt x="214" y="674"/>
                    <a:pt x="208" y="663"/>
                  </a:cubicBezTo>
                  <a:cubicBezTo>
                    <a:pt x="156" y="580"/>
                    <a:pt x="35" y="376"/>
                    <a:pt x="16" y="270"/>
                  </a:cubicBezTo>
                  <a:cubicBezTo>
                    <a:pt x="0" y="203"/>
                    <a:pt x="17" y="132"/>
                    <a:pt x="61" y="80"/>
                  </a:cubicBezTo>
                  <a:cubicBezTo>
                    <a:pt x="105" y="28"/>
                    <a:pt x="172" y="0"/>
                    <a:pt x="240" y="5"/>
                  </a:cubicBezTo>
                  <a:cubicBezTo>
                    <a:pt x="308" y="0"/>
                    <a:pt x="375" y="28"/>
                    <a:pt x="419" y="80"/>
                  </a:cubicBezTo>
                  <a:cubicBezTo>
                    <a:pt x="464" y="132"/>
                    <a:pt x="480" y="203"/>
                    <a:pt x="465" y="270"/>
                  </a:cubicBezTo>
                  <a:cubicBezTo>
                    <a:pt x="449" y="362"/>
                    <a:pt x="325" y="575"/>
                    <a:pt x="272" y="663"/>
                  </a:cubicBezTo>
                  <a:cubicBezTo>
                    <a:pt x="266" y="674"/>
                    <a:pt x="253" y="681"/>
                    <a:pt x="240" y="681"/>
                  </a:cubicBezTo>
                  <a:cubicBezTo>
                    <a:pt x="240" y="681"/>
                    <a:pt x="240" y="681"/>
                    <a:pt x="240" y="681"/>
                  </a:cubicBezTo>
                  <a:close/>
                  <a:moveTo>
                    <a:pt x="226" y="28"/>
                  </a:moveTo>
                  <a:cubicBezTo>
                    <a:pt x="170" y="28"/>
                    <a:pt x="116" y="53"/>
                    <a:pt x="80" y="96"/>
                  </a:cubicBezTo>
                  <a:cubicBezTo>
                    <a:pt x="40" y="142"/>
                    <a:pt x="25" y="205"/>
                    <a:pt x="39" y="264"/>
                  </a:cubicBezTo>
                  <a:cubicBezTo>
                    <a:pt x="39" y="265"/>
                    <a:pt x="39" y="265"/>
                    <a:pt x="39" y="265"/>
                  </a:cubicBezTo>
                  <a:cubicBezTo>
                    <a:pt x="58" y="368"/>
                    <a:pt x="178" y="569"/>
                    <a:pt x="228" y="650"/>
                  </a:cubicBezTo>
                  <a:cubicBezTo>
                    <a:pt x="231" y="655"/>
                    <a:pt x="235" y="657"/>
                    <a:pt x="240" y="657"/>
                  </a:cubicBezTo>
                  <a:cubicBezTo>
                    <a:pt x="240" y="657"/>
                    <a:pt x="240" y="657"/>
                    <a:pt x="240" y="657"/>
                  </a:cubicBezTo>
                  <a:cubicBezTo>
                    <a:pt x="245" y="657"/>
                    <a:pt x="249" y="655"/>
                    <a:pt x="252" y="650"/>
                  </a:cubicBezTo>
                  <a:cubicBezTo>
                    <a:pt x="304" y="564"/>
                    <a:pt x="426" y="353"/>
                    <a:pt x="441" y="265"/>
                  </a:cubicBezTo>
                  <a:cubicBezTo>
                    <a:pt x="441" y="264"/>
                    <a:pt x="441" y="264"/>
                    <a:pt x="441" y="264"/>
                  </a:cubicBezTo>
                  <a:cubicBezTo>
                    <a:pt x="455" y="205"/>
                    <a:pt x="440" y="142"/>
                    <a:pt x="401" y="96"/>
                  </a:cubicBezTo>
                  <a:cubicBezTo>
                    <a:pt x="362" y="49"/>
                    <a:pt x="302" y="24"/>
                    <a:pt x="241" y="29"/>
                  </a:cubicBezTo>
                  <a:cubicBezTo>
                    <a:pt x="240" y="29"/>
                    <a:pt x="240" y="29"/>
                    <a:pt x="240" y="29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35" y="28"/>
                    <a:pt x="230" y="28"/>
                    <a:pt x="226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Freeform 58">
              <a:extLst>
                <a:ext uri="{FF2B5EF4-FFF2-40B4-BE49-F238E27FC236}">
                  <a16:creationId xmlns:a16="http://schemas.microsoft.com/office/drawing/2014/main" id="{E588E5F0-F332-AB19-DD29-BE246DF768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1650" y="3314700"/>
              <a:ext cx="171450" cy="165100"/>
            </a:xfrm>
            <a:custGeom>
              <a:avLst/>
              <a:gdLst>
                <a:gd name="T0" fmla="*/ 118 w 228"/>
                <a:gd name="T1" fmla="*/ 219 h 219"/>
                <a:gd name="T2" fmla="*/ 41 w 228"/>
                <a:gd name="T3" fmla="*/ 187 h 219"/>
                <a:gd name="T4" fmla="*/ 17 w 228"/>
                <a:gd name="T5" fmla="*/ 68 h 219"/>
                <a:gd name="T6" fmla="*/ 118 w 228"/>
                <a:gd name="T7" fmla="*/ 0 h 219"/>
                <a:gd name="T8" fmla="*/ 228 w 228"/>
                <a:gd name="T9" fmla="*/ 110 h 219"/>
                <a:gd name="T10" fmla="*/ 228 w 228"/>
                <a:gd name="T11" fmla="*/ 110 h 219"/>
                <a:gd name="T12" fmla="*/ 160 w 228"/>
                <a:gd name="T13" fmla="*/ 211 h 219"/>
                <a:gd name="T14" fmla="*/ 118 w 228"/>
                <a:gd name="T15" fmla="*/ 219 h 219"/>
                <a:gd name="T16" fmla="*/ 118 w 228"/>
                <a:gd name="T17" fmla="*/ 24 h 219"/>
                <a:gd name="T18" fmla="*/ 39 w 228"/>
                <a:gd name="T19" fmla="*/ 77 h 219"/>
                <a:gd name="T20" fmla="*/ 58 w 228"/>
                <a:gd name="T21" fmla="*/ 170 h 219"/>
                <a:gd name="T22" fmla="*/ 151 w 228"/>
                <a:gd name="T23" fmla="*/ 189 h 219"/>
                <a:gd name="T24" fmla="*/ 204 w 228"/>
                <a:gd name="T25" fmla="*/ 110 h 219"/>
                <a:gd name="T26" fmla="*/ 204 w 228"/>
                <a:gd name="T27" fmla="*/ 110 h 219"/>
                <a:gd name="T28" fmla="*/ 118 w 228"/>
                <a:gd name="T29" fmla="*/ 24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19">
                  <a:moveTo>
                    <a:pt x="118" y="219"/>
                  </a:moveTo>
                  <a:cubicBezTo>
                    <a:pt x="90" y="219"/>
                    <a:pt x="62" y="208"/>
                    <a:pt x="41" y="187"/>
                  </a:cubicBezTo>
                  <a:cubicBezTo>
                    <a:pt x="9" y="156"/>
                    <a:pt x="0" y="109"/>
                    <a:pt x="17" y="68"/>
                  </a:cubicBezTo>
                  <a:cubicBezTo>
                    <a:pt x="34" y="27"/>
                    <a:pt x="74" y="0"/>
                    <a:pt x="118" y="0"/>
                  </a:cubicBezTo>
                  <a:cubicBezTo>
                    <a:pt x="179" y="0"/>
                    <a:pt x="228" y="49"/>
                    <a:pt x="228" y="110"/>
                  </a:cubicBezTo>
                  <a:cubicBezTo>
                    <a:pt x="228" y="110"/>
                    <a:pt x="228" y="110"/>
                    <a:pt x="228" y="110"/>
                  </a:cubicBezTo>
                  <a:cubicBezTo>
                    <a:pt x="228" y="154"/>
                    <a:pt x="201" y="194"/>
                    <a:pt x="160" y="211"/>
                  </a:cubicBezTo>
                  <a:cubicBezTo>
                    <a:pt x="147" y="217"/>
                    <a:pt x="132" y="219"/>
                    <a:pt x="118" y="219"/>
                  </a:cubicBezTo>
                  <a:close/>
                  <a:moveTo>
                    <a:pt x="118" y="24"/>
                  </a:moveTo>
                  <a:cubicBezTo>
                    <a:pt x="84" y="24"/>
                    <a:pt x="53" y="45"/>
                    <a:pt x="39" y="77"/>
                  </a:cubicBezTo>
                  <a:cubicBezTo>
                    <a:pt x="26" y="109"/>
                    <a:pt x="33" y="146"/>
                    <a:pt x="58" y="170"/>
                  </a:cubicBezTo>
                  <a:cubicBezTo>
                    <a:pt x="82" y="195"/>
                    <a:pt x="119" y="202"/>
                    <a:pt x="151" y="189"/>
                  </a:cubicBezTo>
                  <a:cubicBezTo>
                    <a:pt x="183" y="175"/>
                    <a:pt x="204" y="144"/>
                    <a:pt x="204" y="110"/>
                  </a:cubicBezTo>
                  <a:cubicBezTo>
                    <a:pt x="204" y="110"/>
                    <a:pt x="204" y="110"/>
                    <a:pt x="204" y="110"/>
                  </a:cubicBezTo>
                  <a:cubicBezTo>
                    <a:pt x="204" y="63"/>
                    <a:pt x="165" y="24"/>
                    <a:pt x="118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Freeform 59">
              <a:extLst>
                <a:ext uri="{FF2B5EF4-FFF2-40B4-BE49-F238E27FC236}">
                  <a16:creationId xmlns:a16="http://schemas.microsoft.com/office/drawing/2014/main" id="{5697762D-F964-6D79-56B4-C7535618B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913" y="3411538"/>
              <a:ext cx="471488" cy="312738"/>
            </a:xfrm>
            <a:custGeom>
              <a:avLst/>
              <a:gdLst>
                <a:gd name="T0" fmla="*/ 14 w 626"/>
                <a:gd name="T1" fmla="*/ 415 h 415"/>
                <a:gd name="T2" fmla="*/ 4 w 626"/>
                <a:gd name="T3" fmla="*/ 410 h 415"/>
                <a:gd name="T4" fmla="*/ 7 w 626"/>
                <a:gd name="T5" fmla="*/ 393 h 415"/>
                <a:gd name="T6" fmla="*/ 605 w 626"/>
                <a:gd name="T7" fmla="*/ 3 h 415"/>
                <a:gd name="T8" fmla="*/ 622 w 626"/>
                <a:gd name="T9" fmla="*/ 7 h 415"/>
                <a:gd name="T10" fmla="*/ 618 w 626"/>
                <a:gd name="T11" fmla="*/ 24 h 415"/>
                <a:gd name="T12" fmla="*/ 21 w 626"/>
                <a:gd name="T13" fmla="*/ 414 h 415"/>
                <a:gd name="T14" fmla="*/ 14 w 626"/>
                <a:gd name="T15" fmla="*/ 41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6" h="415">
                  <a:moveTo>
                    <a:pt x="14" y="415"/>
                  </a:moveTo>
                  <a:cubicBezTo>
                    <a:pt x="10" y="415"/>
                    <a:pt x="6" y="414"/>
                    <a:pt x="4" y="410"/>
                  </a:cubicBezTo>
                  <a:cubicBezTo>
                    <a:pt x="0" y="405"/>
                    <a:pt x="2" y="397"/>
                    <a:pt x="7" y="393"/>
                  </a:cubicBezTo>
                  <a:cubicBezTo>
                    <a:pt x="605" y="3"/>
                    <a:pt x="605" y="3"/>
                    <a:pt x="605" y="3"/>
                  </a:cubicBezTo>
                  <a:cubicBezTo>
                    <a:pt x="611" y="0"/>
                    <a:pt x="618" y="1"/>
                    <a:pt x="622" y="7"/>
                  </a:cubicBezTo>
                  <a:cubicBezTo>
                    <a:pt x="626" y="13"/>
                    <a:pt x="624" y="20"/>
                    <a:pt x="618" y="24"/>
                  </a:cubicBezTo>
                  <a:cubicBezTo>
                    <a:pt x="21" y="414"/>
                    <a:pt x="21" y="414"/>
                    <a:pt x="21" y="414"/>
                  </a:cubicBezTo>
                  <a:cubicBezTo>
                    <a:pt x="19" y="415"/>
                    <a:pt x="16" y="415"/>
                    <a:pt x="14" y="4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8" name="Title 27">
            <a:extLst>
              <a:ext uri="{FF2B5EF4-FFF2-40B4-BE49-F238E27FC236}">
                <a16:creationId xmlns:a16="http://schemas.microsoft.com/office/drawing/2014/main" id="{B9859386-1F70-3F6C-C2BA-F2785653B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CyberArk Deep Dive</a:t>
            </a:r>
          </a:p>
        </p:txBody>
      </p:sp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DD8DA2AE-1951-0EE2-4C88-A78862EE1C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TCS confidential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8C0A2D-17A9-F8A8-284C-FCA028400CC7}"/>
              </a:ext>
            </a:extLst>
          </p:cNvPr>
          <p:cNvSpPr txBox="1"/>
          <p:nvPr/>
        </p:nvSpPr>
        <p:spPr>
          <a:xfrm>
            <a:off x="535249" y="795985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4E84C4"/>
                </a:solidFill>
                <a:effectLst/>
                <a:latin typeface="+mj-lt"/>
                <a:cs typeface="MS PGothic" panose="020B0600070205080204" pitchFamily="34" charset="-128"/>
              </a:rPr>
              <a:t>Company Overview</a:t>
            </a:r>
            <a:endParaRPr lang="en-GB" sz="1600" dirty="0">
              <a:solidFill>
                <a:srgbClr val="4E84C4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C88D0D-1178-7020-C7F7-BA4378E3CD29}"/>
              </a:ext>
            </a:extLst>
          </p:cNvPr>
          <p:cNvSpPr txBox="1"/>
          <p:nvPr/>
        </p:nvSpPr>
        <p:spPr>
          <a:xfrm>
            <a:off x="494351" y="1190823"/>
            <a:ext cx="457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Founded: 1999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Headquarters: Petach Tikva, Israel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Market Cap: ~$7 billion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Employees: 4,000+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8D15B-C583-AD06-0331-B80EE6BFBC6F}"/>
              </a:ext>
            </a:extLst>
          </p:cNvPr>
          <p:cNvSpPr txBox="1"/>
          <p:nvPr/>
        </p:nvSpPr>
        <p:spPr>
          <a:xfrm>
            <a:off x="614414" y="2598257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4E84C4"/>
                </a:solidFill>
                <a:effectLst/>
                <a:latin typeface="+mj-lt"/>
                <a:cs typeface="MS PGothic" panose="020B0600070205080204" pitchFamily="34" charset="-128"/>
              </a:rPr>
              <a:t>Core Components PAM</a:t>
            </a:r>
            <a:endParaRPr lang="en-GB" sz="1600" dirty="0">
              <a:solidFill>
                <a:srgbClr val="4E84C4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9B5095-B50E-DDF7-B222-5C667F959BCA}"/>
              </a:ext>
            </a:extLst>
          </p:cNvPr>
          <p:cNvSpPr txBox="1"/>
          <p:nvPr/>
        </p:nvSpPr>
        <p:spPr>
          <a:xfrm>
            <a:off x="614414" y="2936161"/>
            <a:ext cx="457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dirty="0">
                <a:solidFill>
                  <a:srgbClr val="000000"/>
                </a:solidFill>
                <a:latin typeface="+mj-lt"/>
                <a:ea typeface="MS PGothic" panose="020B0600070205080204" pitchFamily="34" charset="-128"/>
              </a:rPr>
              <a:t>Enterprise Password Vault (EPV)</a:t>
            </a:r>
          </a:p>
          <a:p>
            <a:pPr>
              <a:buNone/>
            </a:pPr>
            <a:r>
              <a:rPr lang="en-GB" sz="1600" dirty="0">
                <a:solidFill>
                  <a:srgbClr val="000000"/>
                </a:solidFill>
                <a:latin typeface="+mj-lt"/>
                <a:ea typeface="MS PGothic" panose="020B0600070205080204" pitchFamily="34" charset="-128"/>
              </a:rPr>
              <a:t>Central Policy Manager (CPM)</a:t>
            </a:r>
          </a:p>
          <a:p>
            <a:pPr>
              <a:buNone/>
            </a:pPr>
            <a:r>
              <a:rPr lang="en-GB" sz="1600" dirty="0">
                <a:solidFill>
                  <a:srgbClr val="000000"/>
                </a:solidFill>
                <a:latin typeface="+mj-lt"/>
                <a:ea typeface="MS PGothic" panose="020B0600070205080204" pitchFamily="34" charset="-128"/>
              </a:rPr>
              <a:t>Privileged Session Manager (PSM)</a:t>
            </a:r>
          </a:p>
          <a:p>
            <a:r>
              <a:rPr lang="en-GB" sz="1600" dirty="0">
                <a:solidFill>
                  <a:srgbClr val="000000"/>
                </a:solidFill>
                <a:latin typeface="+mj-lt"/>
                <a:ea typeface="MS PGothic" panose="020B0600070205080204" pitchFamily="34" charset="-128"/>
              </a:rPr>
              <a:t>Privileged Threat Analytics (PTA)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68EA3D6-86F1-0B2F-810D-355CDAA45CD7}"/>
              </a:ext>
            </a:extLst>
          </p:cNvPr>
          <p:cNvSpPr/>
          <p:nvPr/>
        </p:nvSpPr>
        <p:spPr>
          <a:xfrm>
            <a:off x="306065" y="673211"/>
            <a:ext cx="3475897" cy="3706409"/>
          </a:xfrm>
          <a:prstGeom prst="roundRect">
            <a:avLst/>
          </a:prstGeom>
          <a:noFill/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8EA7AF-AEF6-DD4D-B683-012967FAA3A1}"/>
              </a:ext>
            </a:extLst>
          </p:cNvPr>
          <p:cNvSpPr txBox="1"/>
          <p:nvPr/>
        </p:nvSpPr>
        <p:spPr>
          <a:xfrm>
            <a:off x="4847198" y="81233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4E84C4"/>
                </a:solidFill>
                <a:effectLst/>
                <a:latin typeface="+mj-lt"/>
                <a:cs typeface="MS PGothic" panose="020B0600070205080204" pitchFamily="34" charset="-128"/>
              </a:rPr>
              <a:t>Deployment Models</a:t>
            </a:r>
            <a:endParaRPr lang="en-GB" sz="1600" dirty="0">
              <a:solidFill>
                <a:srgbClr val="4E84C4"/>
              </a:solidFill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C8961D-5577-2450-6AB9-A9C0DA55427D}"/>
              </a:ext>
            </a:extLst>
          </p:cNvPr>
          <p:cNvSpPr txBox="1"/>
          <p:nvPr/>
        </p:nvSpPr>
        <p:spPr>
          <a:xfrm>
            <a:off x="4813986" y="1086411"/>
            <a:ext cx="45720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On-Premises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Full control over infrastructure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Higher initial investment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Suitable for highly regulated org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r>
              <a:rPr lang="en-US" sz="1600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Cloud (SaaS)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Faster 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Lower upfront 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Automatic updates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r>
              <a:rPr lang="en-US" sz="1600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Hybrid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Best of both worlds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Risk distribution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7D5B436-5DFB-05EB-A7FF-B02227A8BF13}"/>
              </a:ext>
            </a:extLst>
          </p:cNvPr>
          <p:cNvSpPr/>
          <p:nvPr/>
        </p:nvSpPr>
        <p:spPr>
          <a:xfrm>
            <a:off x="4674315" y="641294"/>
            <a:ext cx="3475897" cy="3706409"/>
          </a:xfrm>
          <a:prstGeom prst="roundRect">
            <a:avLst/>
          </a:prstGeom>
          <a:noFill/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pic>
        <p:nvPicPr>
          <p:cNvPr id="11266" name="Picture 2" descr="CyberArk Logo PNG Vector (AI) Free Download">
            <a:extLst>
              <a:ext uri="{FF2B5EF4-FFF2-40B4-BE49-F238E27FC236}">
                <a16:creationId xmlns:a16="http://schemas.microsoft.com/office/drawing/2014/main" id="{A2528E72-92F5-7FB1-869C-016C2F71D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9883" y="3675089"/>
            <a:ext cx="732492" cy="63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1061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12698-3272-14AF-EE37-4A7CD359A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2966935E-0663-EDE4-C7DC-9DF6D0DEF435}"/>
              </a:ext>
            </a:extLst>
          </p:cNvPr>
          <p:cNvGrpSpPr/>
          <p:nvPr/>
        </p:nvGrpSpPr>
        <p:grpSpPr>
          <a:xfrm>
            <a:off x="1646076" y="4029452"/>
            <a:ext cx="570912" cy="419326"/>
            <a:chOff x="6759575" y="3000375"/>
            <a:chExt cx="906463" cy="746125"/>
          </a:xfrm>
          <a:solidFill>
            <a:srgbClr val="F4F3F9"/>
          </a:solidFill>
        </p:grpSpPr>
        <p:sp>
          <p:nvSpPr>
            <p:cNvPr id="50" name="Freeform 55">
              <a:extLst>
                <a:ext uri="{FF2B5EF4-FFF2-40B4-BE49-F238E27FC236}">
                  <a16:creationId xmlns:a16="http://schemas.microsoft.com/office/drawing/2014/main" id="{DB373920-870A-60E5-6603-56DD1FA325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1400" y="3000375"/>
              <a:ext cx="274638" cy="358775"/>
            </a:xfrm>
            <a:custGeom>
              <a:avLst/>
              <a:gdLst>
                <a:gd name="T0" fmla="*/ 182 w 364"/>
                <a:gd name="T1" fmla="*/ 476 h 476"/>
                <a:gd name="T2" fmla="*/ 152 w 364"/>
                <a:gd name="T3" fmla="*/ 462 h 476"/>
                <a:gd name="T4" fmla="*/ 0 w 364"/>
                <a:gd name="T5" fmla="*/ 182 h 476"/>
                <a:gd name="T6" fmla="*/ 53 w 364"/>
                <a:gd name="T7" fmla="*/ 53 h 476"/>
                <a:gd name="T8" fmla="*/ 182 w 364"/>
                <a:gd name="T9" fmla="*/ 0 h 476"/>
                <a:gd name="T10" fmla="*/ 182 w 364"/>
                <a:gd name="T11" fmla="*/ 0 h 476"/>
                <a:gd name="T12" fmla="*/ 364 w 364"/>
                <a:gd name="T13" fmla="*/ 182 h 476"/>
                <a:gd name="T14" fmla="*/ 212 w 364"/>
                <a:gd name="T15" fmla="*/ 462 h 476"/>
                <a:gd name="T16" fmla="*/ 182 w 364"/>
                <a:gd name="T17" fmla="*/ 476 h 476"/>
                <a:gd name="T18" fmla="*/ 182 w 364"/>
                <a:gd name="T19" fmla="*/ 24 h 476"/>
                <a:gd name="T20" fmla="*/ 70 w 364"/>
                <a:gd name="T21" fmla="*/ 70 h 476"/>
                <a:gd name="T22" fmla="*/ 24 w 364"/>
                <a:gd name="T23" fmla="*/ 182 h 476"/>
                <a:gd name="T24" fmla="*/ 171 w 364"/>
                <a:gd name="T25" fmla="*/ 447 h 476"/>
                <a:gd name="T26" fmla="*/ 182 w 364"/>
                <a:gd name="T27" fmla="*/ 452 h 476"/>
                <a:gd name="T28" fmla="*/ 193 w 364"/>
                <a:gd name="T29" fmla="*/ 447 h 476"/>
                <a:gd name="T30" fmla="*/ 340 w 364"/>
                <a:gd name="T31" fmla="*/ 182 h 476"/>
                <a:gd name="T32" fmla="*/ 182 w 364"/>
                <a:gd name="T33" fmla="*/ 24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4" h="476">
                  <a:moveTo>
                    <a:pt x="182" y="476"/>
                  </a:moveTo>
                  <a:cubicBezTo>
                    <a:pt x="170" y="476"/>
                    <a:pt x="159" y="471"/>
                    <a:pt x="152" y="462"/>
                  </a:cubicBezTo>
                  <a:cubicBezTo>
                    <a:pt x="95" y="389"/>
                    <a:pt x="0" y="257"/>
                    <a:pt x="0" y="182"/>
                  </a:cubicBezTo>
                  <a:cubicBezTo>
                    <a:pt x="0" y="133"/>
                    <a:pt x="19" y="87"/>
                    <a:pt x="53" y="53"/>
                  </a:cubicBezTo>
                  <a:cubicBezTo>
                    <a:pt x="87" y="19"/>
                    <a:pt x="133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282" y="0"/>
                    <a:pt x="364" y="81"/>
                    <a:pt x="364" y="182"/>
                  </a:cubicBezTo>
                  <a:cubicBezTo>
                    <a:pt x="364" y="257"/>
                    <a:pt x="269" y="389"/>
                    <a:pt x="212" y="462"/>
                  </a:cubicBezTo>
                  <a:cubicBezTo>
                    <a:pt x="205" y="471"/>
                    <a:pt x="194" y="476"/>
                    <a:pt x="182" y="476"/>
                  </a:cubicBezTo>
                  <a:close/>
                  <a:moveTo>
                    <a:pt x="182" y="24"/>
                  </a:moveTo>
                  <a:cubicBezTo>
                    <a:pt x="140" y="24"/>
                    <a:pt x="100" y="40"/>
                    <a:pt x="70" y="70"/>
                  </a:cubicBezTo>
                  <a:cubicBezTo>
                    <a:pt x="40" y="100"/>
                    <a:pt x="24" y="140"/>
                    <a:pt x="24" y="182"/>
                  </a:cubicBezTo>
                  <a:cubicBezTo>
                    <a:pt x="24" y="254"/>
                    <a:pt x="136" y="403"/>
                    <a:pt x="171" y="447"/>
                  </a:cubicBezTo>
                  <a:cubicBezTo>
                    <a:pt x="174" y="450"/>
                    <a:pt x="178" y="452"/>
                    <a:pt x="182" y="452"/>
                  </a:cubicBezTo>
                  <a:cubicBezTo>
                    <a:pt x="186" y="452"/>
                    <a:pt x="190" y="450"/>
                    <a:pt x="193" y="447"/>
                  </a:cubicBezTo>
                  <a:cubicBezTo>
                    <a:pt x="285" y="329"/>
                    <a:pt x="340" y="230"/>
                    <a:pt x="340" y="182"/>
                  </a:cubicBezTo>
                  <a:cubicBezTo>
                    <a:pt x="340" y="95"/>
                    <a:pt x="269" y="24"/>
                    <a:pt x="18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Freeform 56">
              <a:extLst>
                <a:ext uri="{FF2B5EF4-FFF2-40B4-BE49-F238E27FC236}">
                  <a16:creationId xmlns:a16="http://schemas.microsoft.com/office/drawing/2014/main" id="{D1D69010-40CD-F3B4-5C85-2D908FDDE9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0775" y="3079750"/>
              <a:ext cx="114300" cy="115888"/>
            </a:xfrm>
            <a:custGeom>
              <a:avLst/>
              <a:gdLst>
                <a:gd name="T0" fmla="*/ 76 w 152"/>
                <a:gd name="T1" fmla="*/ 152 h 152"/>
                <a:gd name="T2" fmla="*/ 0 w 152"/>
                <a:gd name="T3" fmla="*/ 76 h 152"/>
                <a:gd name="T4" fmla="*/ 76 w 152"/>
                <a:gd name="T5" fmla="*/ 0 h 152"/>
                <a:gd name="T6" fmla="*/ 76 w 152"/>
                <a:gd name="T7" fmla="*/ 0 h 152"/>
                <a:gd name="T8" fmla="*/ 130 w 152"/>
                <a:gd name="T9" fmla="*/ 22 h 152"/>
                <a:gd name="T10" fmla="*/ 152 w 152"/>
                <a:gd name="T11" fmla="*/ 76 h 152"/>
                <a:gd name="T12" fmla="*/ 152 w 152"/>
                <a:gd name="T13" fmla="*/ 76 h 152"/>
                <a:gd name="T14" fmla="*/ 76 w 152"/>
                <a:gd name="T15" fmla="*/ 152 h 152"/>
                <a:gd name="T16" fmla="*/ 76 w 152"/>
                <a:gd name="T17" fmla="*/ 24 h 152"/>
                <a:gd name="T18" fmla="*/ 76 w 152"/>
                <a:gd name="T19" fmla="*/ 24 h 152"/>
                <a:gd name="T20" fmla="*/ 24 w 152"/>
                <a:gd name="T21" fmla="*/ 76 h 152"/>
                <a:gd name="T22" fmla="*/ 76 w 152"/>
                <a:gd name="T23" fmla="*/ 128 h 152"/>
                <a:gd name="T24" fmla="*/ 128 w 152"/>
                <a:gd name="T25" fmla="*/ 76 h 152"/>
                <a:gd name="T26" fmla="*/ 128 w 152"/>
                <a:gd name="T27" fmla="*/ 76 h 152"/>
                <a:gd name="T28" fmla="*/ 113 w 152"/>
                <a:gd name="T29" fmla="*/ 39 h 152"/>
                <a:gd name="T30" fmla="*/ 76 w 152"/>
                <a:gd name="T31" fmla="*/ 2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2" h="152">
                  <a:moveTo>
                    <a:pt x="76" y="152"/>
                  </a:moveTo>
                  <a:cubicBezTo>
                    <a:pt x="34" y="152"/>
                    <a:pt x="0" y="118"/>
                    <a:pt x="0" y="76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6" y="0"/>
                    <a:pt x="115" y="8"/>
                    <a:pt x="130" y="22"/>
                  </a:cubicBezTo>
                  <a:cubicBezTo>
                    <a:pt x="144" y="37"/>
                    <a:pt x="152" y="56"/>
                    <a:pt x="152" y="76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118"/>
                    <a:pt x="118" y="152"/>
                    <a:pt x="76" y="152"/>
                  </a:cubicBezTo>
                  <a:close/>
                  <a:moveTo>
                    <a:pt x="76" y="24"/>
                  </a:moveTo>
                  <a:cubicBezTo>
                    <a:pt x="76" y="24"/>
                    <a:pt x="76" y="24"/>
                    <a:pt x="76" y="24"/>
                  </a:cubicBezTo>
                  <a:cubicBezTo>
                    <a:pt x="47" y="24"/>
                    <a:pt x="24" y="47"/>
                    <a:pt x="24" y="76"/>
                  </a:cubicBezTo>
                  <a:cubicBezTo>
                    <a:pt x="24" y="104"/>
                    <a:pt x="47" y="128"/>
                    <a:pt x="76" y="128"/>
                  </a:cubicBezTo>
                  <a:cubicBezTo>
                    <a:pt x="104" y="128"/>
                    <a:pt x="128" y="104"/>
                    <a:pt x="128" y="76"/>
                  </a:cubicBezTo>
                  <a:cubicBezTo>
                    <a:pt x="128" y="76"/>
                    <a:pt x="128" y="76"/>
                    <a:pt x="128" y="76"/>
                  </a:cubicBezTo>
                  <a:cubicBezTo>
                    <a:pt x="128" y="62"/>
                    <a:pt x="122" y="49"/>
                    <a:pt x="113" y="39"/>
                  </a:cubicBezTo>
                  <a:cubicBezTo>
                    <a:pt x="103" y="29"/>
                    <a:pt x="90" y="24"/>
                    <a:pt x="76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Freeform 57">
              <a:extLst>
                <a:ext uri="{FF2B5EF4-FFF2-40B4-BE49-F238E27FC236}">
                  <a16:creationId xmlns:a16="http://schemas.microsoft.com/office/drawing/2014/main" id="{B8A1EB31-D443-0F86-F125-B5F866CA63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9575" y="3232150"/>
              <a:ext cx="361950" cy="514350"/>
            </a:xfrm>
            <a:custGeom>
              <a:avLst/>
              <a:gdLst>
                <a:gd name="T0" fmla="*/ 240 w 480"/>
                <a:gd name="T1" fmla="*/ 681 h 681"/>
                <a:gd name="T2" fmla="*/ 208 w 480"/>
                <a:gd name="T3" fmla="*/ 663 h 681"/>
                <a:gd name="T4" fmla="*/ 16 w 480"/>
                <a:gd name="T5" fmla="*/ 270 h 681"/>
                <a:gd name="T6" fmla="*/ 61 w 480"/>
                <a:gd name="T7" fmla="*/ 80 h 681"/>
                <a:gd name="T8" fmla="*/ 240 w 480"/>
                <a:gd name="T9" fmla="*/ 5 h 681"/>
                <a:gd name="T10" fmla="*/ 419 w 480"/>
                <a:gd name="T11" fmla="*/ 80 h 681"/>
                <a:gd name="T12" fmla="*/ 465 w 480"/>
                <a:gd name="T13" fmla="*/ 270 h 681"/>
                <a:gd name="T14" fmla="*/ 272 w 480"/>
                <a:gd name="T15" fmla="*/ 663 h 681"/>
                <a:gd name="T16" fmla="*/ 240 w 480"/>
                <a:gd name="T17" fmla="*/ 681 h 681"/>
                <a:gd name="T18" fmla="*/ 240 w 480"/>
                <a:gd name="T19" fmla="*/ 681 h 681"/>
                <a:gd name="T20" fmla="*/ 226 w 480"/>
                <a:gd name="T21" fmla="*/ 28 h 681"/>
                <a:gd name="T22" fmla="*/ 80 w 480"/>
                <a:gd name="T23" fmla="*/ 96 h 681"/>
                <a:gd name="T24" fmla="*/ 39 w 480"/>
                <a:gd name="T25" fmla="*/ 264 h 681"/>
                <a:gd name="T26" fmla="*/ 39 w 480"/>
                <a:gd name="T27" fmla="*/ 265 h 681"/>
                <a:gd name="T28" fmla="*/ 228 w 480"/>
                <a:gd name="T29" fmla="*/ 650 h 681"/>
                <a:gd name="T30" fmla="*/ 240 w 480"/>
                <a:gd name="T31" fmla="*/ 657 h 681"/>
                <a:gd name="T32" fmla="*/ 240 w 480"/>
                <a:gd name="T33" fmla="*/ 657 h 681"/>
                <a:gd name="T34" fmla="*/ 252 w 480"/>
                <a:gd name="T35" fmla="*/ 650 h 681"/>
                <a:gd name="T36" fmla="*/ 441 w 480"/>
                <a:gd name="T37" fmla="*/ 265 h 681"/>
                <a:gd name="T38" fmla="*/ 441 w 480"/>
                <a:gd name="T39" fmla="*/ 264 h 681"/>
                <a:gd name="T40" fmla="*/ 401 w 480"/>
                <a:gd name="T41" fmla="*/ 96 h 681"/>
                <a:gd name="T42" fmla="*/ 241 w 480"/>
                <a:gd name="T43" fmla="*/ 29 h 681"/>
                <a:gd name="T44" fmla="*/ 240 w 480"/>
                <a:gd name="T45" fmla="*/ 29 h 681"/>
                <a:gd name="T46" fmla="*/ 239 w 480"/>
                <a:gd name="T47" fmla="*/ 29 h 681"/>
                <a:gd name="T48" fmla="*/ 226 w 480"/>
                <a:gd name="T49" fmla="*/ 28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0" h="681">
                  <a:moveTo>
                    <a:pt x="240" y="681"/>
                  </a:moveTo>
                  <a:cubicBezTo>
                    <a:pt x="227" y="681"/>
                    <a:pt x="214" y="674"/>
                    <a:pt x="208" y="663"/>
                  </a:cubicBezTo>
                  <a:cubicBezTo>
                    <a:pt x="156" y="580"/>
                    <a:pt x="35" y="376"/>
                    <a:pt x="16" y="270"/>
                  </a:cubicBezTo>
                  <a:cubicBezTo>
                    <a:pt x="0" y="203"/>
                    <a:pt x="17" y="132"/>
                    <a:pt x="61" y="80"/>
                  </a:cubicBezTo>
                  <a:cubicBezTo>
                    <a:pt x="105" y="28"/>
                    <a:pt x="172" y="0"/>
                    <a:pt x="240" y="5"/>
                  </a:cubicBezTo>
                  <a:cubicBezTo>
                    <a:pt x="308" y="0"/>
                    <a:pt x="375" y="28"/>
                    <a:pt x="419" y="80"/>
                  </a:cubicBezTo>
                  <a:cubicBezTo>
                    <a:pt x="464" y="132"/>
                    <a:pt x="480" y="203"/>
                    <a:pt x="465" y="270"/>
                  </a:cubicBezTo>
                  <a:cubicBezTo>
                    <a:pt x="449" y="362"/>
                    <a:pt x="325" y="575"/>
                    <a:pt x="272" y="663"/>
                  </a:cubicBezTo>
                  <a:cubicBezTo>
                    <a:pt x="266" y="674"/>
                    <a:pt x="253" y="681"/>
                    <a:pt x="240" y="681"/>
                  </a:cubicBezTo>
                  <a:cubicBezTo>
                    <a:pt x="240" y="681"/>
                    <a:pt x="240" y="681"/>
                    <a:pt x="240" y="681"/>
                  </a:cubicBezTo>
                  <a:close/>
                  <a:moveTo>
                    <a:pt x="226" y="28"/>
                  </a:moveTo>
                  <a:cubicBezTo>
                    <a:pt x="170" y="28"/>
                    <a:pt x="116" y="53"/>
                    <a:pt x="80" y="96"/>
                  </a:cubicBezTo>
                  <a:cubicBezTo>
                    <a:pt x="40" y="142"/>
                    <a:pt x="25" y="205"/>
                    <a:pt x="39" y="264"/>
                  </a:cubicBezTo>
                  <a:cubicBezTo>
                    <a:pt x="39" y="265"/>
                    <a:pt x="39" y="265"/>
                    <a:pt x="39" y="265"/>
                  </a:cubicBezTo>
                  <a:cubicBezTo>
                    <a:pt x="58" y="368"/>
                    <a:pt x="178" y="569"/>
                    <a:pt x="228" y="650"/>
                  </a:cubicBezTo>
                  <a:cubicBezTo>
                    <a:pt x="231" y="655"/>
                    <a:pt x="235" y="657"/>
                    <a:pt x="240" y="657"/>
                  </a:cubicBezTo>
                  <a:cubicBezTo>
                    <a:pt x="240" y="657"/>
                    <a:pt x="240" y="657"/>
                    <a:pt x="240" y="657"/>
                  </a:cubicBezTo>
                  <a:cubicBezTo>
                    <a:pt x="245" y="657"/>
                    <a:pt x="249" y="655"/>
                    <a:pt x="252" y="650"/>
                  </a:cubicBezTo>
                  <a:cubicBezTo>
                    <a:pt x="304" y="564"/>
                    <a:pt x="426" y="353"/>
                    <a:pt x="441" y="265"/>
                  </a:cubicBezTo>
                  <a:cubicBezTo>
                    <a:pt x="441" y="264"/>
                    <a:pt x="441" y="264"/>
                    <a:pt x="441" y="264"/>
                  </a:cubicBezTo>
                  <a:cubicBezTo>
                    <a:pt x="455" y="205"/>
                    <a:pt x="440" y="142"/>
                    <a:pt x="401" y="96"/>
                  </a:cubicBezTo>
                  <a:cubicBezTo>
                    <a:pt x="362" y="49"/>
                    <a:pt x="302" y="24"/>
                    <a:pt x="241" y="29"/>
                  </a:cubicBezTo>
                  <a:cubicBezTo>
                    <a:pt x="240" y="29"/>
                    <a:pt x="240" y="29"/>
                    <a:pt x="240" y="29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35" y="28"/>
                    <a:pt x="230" y="28"/>
                    <a:pt x="226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Freeform 58">
              <a:extLst>
                <a:ext uri="{FF2B5EF4-FFF2-40B4-BE49-F238E27FC236}">
                  <a16:creationId xmlns:a16="http://schemas.microsoft.com/office/drawing/2014/main" id="{BFE715E6-4289-0121-69D0-CF51F06D46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1650" y="3314700"/>
              <a:ext cx="171450" cy="165100"/>
            </a:xfrm>
            <a:custGeom>
              <a:avLst/>
              <a:gdLst>
                <a:gd name="T0" fmla="*/ 118 w 228"/>
                <a:gd name="T1" fmla="*/ 219 h 219"/>
                <a:gd name="T2" fmla="*/ 41 w 228"/>
                <a:gd name="T3" fmla="*/ 187 h 219"/>
                <a:gd name="T4" fmla="*/ 17 w 228"/>
                <a:gd name="T5" fmla="*/ 68 h 219"/>
                <a:gd name="T6" fmla="*/ 118 w 228"/>
                <a:gd name="T7" fmla="*/ 0 h 219"/>
                <a:gd name="T8" fmla="*/ 228 w 228"/>
                <a:gd name="T9" fmla="*/ 110 h 219"/>
                <a:gd name="T10" fmla="*/ 228 w 228"/>
                <a:gd name="T11" fmla="*/ 110 h 219"/>
                <a:gd name="T12" fmla="*/ 160 w 228"/>
                <a:gd name="T13" fmla="*/ 211 h 219"/>
                <a:gd name="T14" fmla="*/ 118 w 228"/>
                <a:gd name="T15" fmla="*/ 219 h 219"/>
                <a:gd name="T16" fmla="*/ 118 w 228"/>
                <a:gd name="T17" fmla="*/ 24 h 219"/>
                <a:gd name="T18" fmla="*/ 39 w 228"/>
                <a:gd name="T19" fmla="*/ 77 h 219"/>
                <a:gd name="T20" fmla="*/ 58 w 228"/>
                <a:gd name="T21" fmla="*/ 170 h 219"/>
                <a:gd name="T22" fmla="*/ 151 w 228"/>
                <a:gd name="T23" fmla="*/ 189 h 219"/>
                <a:gd name="T24" fmla="*/ 204 w 228"/>
                <a:gd name="T25" fmla="*/ 110 h 219"/>
                <a:gd name="T26" fmla="*/ 204 w 228"/>
                <a:gd name="T27" fmla="*/ 110 h 219"/>
                <a:gd name="T28" fmla="*/ 118 w 228"/>
                <a:gd name="T29" fmla="*/ 24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19">
                  <a:moveTo>
                    <a:pt x="118" y="219"/>
                  </a:moveTo>
                  <a:cubicBezTo>
                    <a:pt x="90" y="219"/>
                    <a:pt x="62" y="208"/>
                    <a:pt x="41" y="187"/>
                  </a:cubicBezTo>
                  <a:cubicBezTo>
                    <a:pt x="9" y="156"/>
                    <a:pt x="0" y="109"/>
                    <a:pt x="17" y="68"/>
                  </a:cubicBezTo>
                  <a:cubicBezTo>
                    <a:pt x="34" y="27"/>
                    <a:pt x="74" y="0"/>
                    <a:pt x="118" y="0"/>
                  </a:cubicBezTo>
                  <a:cubicBezTo>
                    <a:pt x="179" y="0"/>
                    <a:pt x="228" y="49"/>
                    <a:pt x="228" y="110"/>
                  </a:cubicBezTo>
                  <a:cubicBezTo>
                    <a:pt x="228" y="110"/>
                    <a:pt x="228" y="110"/>
                    <a:pt x="228" y="110"/>
                  </a:cubicBezTo>
                  <a:cubicBezTo>
                    <a:pt x="228" y="154"/>
                    <a:pt x="201" y="194"/>
                    <a:pt x="160" y="211"/>
                  </a:cubicBezTo>
                  <a:cubicBezTo>
                    <a:pt x="147" y="217"/>
                    <a:pt x="132" y="219"/>
                    <a:pt x="118" y="219"/>
                  </a:cubicBezTo>
                  <a:close/>
                  <a:moveTo>
                    <a:pt x="118" y="24"/>
                  </a:moveTo>
                  <a:cubicBezTo>
                    <a:pt x="84" y="24"/>
                    <a:pt x="53" y="45"/>
                    <a:pt x="39" y="77"/>
                  </a:cubicBezTo>
                  <a:cubicBezTo>
                    <a:pt x="26" y="109"/>
                    <a:pt x="33" y="146"/>
                    <a:pt x="58" y="170"/>
                  </a:cubicBezTo>
                  <a:cubicBezTo>
                    <a:pt x="82" y="195"/>
                    <a:pt x="119" y="202"/>
                    <a:pt x="151" y="189"/>
                  </a:cubicBezTo>
                  <a:cubicBezTo>
                    <a:pt x="183" y="175"/>
                    <a:pt x="204" y="144"/>
                    <a:pt x="204" y="110"/>
                  </a:cubicBezTo>
                  <a:cubicBezTo>
                    <a:pt x="204" y="110"/>
                    <a:pt x="204" y="110"/>
                    <a:pt x="204" y="110"/>
                  </a:cubicBezTo>
                  <a:cubicBezTo>
                    <a:pt x="204" y="63"/>
                    <a:pt x="165" y="24"/>
                    <a:pt x="118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Freeform 59">
              <a:extLst>
                <a:ext uri="{FF2B5EF4-FFF2-40B4-BE49-F238E27FC236}">
                  <a16:creationId xmlns:a16="http://schemas.microsoft.com/office/drawing/2014/main" id="{533B6F04-BA1E-67CB-6C0B-9881C62573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913" y="3411538"/>
              <a:ext cx="471488" cy="312738"/>
            </a:xfrm>
            <a:custGeom>
              <a:avLst/>
              <a:gdLst>
                <a:gd name="T0" fmla="*/ 14 w 626"/>
                <a:gd name="T1" fmla="*/ 415 h 415"/>
                <a:gd name="T2" fmla="*/ 4 w 626"/>
                <a:gd name="T3" fmla="*/ 410 h 415"/>
                <a:gd name="T4" fmla="*/ 7 w 626"/>
                <a:gd name="T5" fmla="*/ 393 h 415"/>
                <a:gd name="T6" fmla="*/ 605 w 626"/>
                <a:gd name="T7" fmla="*/ 3 h 415"/>
                <a:gd name="T8" fmla="*/ 622 w 626"/>
                <a:gd name="T9" fmla="*/ 7 h 415"/>
                <a:gd name="T10" fmla="*/ 618 w 626"/>
                <a:gd name="T11" fmla="*/ 24 h 415"/>
                <a:gd name="T12" fmla="*/ 21 w 626"/>
                <a:gd name="T13" fmla="*/ 414 h 415"/>
                <a:gd name="T14" fmla="*/ 14 w 626"/>
                <a:gd name="T15" fmla="*/ 41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6" h="415">
                  <a:moveTo>
                    <a:pt x="14" y="415"/>
                  </a:moveTo>
                  <a:cubicBezTo>
                    <a:pt x="10" y="415"/>
                    <a:pt x="6" y="414"/>
                    <a:pt x="4" y="410"/>
                  </a:cubicBezTo>
                  <a:cubicBezTo>
                    <a:pt x="0" y="405"/>
                    <a:pt x="2" y="397"/>
                    <a:pt x="7" y="393"/>
                  </a:cubicBezTo>
                  <a:cubicBezTo>
                    <a:pt x="605" y="3"/>
                    <a:pt x="605" y="3"/>
                    <a:pt x="605" y="3"/>
                  </a:cubicBezTo>
                  <a:cubicBezTo>
                    <a:pt x="611" y="0"/>
                    <a:pt x="618" y="1"/>
                    <a:pt x="622" y="7"/>
                  </a:cubicBezTo>
                  <a:cubicBezTo>
                    <a:pt x="626" y="13"/>
                    <a:pt x="624" y="20"/>
                    <a:pt x="618" y="24"/>
                  </a:cubicBezTo>
                  <a:cubicBezTo>
                    <a:pt x="21" y="414"/>
                    <a:pt x="21" y="414"/>
                    <a:pt x="21" y="414"/>
                  </a:cubicBezTo>
                  <a:cubicBezTo>
                    <a:pt x="19" y="415"/>
                    <a:pt x="16" y="415"/>
                    <a:pt x="14" y="4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8" name="Title 27">
            <a:extLst>
              <a:ext uri="{FF2B5EF4-FFF2-40B4-BE49-F238E27FC236}">
                <a16:creationId xmlns:a16="http://schemas.microsoft.com/office/drawing/2014/main" id="{AA0AE3BE-0CD7-C727-957C-041DB763F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Diagram -SaaS</a:t>
            </a:r>
          </a:p>
        </p:txBody>
      </p:sp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7AFB47D4-2858-A561-CC67-88E5B1E396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  <p:pic>
        <p:nvPicPr>
          <p:cNvPr id="8195" name="Picture 3" descr="Privilege Cloud architecture">
            <a:extLst>
              <a:ext uri="{FF2B5EF4-FFF2-40B4-BE49-F238E27FC236}">
                <a16:creationId xmlns:a16="http://schemas.microsoft.com/office/drawing/2014/main" id="{303295F8-402A-94F9-72DD-8367519D8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337" y="638223"/>
            <a:ext cx="7054850" cy="3899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9071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DCF09-25BD-A3E8-9865-58062846F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AB93D51D-0AC0-4F02-AAAE-80CD423A8F20}"/>
              </a:ext>
            </a:extLst>
          </p:cNvPr>
          <p:cNvGrpSpPr/>
          <p:nvPr/>
        </p:nvGrpSpPr>
        <p:grpSpPr>
          <a:xfrm>
            <a:off x="1646076" y="4029452"/>
            <a:ext cx="570912" cy="419326"/>
            <a:chOff x="6759575" y="3000375"/>
            <a:chExt cx="906463" cy="746125"/>
          </a:xfrm>
          <a:solidFill>
            <a:srgbClr val="F4F3F9"/>
          </a:solidFill>
        </p:grpSpPr>
        <p:sp>
          <p:nvSpPr>
            <p:cNvPr id="50" name="Freeform 55">
              <a:extLst>
                <a:ext uri="{FF2B5EF4-FFF2-40B4-BE49-F238E27FC236}">
                  <a16:creationId xmlns:a16="http://schemas.microsoft.com/office/drawing/2014/main" id="{E163013C-327C-44FD-CEE0-5273E53F90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1400" y="3000375"/>
              <a:ext cx="274638" cy="358775"/>
            </a:xfrm>
            <a:custGeom>
              <a:avLst/>
              <a:gdLst>
                <a:gd name="T0" fmla="*/ 182 w 364"/>
                <a:gd name="T1" fmla="*/ 476 h 476"/>
                <a:gd name="T2" fmla="*/ 152 w 364"/>
                <a:gd name="T3" fmla="*/ 462 h 476"/>
                <a:gd name="T4" fmla="*/ 0 w 364"/>
                <a:gd name="T5" fmla="*/ 182 h 476"/>
                <a:gd name="T6" fmla="*/ 53 w 364"/>
                <a:gd name="T7" fmla="*/ 53 h 476"/>
                <a:gd name="T8" fmla="*/ 182 w 364"/>
                <a:gd name="T9" fmla="*/ 0 h 476"/>
                <a:gd name="T10" fmla="*/ 182 w 364"/>
                <a:gd name="T11" fmla="*/ 0 h 476"/>
                <a:gd name="T12" fmla="*/ 364 w 364"/>
                <a:gd name="T13" fmla="*/ 182 h 476"/>
                <a:gd name="T14" fmla="*/ 212 w 364"/>
                <a:gd name="T15" fmla="*/ 462 h 476"/>
                <a:gd name="T16" fmla="*/ 182 w 364"/>
                <a:gd name="T17" fmla="*/ 476 h 476"/>
                <a:gd name="T18" fmla="*/ 182 w 364"/>
                <a:gd name="T19" fmla="*/ 24 h 476"/>
                <a:gd name="T20" fmla="*/ 70 w 364"/>
                <a:gd name="T21" fmla="*/ 70 h 476"/>
                <a:gd name="T22" fmla="*/ 24 w 364"/>
                <a:gd name="T23" fmla="*/ 182 h 476"/>
                <a:gd name="T24" fmla="*/ 171 w 364"/>
                <a:gd name="T25" fmla="*/ 447 h 476"/>
                <a:gd name="T26" fmla="*/ 182 w 364"/>
                <a:gd name="T27" fmla="*/ 452 h 476"/>
                <a:gd name="T28" fmla="*/ 193 w 364"/>
                <a:gd name="T29" fmla="*/ 447 h 476"/>
                <a:gd name="T30" fmla="*/ 340 w 364"/>
                <a:gd name="T31" fmla="*/ 182 h 476"/>
                <a:gd name="T32" fmla="*/ 182 w 364"/>
                <a:gd name="T33" fmla="*/ 24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4" h="476">
                  <a:moveTo>
                    <a:pt x="182" y="476"/>
                  </a:moveTo>
                  <a:cubicBezTo>
                    <a:pt x="170" y="476"/>
                    <a:pt x="159" y="471"/>
                    <a:pt x="152" y="462"/>
                  </a:cubicBezTo>
                  <a:cubicBezTo>
                    <a:pt x="95" y="389"/>
                    <a:pt x="0" y="257"/>
                    <a:pt x="0" y="182"/>
                  </a:cubicBezTo>
                  <a:cubicBezTo>
                    <a:pt x="0" y="133"/>
                    <a:pt x="19" y="87"/>
                    <a:pt x="53" y="53"/>
                  </a:cubicBezTo>
                  <a:cubicBezTo>
                    <a:pt x="87" y="19"/>
                    <a:pt x="133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282" y="0"/>
                    <a:pt x="364" y="81"/>
                    <a:pt x="364" y="182"/>
                  </a:cubicBezTo>
                  <a:cubicBezTo>
                    <a:pt x="364" y="257"/>
                    <a:pt x="269" y="389"/>
                    <a:pt x="212" y="462"/>
                  </a:cubicBezTo>
                  <a:cubicBezTo>
                    <a:pt x="205" y="471"/>
                    <a:pt x="194" y="476"/>
                    <a:pt x="182" y="476"/>
                  </a:cubicBezTo>
                  <a:close/>
                  <a:moveTo>
                    <a:pt x="182" y="24"/>
                  </a:moveTo>
                  <a:cubicBezTo>
                    <a:pt x="140" y="24"/>
                    <a:pt x="100" y="40"/>
                    <a:pt x="70" y="70"/>
                  </a:cubicBezTo>
                  <a:cubicBezTo>
                    <a:pt x="40" y="100"/>
                    <a:pt x="24" y="140"/>
                    <a:pt x="24" y="182"/>
                  </a:cubicBezTo>
                  <a:cubicBezTo>
                    <a:pt x="24" y="254"/>
                    <a:pt x="136" y="403"/>
                    <a:pt x="171" y="447"/>
                  </a:cubicBezTo>
                  <a:cubicBezTo>
                    <a:pt x="174" y="450"/>
                    <a:pt x="178" y="452"/>
                    <a:pt x="182" y="452"/>
                  </a:cubicBezTo>
                  <a:cubicBezTo>
                    <a:pt x="186" y="452"/>
                    <a:pt x="190" y="450"/>
                    <a:pt x="193" y="447"/>
                  </a:cubicBezTo>
                  <a:cubicBezTo>
                    <a:pt x="285" y="329"/>
                    <a:pt x="340" y="230"/>
                    <a:pt x="340" y="182"/>
                  </a:cubicBezTo>
                  <a:cubicBezTo>
                    <a:pt x="340" y="95"/>
                    <a:pt x="269" y="24"/>
                    <a:pt x="18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Freeform 56">
              <a:extLst>
                <a:ext uri="{FF2B5EF4-FFF2-40B4-BE49-F238E27FC236}">
                  <a16:creationId xmlns:a16="http://schemas.microsoft.com/office/drawing/2014/main" id="{D12E6FD2-EB91-4239-79A0-53B156101D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0775" y="3079750"/>
              <a:ext cx="114300" cy="115888"/>
            </a:xfrm>
            <a:custGeom>
              <a:avLst/>
              <a:gdLst>
                <a:gd name="T0" fmla="*/ 76 w 152"/>
                <a:gd name="T1" fmla="*/ 152 h 152"/>
                <a:gd name="T2" fmla="*/ 0 w 152"/>
                <a:gd name="T3" fmla="*/ 76 h 152"/>
                <a:gd name="T4" fmla="*/ 76 w 152"/>
                <a:gd name="T5" fmla="*/ 0 h 152"/>
                <a:gd name="T6" fmla="*/ 76 w 152"/>
                <a:gd name="T7" fmla="*/ 0 h 152"/>
                <a:gd name="T8" fmla="*/ 130 w 152"/>
                <a:gd name="T9" fmla="*/ 22 h 152"/>
                <a:gd name="T10" fmla="*/ 152 w 152"/>
                <a:gd name="T11" fmla="*/ 76 h 152"/>
                <a:gd name="T12" fmla="*/ 152 w 152"/>
                <a:gd name="T13" fmla="*/ 76 h 152"/>
                <a:gd name="T14" fmla="*/ 76 w 152"/>
                <a:gd name="T15" fmla="*/ 152 h 152"/>
                <a:gd name="T16" fmla="*/ 76 w 152"/>
                <a:gd name="T17" fmla="*/ 24 h 152"/>
                <a:gd name="T18" fmla="*/ 76 w 152"/>
                <a:gd name="T19" fmla="*/ 24 h 152"/>
                <a:gd name="T20" fmla="*/ 24 w 152"/>
                <a:gd name="T21" fmla="*/ 76 h 152"/>
                <a:gd name="T22" fmla="*/ 76 w 152"/>
                <a:gd name="T23" fmla="*/ 128 h 152"/>
                <a:gd name="T24" fmla="*/ 128 w 152"/>
                <a:gd name="T25" fmla="*/ 76 h 152"/>
                <a:gd name="T26" fmla="*/ 128 w 152"/>
                <a:gd name="T27" fmla="*/ 76 h 152"/>
                <a:gd name="T28" fmla="*/ 113 w 152"/>
                <a:gd name="T29" fmla="*/ 39 h 152"/>
                <a:gd name="T30" fmla="*/ 76 w 152"/>
                <a:gd name="T31" fmla="*/ 2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2" h="152">
                  <a:moveTo>
                    <a:pt x="76" y="152"/>
                  </a:moveTo>
                  <a:cubicBezTo>
                    <a:pt x="34" y="152"/>
                    <a:pt x="0" y="118"/>
                    <a:pt x="0" y="76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6" y="0"/>
                    <a:pt x="115" y="8"/>
                    <a:pt x="130" y="22"/>
                  </a:cubicBezTo>
                  <a:cubicBezTo>
                    <a:pt x="144" y="37"/>
                    <a:pt x="152" y="56"/>
                    <a:pt x="152" y="76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118"/>
                    <a:pt x="118" y="152"/>
                    <a:pt x="76" y="152"/>
                  </a:cubicBezTo>
                  <a:close/>
                  <a:moveTo>
                    <a:pt x="76" y="24"/>
                  </a:moveTo>
                  <a:cubicBezTo>
                    <a:pt x="76" y="24"/>
                    <a:pt x="76" y="24"/>
                    <a:pt x="76" y="24"/>
                  </a:cubicBezTo>
                  <a:cubicBezTo>
                    <a:pt x="47" y="24"/>
                    <a:pt x="24" y="47"/>
                    <a:pt x="24" y="76"/>
                  </a:cubicBezTo>
                  <a:cubicBezTo>
                    <a:pt x="24" y="104"/>
                    <a:pt x="47" y="128"/>
                    <a:pt x="76" y="128"/>
                  </a:cubicBezTo>
                  <a:cubicBezTo>
                    <a:pt x="104" y="128"/>
                    <a:pt x="128" y="104"/>
                    <a:pt x="128" y="76"/>
                  </a:cubicBezTo>
                  <a:cubicBezTo>
                    <a:pt x="128" y="76"/>
                    <a:pt x="128" y="76"/>
                    <a:pt x="128" y="76"/>
                  </a:cubicBezTo>
                  <a:cubicBezTo>
                    <a:pt x="128" y="62"/>
                    <a:pt x="122" y="49"/>
                    <a:pt x="113" y="39"/>
                  </a:cubicBezTo>
                  <a:cubicBezTo>
                    <a:pt x="103" y="29"/>
                    <a:pt x="90" y="24"/>
                    <a:pt x="76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Freeform 57">
              <a:extLst>
                <a:ext uri="{FF2B5EF4-FFF2-40B4-BE49-F238E27FC236}">
                  <a16:creationId xmlns:a16="http://schemas.microsoft.com/office/drawing/2014/main" id="{C150B9B7-F5DF-B98B-DFEE-226999FB39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9575" y="3232150"/>
              <a:ext cx="361950" cy="514350"/>
            </a:xfrm>
            <a:custGeom>
              <a:avLst/>
              <a:gdLst>
                <a:gd name="T0" fmla="*/ 240 w 480"/>
                <a:gd name="T1" fmla="*/ 681 h 681"/>
                <a:gd name="T2" fmla="*/ 208 w 480"/>
                <a:gd name="T3" fmla="*/ 663 h 681"/>
                <a:gd name="T4" fmla="*/ 16 w 480"/>
                <a:gd name="T5" fmla="*/ 270 h 681"/>
                <a:gd name="T6" fmla="*/ 61 w 480"/>
                <a:gd name="T7" fmla="*/ 80 h 681"/>
                <a:gd name="T8" fmla="*/ 240 w 480"/>
                <a:gd name="T9" fmla="*/ 5 h 681"/>
                <a:gd name="T10" fmla="*/ 419 w 480"/>
                <a:gd name="T11" fmla="*/ 80 h 681"/>
                <a:gd name="T12" fmla="*/ 465 w 480"/>
                <a:gd name="T13" fmla="*/ 270 h 681"/>
                <a:gd name="T14" fmla="*/ 272 w 480"/>
                <a:gd name="T15" fmla="*/ 663 h 681"/>
                <a:gd name="T16" fmla="*/ 240 w 480"/>
                <a:gd name="T17" fmla="*/ 681 h 681"/>
                <a:gd name="T18" fmla="*/ 240 w 480"/>
                <a:gd name="T19" fmla="*/ 681 h 681"/>
                <a:gd name="T20" fmla="*/ 226 w 480"/>
                <a:gd name="T21" fmla="*/ 28 h 681"/>
                <a:gd name="T22" fmla="*/ 80 w 480"/>
                <a:gd name="T23" fmla="*/ 96 h 681"/>
                <a:gd name="T24" fmla="*/ 39 w 480"/>
                <a:gd name="T25" fmla="*/ 264 h 681"/>
                <a:gd name="T26" fmla="*/ 39 w 480"/>
                <a:gd name="T27" fmla="*/ 265 h 681"/>
                <a:gd name="T28" fmla="*/ 228 w 480"/>
                <a:gd name="T29" fmla="*/ 650 h 681"/>
                <a:gd name="T30" fmla="*/ 240 w 480"/>
                <a:gd name="T31" fmla="*/ 657 h 681"/>
                <a:gd name="T32" fmla="*/ 240 w 480"/>
                <a:gd name="T33" fmla="*/ 657 h 681"/>
                <a:gd name="T34" fmla="*/ 252 w 480"/>
                <a:gd name="T35" fmla="*/ 650 h 681"/>
                <a:gd name="T36" fmla="*/ 441 w 480"/>
                <a:gd name="T37" fmla="*/ 265 h 681"/>
                <a:gd name="T38" fmla="*/ 441 w 480"/>
                <a:gd name="T39" fmla="*/ 264 h 681"/>
                <a:gd name="T40" fmla="*/ 401 w 480"/>
                <a:gd name="T41" fmla="*/ 96 h 681"/>
                <a:gd name="T42" fmla="*/ 241 w 480"/>
                <a:gd name="T43" fmla="*/ 29 h 681"/>
                <a:gd name="T44" fmla="*/ 240 w 480"/>
                <a:gd name="T45" fmla="*/ 29 h 681"/>
                <a:gd name="T46" fmla="*/ 239 w 480"/>
                <a:gd name="T47" fmla="*/ 29 h 681"/>
                <a:gd name="T48" fmla="*/ 226 w 480"/>
                <a:gd name="T49" fmla="*/ 28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0" h="681">
                  <a:moveTo>
                    <a:pt x="240" y="681"/>
                  </a:moveTo>
                  <a:cubicBezTo>
                    <a:pt x="227" y="681"/>
                    <a:pt x="214" y="674"/>
                    <a:pt x="208" y="663"/>
                  </a:cubicBezTo>
                  <a:cubicBezTo>
                    <a:pt x="156" y="580"/>
                    <a:pt x="35" y="376"/>
                    <a:pt x="16" y="270"/>
                  </a:cubicBezTo>
                  <a:cubicBezTo>
                    <a:pt x="0" y="203"/>
                    <a:pt x="17" y="132"/>
                    <a:pt x="61" y="80"/>
                  </a:cubicBezTo>
                  <a:cubicBezTo>
                    <a:pt x="105" y="28"/>
                    <a:pt x="172" y="0"/>
                    <a:pt x="240" y="5"/>
                  </a:cubicBezTo>
                  <a:cubicBezTo>
                    <a:pt x="308" y="0"/>
                    <a:pt x="375" y="28"/>
                    <a:pt x="419" y="80"/>
                  </a:cubicBezTo>
                  <a:cubicBezTo>
                    <a:pt x="464" y="132"/>
                    <a:pt x="480" y="203"/>
                    <a:pt x="465" y="270"/>
                  </a:cubicBezTo>
                  <a:cubicBezTo>
                    <a:pt x="449" y="362"/>
                    <a:pt x="325" y="575"/>
                    <a:pt x="272" y="663"/>
                  </a:cubicBezTo>
                  <a:cubicBezTo>
                    <a:pt x="266" y="674"/>
                    <a:pt x="253" y="681"/>
                    <a:pt x="240" y="681"/>
                  </a:cubicBezTo>
                  <a:cubicBezTo>
                    <a:pt x="240" y="681"/>
                    <a:pt x="240" y="681"/>
                    <a:pt x="240" y="681"/>
                  </a:cubicBezTo>
                  <a:close/>
                  <a:moveTo>
                    <a:pt x="226" y="28"/>
                  </a:moveTo>
                  <a:cubicBezTo>
                    <a:pt x="170" y="28"/>
                    <a:pt x="116" y="53"/>
                    <a:pt x="80" y="96"/>
                  </a:cubicBezTo>
                  <a:cubicBezTo>
                    <a:pt x="40" y="142"/>
                    <a:pt x="25" y="205"/>
                    <a:pt x="39" y="264"/>
                  </a:cubicBezTo>
                  <a:cubicBezTo>
                    <a:pt x="39" y="265"/>
                    <a:pt x="39" y="265"/>
                    <a:pt x="39" y="265"/>
                  </a:cubicBezTo>
                  <a:cubicBezTo>
                    <a:pt x="58" y="368"/>
                    <a:pt x="178" y="569"/>
                    <a:pt x="228" y="650"/>
                  </a:cubicBezTo>
                  <a:cubicBezTo>
                    <a:pt x="231" y="655"/>
                    <a:pt x="235" y="657"/>
                    <a:pt x="240" y="657"/>
                  </a:cubicBezTo>
                  <a:cubicBezTo>
                    <a:pt x="240" y="657"/>
                    <a:pt x="240" y="657"/>
                    <a:pt x="240" y="657"/>
                  </a:cubicBezTo>
                  <a:cubicBezTo>
                    <a:pt x="245" y="657"/>
                    <a:pt x="249" y="655"/>
                    <a:pt x="252" y="650"/>
                  </a:cubicBezTo>
                  <a:cubicBezTo>
                    <a:pt x="304" y="564"/>
                    <a:pt x="426" y="353"/>
                    <a:pt x="441" y="265"/>
                  </a:cubicBezTo>
                  <a:cubicBezTo>
                    <a:pt x="441" y="264"/>
                    <a:pt x="441" y="264"/>
                    <a:pt x="441" y="264"/>
                  </a:cubicBezTo>
                  <a:cubicBezTo>
                    <a:pt x="455" y="205"/>
                    <a:pt x="440" y="142"/>
                    <a:pt x="401" y="96"/>
                  </a:cubicBezTo>
                  <a:cubicBezTo>
                    <a:pt x="362" y="49"/>
                    <a:pt x="302" y="24"/>
                    <a:pt x="241" y="29"/>
                  </a:cubicBezTo>
                  <a:cubicBezTo>
                    <a:pt x="240" y="29"/>
                    <a:pt x="240" y="29"/>
                    <a:pt x="240" y="29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35" y="28"/>
                    <a:pt x="230" y="28"/>
                    <a:pt x="226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Freeform 58">
              <a:extLst>
                <a:ext uri="{FF2B5EF4-FFF2-40B4-BE49-F238E27FC236}">
                  <a16:creationId xmlns:a16="http://schemas.microsoft.com/office/drawing/2014/main" id="{DF485081-259D-6D95-4DEE-6220660238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1650" y="3314700"/>
              <a:ext cx="171450" cy="165100"/>
            </a:xfrm>
            <a:custGeom>
              <a:avLst/>
              <a:gdLst>
                <a:gd name="T0" fmla="*/ 118 w 228"/>
                <a:gd name="T1" fmla="*/ 219 h 219"/>
                <a:gd name="T2" fmla="*/ 41 w 228"/>
                <a:gd name="T3" fmla="*/ 187 h 219"/>
                <a:gd name="T4" fmla="*/ 17 w 228"/>
                <a:gd name="T5" fmla="*/ 68 h 219"/>
                <a:gd name="T6" fmla="*/ 118 w 228"/>
                <a:gd name="T7" fmla="*/ 0 h 219"/>
                <a:gd name="T8" fmla="*/ 228 w 228"/>
                <a:gd name="T9" fmla="*/ 110 h 219"/>
                <a:gd name="T10" fmla="*/ 228 w 228"/>
                <a:gd name="T11" fmla="*/ 110 h 219"/>
                <a:gd name="T12" fmla="*/ 160 w 228"/>
                <a:gd name="T13" fmla="*/ 211 h 219"/>
                <a:gd name="T14" fmla="*/ 118 w 228"/>
                <a:gd name="T15" fmla="*/ 219 h 219"/>
                <a:gd name="T16" fmla="*/ 118 w 228"/>
                <a:gd name="T17" fmla="*/ 24 h 219"/>
                <a:gd name="T18" fmla="*/ 39 w 228"/>
                <a:gd name="T19" fmla="*/ 77 h 219"/>
                <a:gd name="T20" fmla="*/ 58 w 228"/>
                <a:gd name="T21" fmla="*/ 170 h 219"/>
                <a:gd name="T22" fmla="*/ 151 w 228"/>
                <a:gd name="T23" fmla="*/ 189 h 219"/>
                <a:gd name="T24" fmla="*/ 204 w 228"/>
                <a:gd name="T25" fmla="*/ 110 h 219"/>
                <a:gd name="T26" fmla="*/ 204 w 228"/>
                <a:gd name="T27" fmla="*/ 110 h 219"/>
                <a:gd name="T28" fmla="*/ 118 w 228"/>
                <a:gd name="T29" fmla="*/ 24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19">
                  <a:moveTo>
                    <a:pt x="118" y="219"/>
                  </a:moveTo>
                  <a:cubicBezTo>
                    <a:pt x="90" y="219"/>
                    <a:pt x="62" y="208"/>
                    <a:pt x="41" y="187"/>
                  </a:cubicBezTo>
                  <a:cubicBezTo>
                    <a:pt x="9" y="156"/>
                    <a:pt x="0" y="109"/>
                    <a:pt x="17" y="68"/>
                  </a:cubicBezTo>
                  <a:cubicBezTo>
                    <a:pt x="34" y="27"/>
                    <a:pt x="74" y="0"/>
                    <a:pt x="118" y="0"/>
                  </a:cubicBezTo>
                  <a:cubicBezTo>
                    <a:pt x="179" y="0"/>
                    <a:pt x="228" y="49"/>
                    <a:pt x="228" y="110"/>
                  </a:cubicBezTo>
                  <a:cubicBezTo>
                    <a:pt x="228" y="110"/>
                    <a:pt x="228" y="110"/>
                    <a:pt x="228" y="110"/>
                  </a:cubicBezTo>
                  <a:cubicBezTo>
                    <a:pt x="228" y="154"/>
                    <a:pt x="201" y="194"/>
                    <a:pt x="160" y="211"/>
                  </a:cubicBezTo>
                  <a:cubicBezTo>
                    <a:pt x="147" y="217"/>
                    <a:pt x="132" y="219"/>
                    <a:pt x="118" y="219"/>
                  </a:cubicBezTo>
                  <a:close/>
                  <a:moveTo>
                    <a:pt x="118" y="24"/>
                  </a:moveTo>
                  <a:cubicBezTo>
                    <a:pt x="84" y="24"/>
                    <a:pt x="53" y="45"/>
                    <a:pt x="39" y="77"/>
                  </a:cubicBezTo>
                  <a:cubicBezTo>
                    <a:pt x="26" y="109"/>
                    <a:pt x="33" y="146"/>
                    <a:pt x="58" y="170"/>
                  </a:cubicBezTo>
                  <a:cubicBezTo>
                    <a:pt x="82" y="195"/>
                    <a:pt x="119" y="202"/>
                    <a:pt x="151" y="189"/>
                  </a:cubicBezTo>
                  <a:cubicBezTo>
                    <a:pt x="183" y="175"/>
                    <a:pt x="204" y="144"/>
                    <a:pt x="204" y="110"/>
                  </a:cubicBezTo>
                  <a:cubicBezTo>
                    <a:pt x="204" y="110"/>
                    <a:pt x="204" y="110"/>
                    <a:pt x="204" y="110"/>
                  </a:cubicBezTo>
                  <a:cubicBezTo>
                    <a:pt x="204" y="63"/>
                    <a:pt x="165" y="24"/>
                    <a:pt x="118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Freeform 59">
              <a:extLst>
                <a:ext uri="{FF2B5EF4-FFF2-40B4-BE49-F238E27FC236}">
                  <a16:creationId xmlns:a16="http://schemas.microsoft.com/office/drawing/2014/main" id="{52192E55-96C4-33B0-3542-DCA4823388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913" y="3411538"/>
              <a:ext cx="471488" cy="312738"/>
            </a:xfrm>
            <a:custGeom>
              <a:avLst/>
              <a:gdLst>
                <a:gd name="T0" fmla="*/ 14 w 626"/>
                <a:gd name="T1" fmla="*/ 415 h 415"/>
                <a:gd name="T2" fmla="*/ 4 w 626"/>
                <a:gd name="T3" fmla="*/ 410 h 415"/>
                <a:gd name="T4" fmla="*/ 7 w 626"/>
                <a:gd name="T5" fmla="*/ 393 h 415"/>
                <a:gd name="T6" fmla="*/ 605 w 626"/>
                <a:gd name="T7" fmla="*/ 3 h 415"/>
                <a:gd name="T8" fmla="*/ 622 w 626"/>
                <a:gd name="T9" fmla="*/ 7 h 415"/>
                <a:gd name="T10" fmla="*/ 618 w 626"/>
                <a:gd name="T11" fmla="*/ 24 h 415"/>
                <a:gd name="T12" fmla="*/ 21 w 626"/>
                <a:gd name="T13" fmla="*/ 414 h 415"/>
                <a:gd name="T14" fmla="*/ 14 w 626"/>
                <a:gd name="T15" fmla="*/ 41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6" h="415">
                  <a:moveTo>
                    <a:pt x="14" y="415"/>
                  </a:moveTo>
                  <a:cubicBezTo>
                    <a:pt x="10" y="415"/>
                    <a:pt x="6" y="414"/>
                    <a:pt x="4" y="410"/>
                  </a:cubicBezTo>
                  <a:cubicBezTo>
                    <a:pt x="0" y="405"/>
                    <a:pt x="2" y="397"/>
                    <a:pt x="7" y="393"/>
                  </a:cubicBezTo>
                  <a:cubicBezTo>
                    <a:pt x="605" y="3"/>
                    <a:pt x="605" y="3"/>
                    <a:pt x="605" y="3"/>
                  </a:cubicBezTo>
                  <a:cubicBezTo>
                    <a:pt x="611" y="0"/>
                    <a:pt x="618" y="1"/>
                    <a:pt x="622" y="7"/>
                  </a:cubicBezTo>
                  <a:cubicBezTo>
                    <a:pt x="626" y="13"/>
                    <a:pt x="624" y="20"/>
                    <a:pt x="618" y="24"/>
                  </a:cubicBezTo>
                  <a:cubicBezTo>
                    <a:pt x="21" y="414"/>
                    <a:pt x="21" y="414"/>
                    <a:pt x="21" y="414"/>
                  </a:cubicBezTo>
                  <a:cubicBezTo>
                    <a:pt x="19" y="415"/>
                    <a:pt x="16" y="415"/>
                    <a:pt x="14" y="4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8" name="Title 27">
            <a:extLst>
              <a:ext uri="{FF2B5EF4-FFF2-40B4-BE49-F238E27FC236}">
                <a16:creationId xmlns:a16="http://schemas.microsoft.com/office/drawing/2014/main" id="{6BAFFFCB-142E-55D5-F50A-BAE9DCBE2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CyberArk Key Features</a:t>
            </a:r>
          </a:p>
        </p:txBody>
      </p:sp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BE63086B-7381-64AE-6707-7D2B5EC7D3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TCS confidential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7DACAE0-7D05-36A4-5CA5-96801DE342B0}"/>
              </a:ext>
            </a:extLst>
          </p:cNvPr>
          <p:cNvSpPr/>
          <p:nvPr/>
        </p:nvSpPr>
        <p:spPr>
          <a:xfrm>
            <a:off x="306065" y="673211"/>
            <a:ext cx="3475897" cy="3706409"/>
          </a:xfrm>
          <a:prstGeom prst="roundRect">
            <a:avLst/>
          </a:prstGeom>
          <a:noFill/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9D8658-DB1D-E48D-1AD3-FFAC433E7F65}"/>
              </a:ext>
            </a:extLst>
          </p:cNvPr>
          <p:cNvSpPr txBox="1"/>
          <p:nvPr/>
        </p:nvSpPr>
        <p:spPr>
          <a:xfrm>
            <a:off x="4674315" y="1105720"/>
            <a:ext cx="4572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Privileged Session Manager (PSM)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Session isolation and recording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Real-time session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Command filtering and blocking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Protocol support: RDP, SSH, HTTP/S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r>
              <a:rPr lang="en-US" sz="1600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Privileged Threat Analytics (PTA)</a:t>
            </a: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Machine learning-based threat </a:t>
            </a:r>
          </a:p>
          <a:p>
            <a:r>
              <a:rPr lang="en-US" sz="1600" dirty="0">
                <a:solidFill>
                  <a:srgbClr val="000000"/>
                </a:solidFill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	</a:t>
            </a: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User behavior 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Risk scoring and alerting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Integration with SIEM platforms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40A1434-E543-7B46-5920-7A0D5FA79A5E}"/>
              </a:ext>
            </a:extLst>
          </p:cNvPr>
          <p:cNvSpPr/>
          <p:nvPr/>
        </p:nvSpPr>
        <p:spPr>
          <a:xfrm>
            <a:off x="4674315" y="641294"/>
            <a:ext cx="3475897" cy="3706409"/>
          </a:xfrm>
          <a:prstGeom prst="roundRect">
            <a:avLst/>
          </a:prstGeom>
          <a:noFill/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2C59D7-4A5B-6EB1-D59A-9C313ECD7096}"/>
              </a:ext>
            </a:extLst>
          </p:cNvPr>
          <p:cNvSpPr txBox="1"/>
          <p:nvPr/>
        </p:nvSpPr>
        <p:spPr>
          <a:xfrm>
            <a:off x="387838" y="1136791"/>
            <a:ext cx="4572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Enterprise Password Vault (EPV)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High availability and DR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Supports 150+ target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Stores Credentials and Session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       Recordings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r>
              <a:rPr lang="en-US" sz="1600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Central Policy Manager (CPM)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Automatic password rotation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Policy-based password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Multi-platform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Secure password generation</a:t>
            </a:r>
          </a:p>
        </p:txBody>
      </p:sp>
    </p:spTree>
    <p:extLst>
      <p:ext uri="{BB962C8B-B14F-4D97-AF65-F5344CB8AC3E}">
        <p14:creationId xmlns:p14="http://schemas.microsoft.com/office/powerpoint/2010/main" val="535575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46B64-7B4F-23A8-ECAC-651755B6B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793788B2-416C-B03A-270F-D8F2AA788477}"/>
              </a:ext>
            </a:extLst>
          </p:cNvPr>
          <p:cNvGrpSpPr/>
          <p:nvPr/>
        </p:nvGrpSpPr>
        <p:grpSpPr>
          <a:xfrm>
            <a:off x="1646076" y="4029452"/>
            <a:ext cx="570912" cy="419326"/>
            <a:chOff x="6759575" y="3000375"/>
            <a:chExt cx="906463" cy="746125"/>
          </a:xfrm>
          <a:solidFill>
            <a:srgbClr val="F4F3F9"/>
          </a:solidFill>
        </p:grpSpPr>
        <p:sp>
          <p:nvSpPr>
            <p:cNvPr id="50" name="Freeform 55">
              <a:extLst>
                <a:ext uri="{FF2B5EF4-FFF2-40B4-BE49-F238E27FC236}">
                  <a16:creationId xmlns:a16="http://schemas.microsoft.com/office/drawing/2014/main" id="{AB9A6CA2-B9E7-3B34-A208-FEBEBE1DEC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1400" y="3000375"/>
              <a:ext cx="274638" cy="358775"/>
            </a:xfrm>
            <a:custGeom>
              <a:avLst/>
              <a:gdLst>
                <a:gd name="T0" fmla="*/ 182 w 364"/>
                <a:gd name="T1" fmla="*/ 476 h 476"/>
                <a:gd name="T2" fmla="*/ 152 w 364"/>
                <a:gd name="T3" fmla="*/ 462 h 476"/>
                <a:gd name="T4" fmla="*/ 0 w 364"/>
                <a:gd name="T5" fmla="*/ 182 h 476"/>
                <a:gd name="T6" fmla="*/ 53 w 364"/>
                <a:gd name="T7" fmla="*/ 53 h 476"/>
                <a:gd name="T8" fmla="*/ 182 w 364"/>
                <a:gd name="T9" fmla="*/ 0 h 476"/>
                <a:gd name="T10" fmla="*/ 182 w 364"/>
                <a:gd name="T11" fmla="*/ 0 h 476"/>
                <a:gd name="T12" fmla="*/ 364 w 364"/>
                <a:gd name="T13" fmla="*/ 182 h 476"/>
                <a:gd name="T14" fmla="*/ 212 w 364"/>
                <a:gd name="T15" fmla="*/ 462 h 476"/>
                <a:gd name="T16" fmla="*/ 182 w 364"/>
                <a:gd name="T17" fmla="*/ 476 h 476"/>
                <a:gd name="T18" fmla="*/ 182 w 364"/>
                <a:gd name="T19" fmla="*/ 24 h 476"/>
                <a:gd name="T20" fmla="*/ 70 w 364"/>
                <a:gd name="T21" fmla="*/ 70 h 476"/>
                <a:gd name="T22" fmla="*/ 24 w 364"/>
                <a:gd name="T23" fmla="*/ 182 h 476"/>
                <a:gd name="T24" fmla="*/ 171 w 364"/>
                <a:gd name="T25" fmla="*/ 447 h 476"/>
                <a:gd name="T26" fmla="*/ 182 w 364"/>
                <a:gd name="T27" fmla="*/ 452 h 476"/>
                <a:gd name="T28" fmla="*/ 193 w 364"/>
                <a:gd name="T29" fmla="*/ 447 h 476"/>
                <a:gd name="T30" fmla="*/ 340 w 364"/>
                <a:gd name="T31" fmla="*/ 182 h 476"/>
                <a:gd name="T32" fmla="*/ 182 w 364"/>
                <a:gd name="T33" fmla="*/ 24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4" h="476">
                  <a:moveTo>
                    <a:pt x="182" y="476"/>
                  </a:moveTo>
                  <a:cubicBezTo>
                    <a:pt x="170" y="476"/>
                    <a:pt x="159" y="471"/>
                    <a:pt x="152" y="462"/>
                  </a:cubicBezTo>
                  <a:cubicBezTo>
                    <a:pt x="95" y="389"/>
                    <a:pt x="0" y="257"/>
                    <a:pt x="0" y="182"/>
                  </a:cubicBezTo>
                  <a:cubicBezTo>
                    <a:pt x="0" y="133"/>
                    <a:pt x="19" y="87"/>
                    <a:pt x="53" y="53"/>
                  </a:cubicBezTo>
                  <a:cubicBezTo>
                    <a:pt x="87" y="19"/>
                    <a:pt x="133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282" y="0"/>
                    <a:pt x="364" y="81"/>
                    <a:pt x="364" y="182"/>
                  </a:cubicBezTo>
                  <a:cubicBezTo>
                    <a:pt x="364" y="257"/>
                    <a:pt x="269" y="389"/>
                    <a:pt x="212" y="462"/>
                  </a:cubicBezTo>
                  <a:cubicBezTo>
                    <a:pt x="205" y="471"/>
                    <a:pt x="194" y="476"/>
                    <a:pt x="182" y="476"/>
                  </a:cubicBezTo>
                  <a:close/>
                  <a:moveTo>
                    <a:pt x="182" y="24"/>
                  </a:moveTo>
                  <a:cubicBezTo>
                    <a:pt x="140" y="24"/>
                    <a:pt x="100" y="40"/>
                    <a:pt x="70" y="70"/>
                  </a:cubicBezTo>
                  <a:cubicBezTo>
                    <a:pt x="40" y="100"/>
                    <a:pt x="24" y="140"/>
                    <a:pt x="24" y="182"/>
                  </a:cubicBezTo>
                  <a:cubicBezTo>
                    <a:pt x="24" y="254"/>
                    <a:pt x="136" y="403"/>
                    <a:pt x="171" y="447"/>
                  </a:cubicBezTo>
                  <a:cubicBezTo>
                    <a:pt x="174" y="450"/>
                    <a:pt x="178" y="452"/>
                    <a:pt x="182" y="452"/>
                  </a:cubicBezTo>
                  <a:cubicBezTo>
                    <a:pt x="186" y="452"/>
                    <a:pt x="190" y="450"/>
                    <a:pt x="193" y="447"/>
                  </a:cubicBezTo>
                  <a:cubicBezTo>
                    <a:pt x="285" y="329"/>
                    <a:pt x="340" y="230"/>
                    <a:pt x="340" y="182"/>
                  </a:cubicBezTo>
                  <a:cubicBezTo>
                    <a:pt x="340" y="95"/>
                    <a:pt x="269" y="24"/>
                    <a:pt x="18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Freeform 56">
              <a:extLst>
                <a:ext uri="{FF2B5EF4-FFF2-40B4-BE49-F238E27FC236}">
                  <a16:creationId xmlns:a16="http://schemas.microsoft.com/office/drawing/2014/main" id="{ABA50990-F1A5-039D-C489-D7A9AF38DA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0775" y="3079750"/>
              <a:ext cx="114300" cy="115888"/>
            </a:xfrm>
            <a:custGeom>
              <a:avLst/>
              <a:gdLst>
                <a:gd name="T0" fmla="*/ 76 w 152"/>
                <a:gd name="T1" fmla="*/ 152 h 152"/>
                <a:gd name="T2" fmla="*/ 0 w 152"/>
                <a:gd name="T3" fmla="*/ 76 h 152"/>
                <a:gd name="T4" fmla="*/ 76 w 152"/>
                <a:gd name="T5" fmla="*/ 0 h 152"/>
                <a:gd name="T6" fmla="*/ 76 w 152"/>
                <a:gd name="T7" fmla="*/ 0 h 152"/>
                <a:gd name="T8" fmla="*/ 130 w 152"/>
                <a:gd name="T9" fmla="*/ 22 h 152"/>
                <a:gd name="T10" fmla="*/ 152 w 152"/>
                <a:gd name="T11" fmla="*/ 76 h 152"/>
                <a:gd name="T12" fmla="*/ 152 w 152"/>
                <a:gd name="T13" fmla="*/ 76 h 152"/>
                <a:gd name="T14" fmla="*/ 76 w 152"/>
                <a:gd name="T15" fmla="*/ 152 h 152"/>
                <a:gd name="T16" fmla="*/ 76 w 152"/>
                <a:gd name="T17" fmla="*/ 24 h 152"/>
                <a:gd name="T18" fmla="*/ 76 w 152"/>
                <a:gd name="T19" fmla="*/ 24 h 152"/>
                <a:gd name="T20" fmla="*/ 24 w 152"/>
                <a:gd name="T21" fmla="*/ 76 h 152"/>
                <a:gd name="T22" fmla="*/ 76 w 152"/>
                <a:gd name="T23" fmla="*/ 128 h 152"/>
                <a:gd name="T24" fmla="*/ 128 w 152"/>
                <a:gd name="T25" fmla="*/ 76 h 152"/>
                <a:gd name="T26" fmla="*/ 128 w 152"/>
                <a:gd name="T27" fmla="*/ 76 h 152"/>
                <a:gd name="T28" fmla="*/ 113 w 152"/>
                <a:gd name="T29" fmla="*/ 39 h 152"/>
                <a:gd name="T30" fmla="*/ 76 w 152"/>
                <a:gd name="T31" fmla="*/ 2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2" h="152">
                  <a:moveTo>
                    <a:pt x="76" y="152"/>
                  </a:moveTo>
                  <a:cubicBezTo>
                    <a:pt x="34" y="152"/>
                    <a:pt x="0" y="118"/>
                    <a:pt x="0" y="76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6" y="0"/>
                    <a:pt x="115" y="8"/>
                    <a:pt x="130" y="22"/>
                  </a:cubicBezTo>
                  <a:cubicBezTo>
                    <a:pt x="144" y="37"/>
                    <a:pt x="152" y="56"/>
                    <a:pt x="152" y="76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118"/>
                    <a:pt x="118" y="152"/>
                    <a:pt x="76" y="152"/>
                  </a:cubicBezTo>
                  <a:close/>
                  <a:moveTo>
                    <a:pt x="76" y="24"/>
                  </a:moveTo>
                  <a:cubicBezTo>
                    <a:pt x="76" y="24"/>
                    <a:pt x="76" y="24"/>
                    <a:pt x="76" y="24"/>
                  </a:cubicBezTo>
                  <a:cubicBezTo>
                    <a:pt x="47" y="24"/>
                    <a:pt x="24" y="47"/>
                    <a:pt x="24" y="76"/>
                  </a:cubicBezTo>
                  <a:cubicBezTo>
                    <a:pt x="24" y="104"/>
                    <a:pt x="47" y="128"/>
                    <a:pt x="76" y="128"/>
                  </a:cubicBezTo>
                  <a:cubicBezTo>
                    <a:pt x="104" y="128"/>
                    <a:pt x="128" y="104"/>
                    <a:pt x="128" y="76"/>
                  </a:cubicBezTo>
                  <a:cubicBezTo>
                    <a:pt x="128" y="76"/>
                    <a:pt x="128" y="76"/>
                    <a:pt x="128" y="76"/>
                  </a:cubicBezTo>
                  <a:cubicBezTo>
                    <a:pt x="128" y="62"/>
                    <a:pt x="122" y="49"/>
                    <a:pt x="113" y="39"/>
                  </a:cubicBezTo>
                  <a:cubicBezTo>
                    <a:pt x="103" y="29"/>
                    <a:pt x="90" y="24"/>
                    <a:pt x="76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Freeform 57">
              <a:extLst>
                <a:ext uri="{FF2B5EF4-FFF2-40B4-BE49-F238E27FC236}">
                  <a16:creationId xmlns:a16="http://schemas.microsoft.com/office/drawing/2014/main" id="{8A90152B-10C9-21CE-5D7A-C7100828C7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9575" y="3232150"/>
              <a:ext cx="361950" cy="514350"/>
            </a:xfrm>
            <a:custGeom>
              <a:avLst/>
              <a:gdLst>
                <a:gd name="T0" fmla="*/ 240 w 480"/>
                <a:gd name="T1" fmla="*/ 681 h 681"/>
                <a:gd name="T2" fmla="*/ 208 w 480"/>
                <a:gd name="T3" fmla="*/ 663 h 681"/>
                <a:gd name="T4" fmla="*/ 16 w 480"/>
                <a:gd name="T5" fmla="*/ 270 h 681"/>
                <a:gd name="T6" fmla="*/ 61 w 480"/>
                <a:gd name="T7" fmla="*/ 80 h 681"/>
                <a:gd name="T8" fmla="*/ 240 w 480"/>
                <a:gd name="T9" fmla="*/ 5 h 681"/>
                <a:gd name="T10" fmla="*/ 419 w 480"/>
                <a:gd name="T11" fmla="*/ 80 h 681"/>
                <a:gd name="T12" fmla="*/ 465 w 480"/>
                <a:gd name="T13" fmla="*/ 270 h 681"/>
                <a:gd name="T14" fmla="*/ 272 w 480"/>
                <a:gd name="T15" fmla="*/ 663 h 681"/>
                <a:gd name="T16" fmla="*/ 240 w 480"/>
                <a:gd name="T17" fmla="*/ 681 h 681"/>
                <a:gd name="T18" fmla="*/ 240 w 480"/>
                <a:gd name="T19" fmla="*/ 681 h 681"/>
                <a:gd name="T20" fmla="*/ 226 w 480"/>
                <a:gd name="T21" fmla="*/ 28 h 681"/>
                <a:gd name="T22" fmla="*/ 80 w 480"/>
                <a:gd name="T23" fmla="*/ 96 h 681"/>
                <a:gd name="T24" fmla="*/ 39 w 480"/>
                <a:gd name="T25" fmla="*/ 264 h 681"/>
                <a:gd name="T26" fmla="*/ 39 w 480"/>
                <a:gd name="T27" fmla="*/ 265 h 681"/>
                <a:gd name="T28" fmla="*/ 228 w 480"/>
                <a:gd name="T29" fmla="*/ 650 h 681"/>
                <a:gd name="T30" fmla="*/ 240 w 480"/>
                <a:gd name="T31" fmla="*/ 657 h 681"/>
                <a:gd name="T32" fmla="*/ 240 w 480"/>
                <a:gd name="T33" fmla="*/ 657 h 681"/>
                <a:gd name="T34" fmla="*/ 252 w 480"/>
                <a:gd name="T35" fmla="*/ 650 h 681"/>
                <a:gd name="T36" fmla="*/ 441 w 480"/>
                <a:gd name="T37" fmla="*/ 265 h 681"/>
                <a:gd name="T38" fmla="*/ 441 w 480"/>
                <a:gd name="T39" fmla="*/ 264 h 681"/>
                <a:gd name="T40" fmla="*/ 401 w 480"/>
                <a:gd name="T41" fmla="*/ 96 h 681"/>
                <a:gd name="T42" fmla="*/ 241 w 480"/>
                <a:gd name="T43" fmla="*/ 29 h 681"/>
                <a:gd name="T44" fmla="*/ 240 w 480"/>
                <a:gd name="T45" fmla="*/ 29 h 681"/>
                <a:gd name="T46" fmla="*/ 239 w 480"/>
                <a:gd name="T47" fmla="*/ 29 h 681"/>
                <a:gd name="T48" fmla="*/ 226 w 480"/>
                <a:gd name="T49" fmla="*/ 28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0" h="681">
                  <a:moveTo>
                    <a:pt x="240" y="681"/>
                  </a:moveTo>
                  <a:cubicBezTo>
                    <a:pt x="227" y="681"/>
                    <a:pt x="214" y="674"/>
                    <a:pt x="208" y="663"/>
                  </a:cubicBezTo>
                  <a:cubicBezTo>
                    <a:pt x="156" y="580"/>
                    <a:pt x="35" y="376"/>
                    <a:pt x="16" y="270"/>
                  </a:cubicBezTo>
                  <a:cubicBezTo>
                    <a:pt x="0" y="203"/>
                    <a:pt x="17" y="132"/>
                    <a:pt x="61" y="80"/>
                  </a:cubicBezTo>
                  <a:cubicBezTo>
                    <a:pt x="105" y="28"/>
                    <a:pt x="172" y="0"/>
                    <a:pt x="240" y="5"/>
                  </a:cubicBezTo>
                  <a:cubicBezTo>
                    <a:pt x="308" y="0"/>
                    <a:pt x="375" y="28"/>
                    <a:pt x="419" y="80"/>
                  </a:cubicBezTo>
                  <a:cubicBezTo>
                    <a:pt x="464" y="132"/>
                    <a:pt x="480" y="203"/>
                    <a:pt x="465" y="270"/>
                  </a:cubicBezTo>
                  <a:cubicBezTo>
                    <a:pt x="449" y="362"/>
                    <a:pt x="325" y="575"/>
                    <a:pt x="272" y="663"/>
                  </a:cubicBezTo>
                  <a:cubicBezTo>
                    <a:pt x="266" y="674"/>
                    <a:pt x="253" y="681"/>
                    <a:pt x="240" y="681"/>
                  </a:cubicBezTo>
                  <a:cubicBezTo>
                    <a:pt x="240" y="681"/>
                    <a:pt x="240" y="681"/>
                    <a:pt x="240" y="681"/>
                  </a:cubicBezTo>
                  <a:close/>
                  <a:moveTo>
                    <a:pt x="226" y="28"/>
                  </a:moveTo>
                  <a:cubicBezTo>
                    <a:pt x="170" y="28"/>
                    <a:pt x="116" y="53"/>
                    <a:pt x="80" y="96"/>
                  </a:cubicBezTo>
                  <a:cubicBezTo>
                    <a:pt x="40" y="142"/>
                    <a:pt x="25" y="205"/>
                    <a:pt x="39" y="264"/>
                  </a:cubicBezTo>
                  <a:cubicBezTo>
                    <a:pt x="39" y="265"/>
                    <a:pt x="39" y="265"/>
                    <a:pt x="39" y="265"/>
                  </a:cubicBezTo>
                  <a:cubicBezTo>
                    <a:pt x="58" y="368"/>
                    <a:pt x="178" y="569"/>
                    <a:pt x="228" y="650"/>
                  </a:cubicBezTo>
                  <a:cubicBezTo>
                    <a:pt x="231" y="655"/>
                    <a:pt x="235" y="657"/>
                    <a:pt x="240" y="657"/>
                  </a:cubicBezTo>
                  <a:cubicBezTo>
                    <a:pt x="240" y="657"/>
                    <a:pt x="240" y="657"/>
                    <a:pt x="240" y="657"/>
                  </a:cubicBezTo>
                  <a:cubicBezTo>
                    <a:pt x="245" y="657"/>
                    <a:pt x="249" y="655"/>
                    <a:pt x="252" y="650"/>
                  </a:cubicBezTo>
                  <a:cubicBezTo>
                    <a:pt x="304" y="564"/>
                    <a:pt x="426" y="353"/>
                    <a:pt x="441" y="265"/>
                  </a:cubicBezTo>
                  <a:cubicBezTo>
                    <a:pt x="441" y="264"/>
                    <a:pt x="441" y="264"/>
                    <a:pt x="441" y="264"/>
                  </a:cubicBezTo>
                  <a:cubicBezTo>
                    <a:pt x="455" y="205"/>
                    <a:pt x="440" y="142"/>
                    <a:pt x="401" y="96"/>
                  </a:cubicBezTo>
                  <a:cubicBezTo>
                    <a:pt x="362" y="49"/>
                    <a:pt x="302" y="24"/>
                    <a:pt x="241" y="29"/>
                  </a:cubicBezTo>
                  <a:cubicBezTo>
                    <a:pt x="240" y="29"/>
                    <a:pt x="240" y="29"/>
                    <a:pt x="240" y="29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35" y="28"/>
                    <a:pt x="230" y="28"/>
                    <a:pt x="226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Freeform 58">
              <a:extLst>
                <a:ext uri="{FF2B5EF4-FFF2-40B4-BE49-F238E27FC236}">
                  <a16:creationId xmlns:a16="http://schemas.microsoft.com/office/drawing/2014/main" id="{5E3F80AA-E8D4-FD5A-0645-9BC2AA9C59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1650" y="3314700"/>
              <a:ext cx="171450" cy="165100"/>
            </a:xfrm>
            <a:custGeom>
              <a:avLst/>
              <a:gdLst>
                <a:gd name="T0" fmla="*/ 118 w 228"/>
                <a:gd name="T1" fmla="*/ 219 h 219"/>
                <a:gd name="T2" fmla="*/ 41 w 228"/>
                <a:gd name="T3" fmla="*/ 187 h 219"/>
                <a:gd name="T4" fmla="*/ 17 w 228"/>
                <a:gd name="T5" fmla="*/ 68 h 219"/>
                <a:gd name="T6" fmla="*/ 118 w 228"/>
                <a:gd name="T7" fmla="*/ 0 h 219"/>
                <a:gd name="T8" fmla="*/ 228 w 228"/>
                <a:gd name="T9" fmla="*/ 110 h 219"/>
                <a:gd name="T10" fmla="*/ 228 w 228"/>
                <a:gd name="T11" fmla="*/ 110 h 219"/>
                <a:gd name="T12" fmla="*/ 160 w 228"/>
                <a:gd name="T13" fmla="*/ 211 h 219"/>
                <a:gd name="T14" fmla="*/ 118 w 228"/>
                <a:gd name="T15" fmla="*/ 219 h 219"/>
                <a:gd name="T16" fmla="*/ 118 w 228"/>
                <a:gd name="T17" fmla="*/ 24 h 219"/>
                <a:gd name="T18" fmla="*/ 39 w 228"/>
                <a:gd name="T19" fmla="*/ 77 h 219"/>
                <a:gd name="T20" fmla="*/ 58 w 228"/>
                <a:gd name="T21" fmla="*/ 170 h 219"/>
                <a:gd name="T22" fmla="*/ 151 w 228"/>
                <a:gd name="T23" fmla="*/ 189 h 219"/>
                <a:gd name="T24" fmla="*/ 204 w 228"/>
                <a:gd name="T25" fmla="*/ 110 h 219"/>
                <a:gd name="T26" fmla="*/ 204 w 228"/>
                <a:gd name="T27" fmla="*/ 110 h 219"/>
                <a:gd name="T28" fmla="*/ 118 w 228"/>
                <a:gd name="T29" fmla="*/ 24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19">
                  <a:moveTo>
                    <a:pt x="118" y="219"/>
                  </a:moveTo>
                  <a:cubicBezTo>
                    <a:pt x="90" y="219"/>
                    <a:pt x="62" y="208"/>
                    <a:pt x="41" y="187"/>
                  </a:cubicBezTo>
                  <a:cubicBezTo>
                    <a:pt x="9" y="156"/>
                    <a:pt x="0" y="109"/>
                    <a:pt x="17" y="68"/>
                  </a:cubicBezTo>
                  <a:cubicBezTo>
                    <a:pt x="34" y="27"/>
                    <a:pt x="74" y="0"/>
                    <a:pt x="118" y="0"/>
                  </a:cubicBezTo>
                  <a:cubicBezTo>
                    <a:pt x="179" y="0"/>
                    <a:pt x="228" y="49"/>
                    <a:pt x="228" y="110"/>
                  </a:cubicBezTo>
                  <a:cubicBezTo>
                    <a:pt x="228" y="110"/>
                    <a:pt x="228" y="110"/>
                    <a:pt x="228" y="110"/>
                  </a:cubicBezTo>
                  <a:cubicBezTo>
                    <a:pt x="228" y="154"/>
                    <a:pt x="201" y="194"/>
                    <a:pt x="160" y="211"/>
                  </a:cubicBezTo>
                  <a:cubicBezTo>
                    <a:pt x="147" y="217"/>
                    <a:pt x="132" y="219"/>
                    <a:pt x="118" y="219"/>
                  </a:cubicBezTo>
                  <a:close/>
                  <a:moveTo>
                    <a:pt x="118" y="24"/>
                  </a:moveTo>
                  <a:cubicBezTo>
                    <a:pt x="84" y="24"/>
                    <a:pt x="53" y="45"/>
                    <a:pt x="39" y="77"/>
                  </a:cubicBezTo>
                  <a:cubicBezTo>
                    <a:pt x="26" y="109"/>
                    <a:pt x="33" y="146"/>
                    <a:pt x="58" y="170"/>
                  </a:cubicBezTo>
                  <a:cubicBezTo>
                    <a:pt x="82" y="195"/>
                    <a:pt x="119" y="202"/>
                    <a:pt x="151" y="189"/>
                  </a:cubicBezTo>
                  <a:cubicBezTo>
                    <a:pt x="183" y="175"/>
                    <a:pt x="204" y="144"/>
                    <a:pt x="204" y="110"/>
                  </a:cubicBezTo>
                  <a:cubicBezTo>
                    <a:pt x="204" y="110"/>
                    <a:pt x="204" y="110"/>
                    <a:pt x="204" y="110"/>
                  </a:cubicBezTo>
                  <a:cubicBezTo>
                    <a:pt x="204" y="63"/>
                    <a:pt x="165" y="24"/>
                    <a:pt x="118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Freeform 59">
              <a:extLst>
                <a:ext uri="{FF2B5EF4-FFF2-40B4-BE49-F238E27FC236}">
                  <a16:creationId xmlns:a16="http://schemas.microsoft.com/office/drawing/2014/main" id="{FE94B2D1-D690-83BD-9A5B-96D448C58A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913" y="3411538"/>
              <a:ext cx="471488" cy="312738"/>
            </a:xfrm>
            <a:custGeom>
              <a:avLst/>
              <a:gdLst>
                <a:gd name="T0" fmla="*/ 14 w 626"/>
                <a:gd name="T1" fmla="*/ 415 h 415"/>
                <a:gd name="T2" fmla="*/ 4 w 626"/>
                <a:gd name="T3" fmla="*/ 410 h 415"/>
                <a:gd name="T4" fmla="*/ 7 w 626"/>
                <a:gd name="T5" fmla="*/ 393 h 415"/>
                <a:gd name="T6" fmla="*/ 605 w 626"/>
                <a:gd name="T7" fmla="*/ 3 h 415"/>
                <a:gd name="T8" fmla="*/ 622 w 626"/>
                <a:gd name="T9" fmla="*/ 7 h 415"/>
                <a:gd name="T10" fmla="*/ 618 w 626"/>
                <a:gd name="T11" fmla="*/ 24 h 415"/>
                <a:gd name="T12" fmla="*/ 21 w 626"/>
                <a:gd name="T13" fmla="*/ 414 h 415"/>
                <a:gd name="T14" fmla="*/ 14 w 626"/>
                <a:gd name="T15" fmla="*/ 41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6" h="415">
                  <a:moveTo>
                    <a:pt x="14" y="415"/>
                  </a:moveTo>
                  <a:cubicBezTo>
                    <a:pt x="10" y="415"/>
                    <a:pt x="6" y="414"/>
                    <a:pt x="4" y="410"/>
                  </a:cubicBezTo>
                  <a:cubicBezTo>
                    <a:pt x="0" y="405"/>
                    <a:pt x="2" y="397"/>
                    <a:pt x="7" y="393"/>
                  </a:cubicBezTo>
                  <a:cubicBezTo>
                    <a:pt x="605" y="3"/>
                    <a:pt x="605" y="3"/>
                    <a:pt x="605" y="3"/>
                  </a:cubicBezTo>
                  <a:cubicBezTo>
                    <a:pt x="611" y="0"/>
                    <a:pt x="618" y="1"/>
                    <a:pt x="622" y="7"/>
                  </a:cubicBezTo>
                  <a:cubicBezTo>
                    <a:pt x="626" y="13"/>
                    <a:pt x="624" y="20"/>
                    <a:pt x="618" y="24"/>
                  </a:cubicBezTo>
                  <a:cubicBezTo>
                    <a:pt x="21" y="414"/>
                    <a:pt x="21" y="414"/>
                    <a:pt x="21" y="414"/>
                  </a:cubicBezTo>
                  <a:cubicBezTo>
                    <a:pt x="19" y="415"/>
                    <a:pt x="16" y="415"/>
                    <a:pt x="14" y="4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8" name="Title 27">
            <a:extLst>
              <a:ext uri="{FF2B5EF4-FFF2-40B4-BE49-F238E27FC236}">
                <a16:creationId xmlns:a16="http://schemas.microsoft.com/office/drawing/2014/main" id="{AACA8523-9D4E-19BF-7671-BFF1B4F0F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BeyondTrust Deep Dive</a:t>
            </a:r>
          </a:p>
        </p:txBody>
      </p:sp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FFC3E375-346D-48BC-B54E-F70B9E9DA0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TCS confidential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66C1B2-6129-BDBE-444D-017636B05C9F}"/>
              </a:ext>
            </a:extLst>
          </p:cNvPr>
          <p:cNvSpPr txBox="1"/>
          <p:nvPr/>
        </p:nvSpPr>
        <p:spPr>
          <a:xfrm>
            <a:off x="535249" y="795985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4E84C4"/>
                </a:solidFill>
                <a:effectLst/>
                <a:latin typeface="+mj-lt"/>
                <a:cs typeface="MS PGothic" panose="020B0600070205080204" pitchFamily="34" charset="-128"/>
              </a:rPr>
              <a:t>Company Overview</a:t>
            </a:r>
            <a:endParaRPr lang="en-GB" sz="1600" dirty="0">
              <a:solidFill>
                <a:srgbClr val="4E84C4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FFB668-A023-C412-FCC7-16F8F8F165B2}"/>
              </a:ext>
            </a:extLst>
          </p:cNvPr>
          <p:cNvSpPr txBox="1"/>
          <p:nvPr/>
        </p:nvSpPr>
        <p:spPr>
          <a:xfrm>
            <a:off x="494351" y="1190823"/>
            <a:ext cx="457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Founded: 2006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Headquarters: Johns Creek, USA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Employees: 1,800+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Focus: Unified PAM platform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91471E-1645-8AF3-B91D-90D7C11477CC}"/>
              </a:ext>
            </a:extLst>
          </p:cNvPr>
          <p:cNvSpPr txBox="1"/>
          <p:nvPr/>
        </p:nvSpPr>
        <p:spPr>
          <a:xfrm>
            <a:off x="614414" y="2598257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4E84C4"/>
                </a:solidFill>
                <a:effectLst/>
                <a:latin typeface="+mj-lt"/>
                <a:cs typeface="MS PGothic" panose="020B0600070205080204" pitchFamily="34" charset="-128"/>
              </a:rPr>
              <a:t>Core Components PAM</a:t>
            </a:r>
            <a:endParaRPr lang="en-GB" sz="1600" dirty="0">
              <a:solidFill>
                <a:srgbClr val="4E84C4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4BC19A-F5A9-DF1A-A753-AFE82B0D6339}"/>
              </a:ext>
            </a:extLst>
          </p:cNvPr>
          <p:cNvSpPr txBox="1"/>
          <p:nvPr/>
        </p:nvSpPr>
        <p:spPr>
          <a:xfrm>
            <a:off x="614414" y="2936161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dirty="0">
                <a:solidFill>
                  <a:srgbClr val="000000"/>
                </a:solidFill>
                <a:latin typeface="+mj-lt"/>
                <a:ea typeface="MS PGothic" panose="020B0600070205080204" pitchFamily="34" charset="-128"/>
              </a:rPr>
              <a:t>Password Safe</a:t>
            </a:r>
          </a:p>
          <a:p>
            <a:pPr>
              <a:buNone/>
            </a:pPr>
            <a:r>
              <a:rPr lang="en-GB" sz="1600" dirty="0">
                <a:solidFill>
                  <a:srgbClr val="000000"/>
                </a:solidFill>
                <a:latin typeface="+mj-lt"/>
                <a:ea typeface="MS PGothic" panose="020B0600070205080204" pitchFamily="34" charset="-128"/>
              </a:rPr>
              <a:t>Remote Access</a:t>
            </a:r>
          </a:p>
          <a:p>
            <a:pPr>
              <a:buNone/>
            </a:pPr>
            <a:r>
              <a:rPr lang="en-GB" sz="1600" dirty="0">
                <a:solidFill>
                  <a:srgbClr val="000000"/>
                </a:solidFill>
                <a:latin typeface="+mj-lt"/>
                <a:ea typeface="MS PGothic" panose="020B0600070205080204" pitchFamily="34" charset="-128"/>
              </a:rPr>
              <a:t>Endpoint Privilege Management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22E2A9E-47E2-35BB-3813-1C221D419143}"/>
              </a:ext>
            </a:extLst>
          </p:cNvPr>
          <p:cNvSpPr/>
          <p:nvPr/>
        </p:nvSpPr>
        <p:spPr>
          <a:xfrm>
            <a:off x="356058" y="669312"/>
            <a:ext cx="3475897" cy="3706409"/>
          </a:xfrm>
          <a:prstGeom prst="roundRect">
            <a:avLst/>
          </a:prstGeom>
          <a:noFill/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B568D0D7-8C1B-5941-88FB-8D0D44C5D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292" y="1729432"/>
            <a:ext cx="4438650" cy="102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0931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AE2AA-B727-EEEC-6306-02582E8BF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DFC9EF79-44EC-3C3A-4F79-790BD463A9C6}"/>
              </a:ext>
            </a:extLst>
          </p:cNvPr>
          <p:cNvGrpSpPr/>
          <p:nvPr/>
        </p:nvGrpSpPr>
        <p:grpSpPr>
          <a:xfrm>
            <a:off x="1646076" y="4029452"/>
            <a:ext cx="570912" cy="419326"/>
            <a:chOff x="6759575" y="3000375"/>
            <a:chExt cx="906463" cy="746125"/>
          </a:xfrm>
          <a:solidFill>
            <a:srgbClr val="F4F3F9"/>
          </a:solidFill>
        </p:grpSpPr>
        <p:sp>
          <p:nvSpPr>
            <p:cNvPr id="50" name="Freeform 55">
              <a:extLst>
                <a:ext uri="{FF2B5EF4-FFF2-40B4-BE49-F238E27FC236}">
                  <a16:creationId xmlns:a16="http://schemas.microsoft.com/office/drawing/2014/main" id="{5CE1332D-3C3F-C3FB-6F08-350C4E4A8F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1400" y="3000375"/>
              <a:ext cx="274638" cy="358775"/>
            </a:xfrm>
            <a:custGeom>
              <a:avLst/>
              <a:gdLst>
                <a:gd name="T0" fmla="*/ 182 w 364"/>
                <a:gd name="T1" fmla="*/ 476 h 476"/>
                <a:gd name="T2" fmla="*/ 152 w 364"/>
                <a:gd name="T3" fmla="*/ 462 h 476"/>
                <a:gd name="T4" fmla="*/ 0 w 364"/>
                <a:gd name="T5" fmla="*/ 182 h 476"/>
                <a:gd name="T6" fmla="*/ 53 w 364"/>
                <a:gd name="T7" fmla="*/ 53 h 476"/>
                <a:gd name="T8" fmla="*/ 182 w 364"/>
                <a:gd name="T9" fmla="*/ 0 h 476"/>
                <a:gd name="T10" fmla="*/ 182 w 364"/>
                <a:gd name="T11" fmla="*/ 0 h 476"/>
                <a:gd name="T12" fmla="*/ 364 w 364"/>
                <a:gd name="T13" fmla="*/ 182 h 476"/>
                <a:gd name="T14" fmla="*/ 212 w 364"/>
                <a:gd name="T15" fmla="*/ 462 h 476"/>
                <a:gd name="T16" fmla="*/ 182 w 364"/>
                <a:gd name="T17" fmla="*/ 476 h 476"/>
                <a:gd name="T18" fmla="*/ 182 w 364"/>
                <a:gd name="T19" fmla="*/ 24 h 476"/>
                <a:gd name="T20" fmla="*/ 70 w 364"/>
                <a:gd name="T21" fmla="*/ 70 h 476"/>
                <a:gd name="T22" fmla="*/ 24 w 364"/>
                <a:gd name="T23" fmla="*/ 182 h 476"/>
                <a:gd name="T24" fmla="*/ 171 w 364"/>
                <a:gd name="T25" fmla="*/ 447 h 476"/>
                <a:gd name="T26" fmla="*/ 182 w 364"/>
                <a:gd name="T27" fmla="*/ 452 h 476"/>
                <a:gd name="T28" fmla="*/ 193 w 364"/>
                <a:gd name="T29" fmla="*/ 447 h 476"/>
                <a:gd name="T30" fmla="*/ 340 w 364"/>
                <a:gd name="T31" fmla="*/ 182 h 476"/>
                <a:gd name="T32" fmla="*/ 182 w 364"/>
                <a:gd name="T33" fmla="*/ 24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4" h="476">
                  <a:moveTo>
                    <a:pt x="182" y="476"/>
                  </a:moveTo>
                  <a:cubicBezTo>
                    <a:pt x="170" y="476"/>
                    <a:pt x="159" y="471"/>
                    <a:pt x="152" y="462"/>
                  </a:cubicBezTo>
                  <a:cubicBezTo>
                    <a:pt x="95" y="389"/>
                    <a:pt x="0" y="257"/>
                    <a:pt x="0" y="182"/>
                  </a:cubicBezTo>
                  <a:cubicBezTo>
                    <a:pt x="0" y="133"/>
                    <a:pt x="19" y="87"/>
                    <a:pt x="53" y="53"/>
                  </a:cubicBezTo>
                  <a:cubicBezTo>
                    <a:pt x="87" y="19"/>
                    <a:pt x="133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282" y="0"/>
                    <a:pt x="364" y="81"/>
                    <a:pt x="364" y="182"/>
                  </a:cubicBezTo>
                  <a:cubicBezTo>
                    <a:pt x="364" y="257"/>
                    <a:pt x="269" y="389"/>
                    <a:pt x="212" y="462"/>
                  </a:cubicBezTo>
                  <a:cubicBezTo>
                    <a:pt x="205" y="471"/>
                    <a:pt x="194" y="476"/>
                    <a:pt x="182" y="476"/>
                  </a:cubicBezTo>
                  <a:close/>
                  <a:moveTo>
                    <a:pt x="182" y="24"/>
                  </a:moveTo>
                  <a:cubicBezTo>
                    <a:pt x="140" y="24"/>
                    <a:pt x="100" y="40"/>
                    <a:pt x="70" y="70"/>
                  </a:cubicBezTo>
                  <a:cubicBezTo>
                    <a:pt x="40" y="100"/>
                    <a:pt x="24" y="140"/>
                    <a:pt x="24" y="182"/>
                  </a:cubicBezTo>
                  <a:cubicBezTo>
                    <a:pt x="24" y="254"/>
                    <a:pt x="136" y="403"/>
                    <a:pt x="171" y="447"/>
                  </a:cubicBezTo>
                  <a:cubicBezTo>
                    <a:pt x="174" y="450"/>
                    <a:pt x="178" y="452"/>
                    <a:pt x="182" y="452"/>
                  </a:cubicBezTo>
                  <a:cubicBezTo>
                    <a:pt x="186" y="452"/>
                    <a:pt x="190" y="450"/>
                    <a:pt x="193" y="447"/>
                  </a:cubicBezTo>
                  <a:cubicBezTo>
                    <a:pt x="285" y="329"/>
                    <a:pt x="340" y="230"/>
                    <a:pt x="340" y="182"/>
                  </a:cubicBezTo>
                  <a:cubicBezTo>
                    <a:pt x="340" y="95"/>
                    <a:pt x="269" y="24"/>
                    <a:pt x="18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Freeform 56">
              <a:extLst>
                <a:ext uri="{FF2B5EF4-FFF2-40B4-BE49-F238E27FC236}">
                  <a16:creationId xmlns:a16="http://schemas.microsoft.com/office/drawing/2014/main" id="{2AAB0D91-29D7-2E94-5A9D-7F872ABEE2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0775" y="3079750"/>
              <a:ext cx="114300" cy="115888"/>
            </a:xfrm>
            <a:custGeom>
              <a:avLst/>
              <a:gdLst>
                <a:gd name="T0" fmla="*/ 76 w 152"/>
                <a:gd name="T1" fmla="*/ 152 h 152"/>
                <a:gd name="T2" fmla="*/ 0 w 152"/>
                <a:gd name="T3" fmla="*/ 76 h 152"/>
                <a:gd name="T4" fmla="*/ 76 w 152"/>
                <a:gd name="T5" fmla="*/ 0 h 152"/>
                <a:gd name="T6" fmla="*/ 76 w 152"/>
                <a:gd name="T7" fmla="*/ 0 h 152"/>
                <a:gd name="T8" fmla="*/ 130 w 152"/>
                <a:gd name="T9" fmla="*/ 22 h 152"/>
                <a:gd name="T10" fmla="*/ 152 w 152"/>
                <a:gd name="T11" fmla="*/ 76 h 152"/>
                <a:gd name="T12" fmla="*/ 152 w 152"/>
                <a:gd name="T13" fmla="*/ 76 h 152"/>
                <a:gd name="T14" fmla="*/ 76 w 152"/>
                <a:gd name="T15" fmla="*/ 152 h 152"/>
                <a:gd name="T16" fmla="*/ 76 w 152"/>
                <a:gd name="T17" fmla="*/ 24 h 152"/>
                <a:gd name="T18" fmla="*/ 76 w 152"/>
                <a:gd name="T19" fmla="*/ 24 h 152"/>
                <a:gd name="T20" fmla="*/ 24 w 152"/>
                <a:gd name="T21" fmla="*/ 76 h 152"/>
                <a:gd name="T22" fmla="*/ 76 w 152"/>
                <a:gd name="T23" fmla="*/ 128 h 152"/>
                <a:gd name="T24" fmla="*/ 128 w 152"/>
                <a:gd name="T25" fmla="*/ 76 h 152"/>
                <a:gd name="T26" fmla="*/ 128 w 152"/>
                <a:gd name="T27" fmla="*/ 76 h 152"/>
                <a:gd name="T28" fmla="*/ 113 w 152"/>
                <a:gd name="T29" fmla="*/ 39 h 152"/>
                <a:gd name="T30" fmla="*/ 76 w 152"/>
                <a:gd name="T31" fmla="*/ 2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2" h="152">
                  <a:moveTo>
                    <a:pt x="76" y="152"/>
                  </a:moveTo>
                  <a:cubicBezTo>
                    <a:pt x="34" y="152"/>
                    <a:pt x="0" y="118"/>
                    <a:pt x="0" y="76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6" y="0"/>
                    <a:pt x="115" y="8"/>
                    <a:pt x="130" y="22"/>
                  </a:cubicBezTo>
                  <a:cubicBezTo>
                    <a:pt x="144" y="37"/>
                    <a:pt x="152" y="56"/>
                    <a:pt x="152" y="76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118"/>
                    <a:pt x="118" y="152"/>
                    <a:pt x="76" y="152"/>
                  </a:cubicBezTo>
                  <a:close/>
                  <a:moveTo>
                    <a:pt x="76" y="24"/>
                  </a:moveTo>
                  <a:cubicBezTo>
                    <a:pt x="76" y="24"/>
                    <a:pt x="76" y="24"/>
                    <a:pt x="76" y="24"/>
                  </a:cubicBezTo>
                  <a:cubicBezTo>
                    <a:pt x="47" y="24"/>
                    <a:pt x="24" y="47"/>
                    <a:pt x="24" y="76"/>
                  </a:cubicBezTo>
                  <a:cubicBezTo>
                    <a:pt x="24" y="104"/>
                    <a:pt x="47" y="128"/>
                    <a:pt x="76" y="128"/>
                  </a:cubicBezTo>
                  <a:cubicBezTo>
                    <a:pt x="104" y="128"/>
                    <a:pt x="128" y="104"/>
                    <a:pt x="128" y="76"/>
                  </a:cubicBezTo>
                  <a:cubicBezTo>
                    <a:pt x="128" y="76"/>
                    <a:pt x="128" y="76"/>
                    <a:pt x="128" y="76"/>
                  </a:cubicBezTo>
                  <a:cubicBezTo>
                    <a:pt x="128" y="62"/>
                    <a:pt x="122" y="49"/>
                    <a:pt x="113" y="39"/>
                  </a:cubicBezTo>
                  <a:cubicBezTo>
                    <a:pt x="103" y="29"/>
                    <a:pt x="90" y="24"/>
                    <a:pt x="76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Freeform 57">
              <a:extLst>
                <a:ext uri="{FF2B5EF4-FFF2-40B4-BE49-F238E27FC236}">
                  <a16:creationId xmlns:a16="http://schemas.microsoft.com/office/drawing/2014/main" id="{A9FDD91E-B126-5189-1E67-2B7C9E724A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9575" y="3232150"/>
              <a:ext cx="361950" cy="514350"/>
            </a:xfrm>
            <a:custGeom>
              <a:avLst/>
              <a:gdLst>
                <a:gd name="T0" fmla="*/ 240 w 480"/>
                <a:gd name="T1" fmla="*/ 681 h 681"/>
                <a:gd name="T2" fmla="*/ 208 w 480"/>
                <a:gd name="T3" fmla="*/ 663 h 681"/>
                <a:gd name="T4" fmla="*/ 16 w 480"/>
                <a:gd name="T5" fmla="*/ 270 h 681"/>
                <a:gd name="T6" fmla="*/ 61 w 480"/>
                <a:gd name="T7" fmla="*/ 80 h 681"/>
                <a:gd name="T8" fmla="*/ 240 w 480"/>
                <a:gd name="T9" fmla="*/ 5 h 681"/>
                <a:gd name="T10" fmla="*/ 419 w 480"/>
                <a:gd name="T11" fmla="*/ 80 h 681"/>
                <a:gd name="T12" fmla="*/ 465 w 480"/>
                <a:gd name="T13" fmla="*/ 270 h 681"/>
                <a:gd name="T14" fmla="*/ 272 w 480"/>
                <a:gd name="T15" fmla="*/ 663 h 681"/>
                <a:gd name="T16" fmla="*/ 240 w 480"/>
                <a:gd name="T17" fmla="*/ 681 h 681"/>
                <a:gd name="T18" fmla="*/ 240 w 480"/>
                <a:gd name="T19" fmla="*/ 681 h 681"/>
                <a:gd name="T20" fmla="*/ 226 w 480"/>
                <a:gd name="T21" fmla="*/ 28 h 681"/>
                <a:gd name="T22" fmla="*/ 80 w 480"/>
                <a:gd name="T23" fmla="*/ 96 h 681"/>
                <a:gd name="T24" fmla="*/ 39 w 480"/>
                <a:gd name="T25" fmla="*/ 264 h 681"/>
                <a:gd name="T26" fmla="*/ 39 w 480"/>
                <a:gd name="T27" fmla="*/ 265 h 681"/>
                <a:gd name="T28" fmla="*/ 228 w 480"/>
                <a:gd name="T29" fmla="*/ 650 h 681"/>
                <a:gd name="T30" fmla="*/ 240 w 480"/>
                <a:gd name="T31" fmla="*/ 657 h 681"/>
                <a:gd name="T32" fmla="*/ 240 w 480"/>
                <a:gd name="T33" fmla="*/ 657 h 681"/>
                <a:gd name="T34" fmla="*/ 252 w 480"/>
                <a:gd name="T35" fmla="*/ 650 h 681"/>
                <a:gd name="T36" fmla="*/ 441 w 480"/>
                <a:gd name="T37" fmla="*/ 265 h 681"/>
                <a:gd name="T38" fmla="*/ 441 w 480"/>
                <a:gd name="T39" fmla="*/ 264 h 681"/>
                <a:gd name="T40" fmla="*/ 401 w 480"/>
                <a:gd name="T41" fmla="*/ 96 h 681"/>
                <a:gd name="T42" fmla="*/ 241 w 480"/>
                <a:gd name="T43" fmla="*/ 29 h 681"/>
                <a:gd name="T44" fmla="*/ 240 w 480"/>
                <a:gd name="T45" fmla="*/ 29 h 681"/>
                <a:gd name="T46" fmla="*/ 239 w 480"/>
                <a:gd name="T47" fmla="*/ 29 h 681"/>
                <a:gd name="T48" fmla="*/ 226 w 480"/>
                <a:gd name="T49" fmla="*/ 28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0" h="681">
                  <a:moveTo>
                    <a:pt x="240" y="681"/>
                  </a:moveTo>
                  <a:cubicBezTo>
                    <a:pt x="227" y="681"/>
                    <a:pt x="214" y="674"/>
                    <a:pt x="208" y="663"/>
                  </a:cubicBezTo>
                  <a:cubicBezTo>
                    <a:pt x="156" y="580"/>
                    <a:pt x="35" y="376"/>
                    <a:pt x="16" y="270"/>
                  </a:cubicBezTo>
                  <a:cubicBezTo>
                    <a:pt x="0" y="203"/>
                    <a:pt x="17" y="132"/>
                    <a:pt x="61" y="80"/>
                  </a:cubicBezTo>
                  <a:cubicBezTo>
                    <a:pt x="105" y="28"/>
                    <a:pt x="172" y="0"/>
                    <a:pt x="240" y="5"/>
                  </a:cubicBezTo>
                  <a:cubicBezTo>
                    <a:pt x="308" y="0"/>
                    <a:pt x="375" y="28"/>
                    <a:pt x="419" y="80"/>
                  </a:cubicBezTo>
                  <a:cubicBezTo>
                    <a:pt x="464" y="132"/>
                    <a:pt x="480" y="203"/>
                    <a:pt x="465" y="270"/>
                  </a:cubicBezTo>
                  <a:cubicBezTo>
                    <a:pt x="449" y="362"/>
                    <a:pt x="325" y="575"/>
                    <a:pt x="272" y="663"/>
                  </a:cubicBezTo>
                  <a:cubicBezTo>
                    <a:pt x="266" y="674"/>
                    <a:pt x="253" y="681"/>
                    <a:pt x="240" y="681"/>
                  </a:cubicBezTo>
                  <a:cubicBezTo>
                    <a:pt x="240" y="681"/>
                    <a:pt x="240" y="681"/>
                    <a:pt x="240" y="681"/>
                  </a:cubicBezTo>
                  <a:close/>
                  <a:moveTo>
                    <a:pt x="226" y="28"/>
                  </a:moveTo>
                  <a:cubicBezTo>
                    <a:pt x="170" y="28"/>
                    <a:pt x="116" y="53"/>
                    <a:pt x="80" y="96"/>
                  </a:cubicBezTo>
                  <a:cubicBezTo>
                    <a:pt x="40" y="142"/>
                    <a:pt x="25" y="205"/>
                    <a:pt x="39" y="264"/>
                  </a:cubicBezTo>
                  <a:cubicBezTo>
                    <a:pt x="39" y="265"/>
                    <a:pt x="39" y="265"/>
                    <a:pt x="39" y="265"/>
                  </a:cubicBezTo>
                  <a:cubicBezTo>
                    <a:pt x="58" y="368"/>
                    <a:pt x="178" y="569"/>
                    <a:pt x="228" y="650"/>
                  </a:cubicBezTo>
                  <a:cubicBezTo>
                    <a:pt x="231" y="655"/>
                    <a:pt x="235" y="657"/>
                    <a:pt x="240" y="657"/>
                  </a:cubicBezTo>
                  <a:cubicBezTo>
                    <a:pt x="240" y="657"/>
                    <a:pt x="240" y="657"/>
                    <a:pt x="240" y="657"/>
                  </a:cubicBezTo>
                  <a:cubicBezTo>
                    <a:pt x="245" y="657"/>
                    <a:pt x="249" y="655"/>
                    <a:pt x="252" y="650"/>
                  </a:cubicBezTo>
                  <a:cubicBezTo>
                    <a:pt x="304" y="564"/>
                    <a:pt x="426" y="353"/>
                    <a:pt x="441" y="265"/>
                  </a:cubicBezTo>
                  <a:cubicBezTo>
                    <a:pt x="441" y="264"/>
                    <a:pt x="441" y="264"/>
                    <a:pt x="441" y="264"/>
                  </a:cubicBezTo>
                  <a:cubicBezTo>
                    <a:pt x="455" y="205"/>
                    <a:pt x="440" y="142"/>
                    <a:pt x="401" y="96"/>
                  </a:cubicBezTo>
                  <a:cubicBezTo>
                    <a:pt x="362" y="49"/>
                    <a:pt x="302" y="24"/>
                    <a:pt x="241" y="29"/>
                  </a:cubicBezTo>
                  <a:cubicBezTo>
                    <a:pt x="240" y="29"/>
                    <a:pt x="240" y="29"/>
                    <a:pt x="240" y="29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35" y="28"/>
                    <a:pt x="230" y="28"/>
                    <a:pt x="226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Freeform 58">
              <a:extLst>
                <a:ext uri="{FF2B5EF4-FFF2-40B4-BE49-F238E27FC236}">
                  <a16:creationId xmlns:a16="http://schemas.microsoft.com/office/drawing/2014/main" id="{B6FE3421-73B4-A5B1-AA7B-2B0EE9D6F7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1650" y="3314700"/>
              <a:ext cx="171450" cy="165100"/>
            </a:xfrm>
            <a:custGeom>
              <a:avLst/>
              <a:gdLst>
                <a:gd name="T0" fmla="*/ 118 w 228"/>
                <a:gd name="T1" fmla="*/ 219 h 219"/>
                <a:gd name="T2" fmla="*/ 41 w 228"/>
                <a:gd name="T3" fmla="*/ 187 h 219"/>
                <a:gd name="T4" fmla="*/ 17 w 228"/>
                <a:gd name="T5" fmla="*/ 68 h 219"/>
                <a:gd name="T6" fmla="*/ 118 w 228"/>
                <a:gd name="T7" fmla="*/ 0 h 219"/>
                <a:gd name="T8" fmla="*/ 228 w 228"/>
                <a:gd name="T9" fmla="*/ 110 h 219"/>
                <a:gd name="T10" fmla="*/ 228 w 228"/>
                <a:gd name="T11" fmla="*/ 110 h 219"/>
                <a:gd name="T12" fmla="*/ 160 w 228"/>
                <a:gd name="T13" fmla="*/ 211 h 219"/>
                <a:gd name="T14" fmla="*/ 118 w 228"/>
                <a:gd name="T15" fmla="*/ 219 h 219"/>
                <a:gd name="T16" fmla="*/ 118 w 228"/>
                <a:gd name="T17" fmla="*/ 24 h 219"/>
                <a:gd name="T18" fmla="*/ 39 w 228"/>
                <a:gd name="T19" fmla="*/ 77 h 219"/>
                <a:gd name="T20" fmla="*/ 58 w 228"/>
                <a:gd name="T21" fmla="*/ 170 h 219"/>
                <a:gd name="T22" fmla="*/ 151 w 228"/>
                <a:gd name="T23" fmla="*/ 189 h 219"/>
                <a:gd name="T24" fmla="*/ 204 w 228"/>
                <a:gd name="T25" fmla="*/ 110 h 219"/>
                <a:gd name="T26" fmla="*/ 204 w 228"/>
                <a:gd name="T27" fmla="*/ 110 h 219"/>
                <a:gd name="T28" fmla="*/ 118 w 228"/>
                <a:gd name="T29" fmla="*/ 24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19">
                  <a:moveTo>
                    <a:pt x="118" y="219"/>
                  </a:moveTo>
                  <a:cubicBezTo>
                    <a:pt x="90" y="219"/>
                    <a:pt x="62" y="208"/>
                    <a:pt x="41" y="187"/>
                  </a:cubicBezTo>
                  <a:cubicBezTo>
                    <a:pt x="9" y="156"/>
                    <a:pt x="0" y="109"/>
                    <a:pt x="17" y="68"/>
                  </a:cubicBezTo>
                  <a:cubicBezTo>
                    <a:pt x="34" y="27"/>
                    <a:pt x="74" y="0"/>
                    <a:pt x="118" y="0"/>
                  </a:cubicBezTo>
                  <a:cubicBezTo>
                    <a:pt x="179" y="0"/>
                    <a:pt x="228" y="49"/>
                    <a:pt x="228" y="110"/>
                  </a:cubicBezTo>
                  <a:cubicBezTo>
                    <a:pt x="228" y="110"/>
                    <a:pt x="228" y="110"/>
                    <a:pt x="228" y="110"/>
                  </a:cubicBezTo>
                  <a:cubicBezTo>
                    <a:pt x="228" y="154"/>
                    <a:pt x="201" y="194"/>
                    <a:pt x="160" y="211"/>
                  </a:cubicBezTo>
                  <a:cubicBezTo>
                    <a:pt x="147" y="217"/>
                    <a:pt x="132" y="219"/>
                    <a:pt x="118" y="219"/>
                  </a:cubicBezTo>
                  <a:close/>
                  <a:moveTo>
                    <a:pt x="118" y="24"/>
                  </a:moveTo>
                  <a:cubicBezTo>
                    <a:pt x="84" y="24"/>
                    <a:pt x="53" y="45"/>
                    <a:pt x="39" y="77"/>
                  </a:cubicBezTo>
                  <a:cubicBezTo>
                    <a:pt x="26" y="109"/>
                    <a:pt x="33" y="146"/>
                    <a:pt x="58" y="170"/>
                  </a:cubicBezTo>
                  <a:cubicBezTo>
                    <a:pt x="82" y="195"/>
                    <a:pt x="119" y="202"/>
                    <a:pt x="151" y="189"/>
                  </a:cubicBezTo>
                  <a:cubicBezTo>
                    <a:pt x="183" y="175"/>
                    <a:pt x="204" y="144"/>
                    <a:pt x="204" y="110"/>
                  </a:cubicBezTo>
                  <a:cubicBezTo>
                    <a:pt x="204" y="110"/>
                    <a:pt x="204" y="110"/>
                    <a:pt x="204" y="110"/>
                  </a:cubicBezTo>
                  <a:cubicBezTo>
                    <a:pt x="204" y="63"/>
                    <a:pt x="165" y="24"/>
                    <a:pt x="118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Freeform 59">
              <a:extLst>
                <a:ext uri="{FF2B5EF4-FFF2-40B4-BE49-F238E27FC236}">
                  <a16:creationId xmlns:a16="http://schemas.microsoft.com/office/drawing/2014/main" id="{67B8F7DF-68D8-2510-DC74-404E9F84C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913" y="3411538"/>
              <a:ext cx="471488" cy="312738"/>
            </a:xfrm>
            <a:custGeom>
              <a:avLst/>
              <a:gdLst>
                <a:gd name="T0" fmla="*/ 14 w 626"/>
                <a:gd name="T1" fmla="*/ 415 h 415"/>
                <a:gd name="T2" fmla="*/ 4 w 626"/>
                <a:gd name="T3" fmla="*/ 410 h 415"/>
                <a:gd name="T4" fmla="*/ 7 w 626"/>
                <a:gd name="T5" fmla="*/ 393 h 415"/>
                <a:gd name="T6" fmla="*/ 605 w 626"/>
                <a:gd name="T7" fmla="*/ 3 h 415"/>
                <a:gd name="T8" fmla="*/ 622 w 626"/>
                <a:gd name="T9" fmla="*/ 7 h 415"/>
                <a:gd name="T10" fmla="*/ 618 w 626"/>
                <a:gd name="T11" fmla="*/ 24 h 415"/>
                <a:gd name="T12" fmla="*/ 21 w 626"/>
                <a:gd name="T13" fmla="*/ 414 h 415"/>
                <a:gd name="T14" fmla="*/ 14 w 626"/>
                <a:gd name="T15" fmla="*/ 41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6" h="415">
                  <a:moveTo>
                    <a:pt x="14" y="415"/>
                  </a:moveTo>
                  <a:cubicBezTo>
                    <a:pt x="10" y="415"/>
                    <a:pt x="6" y="414"/>
                    <a:pt x="4" y="410"/>
                  </a:cubicBezTo>
                  <a:cubicBezTo>
                    <a:pt x="0" y="405"/>
                    <a:pt x="2" y="397"/>
                    <a:pt x="7" y="393"/>
                  </a:cubicBezTo>
                  <a:cubicBezTo>
                    <a:pt x="605" y="3"/>
                    <a:pt x="605" y="3"/>
                    <a:pt x="605" y="3"/>
                  </a:cubicBezTo>
                  <a:cubicBezTo>
                    <a:pt x="611" y="0"/>
                    <a:pt x="618" y="1"/>
                    <a:pt x="622" y="7"/>
                  </a:cubicBezTo>
                  <a:cubicBezTo>
                    <a:pt x="626" y="13"/>
                    <a:pt x="624" y="20"/>
                    <a:pt x="618" y="24"/>
                  </a:cubicBezTo>
                  <a:cubicBezTo>
                    <a:pt x="21" y="414"/>
                    <a:pt x="21" y="414"/>
                    <a:pt x="21" y="414"/>
                  </a:cubicBezTo>
                  <a:cubicBezTo>
                    <a:pt x="19" y="415"/>
                    <a:pt x="16" y="415"/>
                    <a:pt x="14" y="4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8" name="Title 27">
            <a:extLst>
              <a:ext uri="{FF2B5EF4-FFF2-40B4-BE49-F238E27FC236}">
                <a16:creationId xmlns:a16="http://schemas.microsoft.com/office/drawing/2014/main" id="{2C806483-0545-614A-C22D-E2E8C19EA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Diagram </a:t>
            </a:r>
          </a:p>
        </p:txBody>
      </p:sp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E65E1AB8-11DA-9F46-E3F5-3FEDD588B6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  <p:pic>
        <p:nvPicPr>
          <p:cNvPr id="9218" name="Picture 2" descr="Password Safe Cloud Security Whitepaper">
            <a:extLst>
              <a:ext uri="{FF2B5EF4-FFF2-40B4-BE49-F238E27FC236}">
                <a16:creationId xmlns:a16="http://schemas.microsoft.com/office/drawing/2014/main" id="{6714B2C0-BBCA-FC9D-A18F-A82239EB8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06" y="450884"/>
            <a:ext cx="7293328" cy="4241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519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BF60D-468C-E168-7444-6FC4F9722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1B7A9164-81DA-E28A-24AF-F8472D3DEC90}"/>
              </a:ext>
            </a:extLst>
          </p:cNvPr>
          <p:cNvGrpSpPr/>
          <p:nvPr/>
        </p:nvGrpSpPr>
        <p:grpSpPr>
          <a:xfrm>
            <a:off x="1646076" y="4029452"/>
            <a:ext cx="570912" cy="419326"/>
            <a:chOff x="6759575" y="3000375"/>
            <a:chExt cx="906463" cy="746125"/>
          </a:xfrm>
          <a:solidFill>
            <a:srgbClr val="F4F3F9"/>
          </a:solidFill>
        </p:grpSpPr>
        <p:sp>
          <p:nvSpPr>
            <p:cNvPr id="50" name="Freeform 55">
              <a:extLst>
                <a:ext uri="{FF2B5EF4-FFF2-40B4-BE49-F238E27FC236}">
                  <a16:creationId xmlns:a16="http://schemas.microsoft.com/office/drawing/2014/main" id="{84FEE0A8-F4CC-F226-6900-99045C95A4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1400" y="3000375"/>
              <a:ext cx="274638" cy="358775"/>
            </a:xfrm>
            <a:custGeom>
              <a:avLst/>
              <a:gdLst>
                <a:gd name="T0" fmla="*/ 182 w 364"/>
                <a:gd name="T1" fmla="*/ 476 h 476"/>
                <a:gd name="T2" fmla="*/ 152 w 364"/>
                <a:gd name="T3" fmla="*/ 462 h 476"/>
                <a:gd name="T4" fmla="*/ 0 w 364"/>
                <a:gd name="T5" fmla="*/ 182 h 476"/>
                <a:gd name="T6" fmla="*/ 53 w 364"/>
                <a:gd name="T7" fmla="*/ 53 h 476"/>
                <a:gd name="T8" fmla="*/ 182 w 364"/>
                <a:gd name="T9" fmla="*/ 0 h 476"/>
                <a:gd name="T10" fmla="*/ 182 w 364"/>
                <a:gd name="T11" fmla="*/ 0 h 476"/>
                <a:gd name="T12" fmla="*/ 364 w 364"/>
                <a:gd name="T13" fmla="*/ 182 h 476"/>
                <a:gd name="T14" fmla="*/ 212 w 364"/>
                <a:gd name="T15" fmla="*/ 462 h 476"/>
                <a:gd name="T16" fmla="*/ 182 w 364"/>
                <a:gd name="T17" fmla="*/ 476 h 476"/>
                <a:gd name="T18" fmla="*/ 182 w 364"/>
                <a:gd name="T19" fmla="*/ 24 h 476"/>
                <a:gd name="T20" fmla="*/ 70 w 364"/>
                <a:gd name="T21" fmla="*/ 70 h 476"/>
                <a:gd name="T22" fmla="*/ 24 w 364"/>
                <a:gd name="T23" fmla="*/ 182 h 476"/>
                <a:gd name="T24" fmla="*/ 171 w 364"/>
                <a:gd name="T25" fmla="*/ 447 h 476"/>
                <a:gd name="T26" fmla="*/ 182 w 364"/>
                <a:gd name="T27" fmla="*/ 452 h 476"/>
                <a:gd name="T28" fmla="*/ 193 w 364"/>
                <a:gd name="T29" fmla="*/ 447 h 476"/>
                <a:gd name="T30" fmla="*/ 340 w 364"/>
                <a:gd name="T31" fmla="*/ 182 h 476"/>
                <a:gd name="T32" fmla="*/ 182 w 364"/>
                <a:gd name="T33" fmla="*/ 24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4" h="476">
                  <a:moveTo>
                    <a:pt x="182" y="476"/>
                  </a:moveTo>
                  <a:cubicBezTo>
                    <a:pt x="170" y="476"/>
                    <a:pt x="159" y="471"/>
                    <a:pt x="152" y="462"/>
                  </a:cubicBezTo>
                  <a:cubicBezTo>
                    <a:pt x="95" y="389"/>
                    <a:pt x="0" y="257"/>
                    <a:pt x="0" y="182"/>
                  </a:cubicBezTo>
                  <a:cubicBezTo>
                    <a:pt x="0" y="133"/>
                    <a:pt x="19" y="87"/>
                    <a:pt x="53" y="53"/>
                  </a:cubicBezTo>
                  <a:cubicBezTo>
                    <a:pt x="87" y="19"/>
                    <a:pt x="133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282" y="0"/>
                    <a:pt x="364" y="81"/>
                    <a:pt x="364" y="182"/>
                  </a:cubicBezTo>
                  <a:cubicBezTo>
                    <a:pt x="364" y="257"/>
                    <a:pt x="269" y="389"/>
                    <a:pt x="212" y="462"/>
                  </a:cubicBezTo>
                  <a:cubicBezTo>
                    <a:pt x="205" y="471"/>
                    <a:pt x="194" y="476"/>
                    <a:pt x="182" y="476"/>
                  </a:cubicBezTo>
                  <a:close/>
                  <a:moveTo>
                    <a:pt x="182" y="24"/>
                  </a:moveTo>
                  <a:cubicBezTo>
                    <a:pt x="140" y="24"/>
                    <a:pt x="100" y="40"/>
                    <a:pt x="70" y="70"/>
                  </a:cubicBezTo>
                  <a:cubicBezTo>
                    <a:pt x="40" y="100"/>
                    <a:pt x="24" y="140"/>
                    <a:pt x="24" y="182"/>
                  </a:cubicBezTo>
                  <a:cubicBezTo>
                    <a:pt x="24" y="254"/>
                    <a:pt x="136" y="403"/>
                    <a:pt x="171" y="447"/>
                  </a:cubicBezTo>
                  <a:cubicBezTo>
                    <a:pt x="174" y="450"/>
                    <a:pt x="178" y="452"/>
                    <a:pt x="182" y="452"/>
                  </a:cubicBezTo>
                  <a:cubicBezTo>
                    <a:pt x="186" y="452"/>
                    <a:pt x="190" y="450"/>
                    <a:pt x="193" y="447"/>
                  </a:cubicBezTo>
                  <a:cubicBezTo>
                    <a:pt x="285" y="329"/>
                    <a:pt x="340" y="230"/>
                    <a:pt x="340" y="182"/>
                  </a:cubicBezTo>
                  <a:cubicBezTo>
                    <a:pt x="340" y="95"/>
                    <a:pt x="269" y="24"/>
                    <a:pt x="18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Freeform 56">
              <a:extLst>
                <a:ext uri="{FF2B5EF4-FFF2-40B4-BE49-F238E27FC236}">
                  <a16:creationId xmlns:a16="http://schemas.microsoft.com/office/drawing/2014/main" id="{5FB4E5BD-40A1-7AF8-45D0-1FDA7A3949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0775" y="3079750"/>
              <a:ext cx="114300" cy="115888"/>
            </a:xfrm>
            <a:custGeom>
              <a:avLst/>
              <a:gdLst>
                <a:gd name="T0" fmla="*/ 76 w 152"/>
                <a:gd name="T1" fmla="*/ 152 h 152"/>
                <a:gd name="T2" fmla="*/ 0 w 152"/>
                <a:gd name="T3" fmla="*/ 76 h 152"/>
                <a:gd name="T4" fmla="*/ 76 w 152"/>
                <a:gd name="T5" fmla="*/ 0 h 152"/>
                <a:gd name="T6" fmla="*/ 76 w 152"/>
                <a:gd name="T7" fmla="*/ 0 h 152"/>
                <a:gd name="T8" fmla="*/ 130 w 152"/>
                <a:gd name="T9" fmla="*/ 22 h 152"/>
                <a:gd name="T10" fmla="*/ 152 w 152"/>
                <a:gd name="T11" fmla="*/ 76 h 152"/>
                <a:gd name="T12" fmla="*/ 152 w 152"/>
                <a:gd name="T13" fmla="*/ 76 h 152"/>
                <a:gd name="T14" fmla="*/ 76 w 152"/>
                <a:gd name="T15" fmla="*/ 152 h 152"/>
                <a:gd name="T16" fmla="*/ 76 w 152"/>
                <a:gd name="T17" fmla="*/ 24 h 152"/>
                <a:gd name="T18" fmla="*/ 76 w 152"/>
                <a:gd name="T19" fmla="*/ 24 h 152"/>
                <a:gd name="T20" fmla="*/ 24 w 152"/>
                <a:gd name="T21" fmla="*/ 76 h 152"/>
                <a:gd name="T22" fmla="*/ 76 w 152"/>
                <a:gd name="T23" fmla="*/ 128 h 152"/>
                <a:gd name="T24" fmla="*/ 128 w 152"/>
                <a:gd name="T25" fmla="*/ 76 h 152"/>
                <a:gd name="T26" fmla="*/ 128 w 152"/>
                <a:gd name="T27" fmla="*/ 76 h 152"/>
                <a:gd name="T28" fmla="*/ 113 w 152"/>
                <a:gd name="T29" fmla="*/ 39 h 152"/>
                <a:gd name="T30" fmla="*/ 76 w 152"/>
                <a:gd name="T31" fmla="*/ 2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2" h="152">
                  <a:moveTo>
                    <a:pt x="76" y="152"/>
                  </a:moveTo>
                  <a:cubicBezTo>
                    <a:pt x="34" y="152"/>
                    <a:pt x="0" y="118"/>
                    <a:pt x="0" y="76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6" y="0"/>
                    <a:pt x="115" y="8"/>
                    <a:pt x="130" y="22"/>
                  </a:cubicBezTo>
                  <a:cubicBezTo>
                    <a:pt x="144" y="37"/>
                    <a:pt x="152" y="56"/>
                    <a:pt x="152" y="76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118"/>
                    <a:pt x="118" y="152"/>
                    <a:pt x="76" y="152"/>
                  </a:cubicBezTo>
                  <a:close/>
                  <a:moveTo>
                    <a:pt x="76" y="24"/>
                  </a:moveTo>
                  <a:cubicBezTo>
                    <a:pt x="76" y="24"/>
                    <a:pt x="76" y="24"/>
                    <a:pt x="76" y="24"/>
                  </a:cubicBezTo>
                  <a:cubicBezTo>
                    <a:pt x="47" y="24"/>
                    <a:pt x="24" y="47"/>
                    <a:pt x="24" y="76"/>
                  </a:cubicBezTo>
                  <a:cubicBezTo>
                    <a:pt x="24" y="104"/>
                    <a:pt x="47" y="128"/>
                    <a:pt x="76" y="128"/>
                  </a:cubicBezTo>
                  <a:cubicBezTo>
                    <a:pt x="104" y="128"/>
                    <a:pt x="128" y="104"/>
                    <a:pt x="128" y="76"/>
                  </a:cubicBezTo>
                  <a:cubicBezTo>
                    <a:pt x="128" y="76"/>
                    <a:pt x="128" y="76"/>
                    <a:pt x="128" y="76"/>
                  </a:cubicBezTo>
                  <a:cubicBezTo>
                    <a:pt x="128" y="62"/>
                    <a:pt x="122" y="49"/>
                    <a:pt x="113" y="39"/>
                  </a:cubicBezTo>
                  <a:cubicBezTo>
                    <a:pt x="103" y="29"/>
                    <a:pt x="90" y="24"/>
                    <a:pt x="76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Freeform 57">
              <a:extLst>
                <a:ext uri="{FF2B5EF4-FFF2-40B4-BE49-F238E27FC236}">
                  <a16:creationId xmlns:a16="http://schemas.microsoft.com/office/drawing/2014/main" id="{82AE7D43-CD44-54B6-5F2C-22B378EFBE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9575" y="3232150"/>
              <a:ext cx="361950" cy="514350"/>
            </a:xfrm>
            <a:custGeom>
              <a:avLst/>
              <a:gdLst>
                <a:gd name="T0" fmla="*/ 240 w 480"/>
                <a:gd name="T1" fmla="*/ 681 h 681"/>
                <a:gd name="T2" fmla="*/ 208 w 480"/>
                <a:gd name="T3" fmla="*/ 663 h 681"/>
                <a:gd name="T4" fmla="*/ 16 w 480"/>
                <a:gd name="T5" fmla="*/ 270 h 681"/>
                <a:gd name="T6" fmla="*/ 61 w 480"/>
                <a:gd name="T7" fmla="*/ 80 h 681"/>
                <a:gd name="T8" fmla="*/ 240 w 480"/>
                <a:gd name="T9" fmla="*/ 5 h 681"/>
                <a:gd name="T10" fmla="*/ 419 w 480"/>
                <a:gd name="T11" fmla="*/ 80 h 681"/>
                <a:gd name="T12" fmla="*/ 465 w 480"/>
                <a:gd name="T13" fmla="*/ 270 h 681"/>
                <a:gd name="T14" fmla="*/ 272 w 480"/>
                <a:gd name="T15" fmla="*/ 663 h 681"/>
                <a:gd name="T16" fmla="*/ 240 w 480"/>
                <a:gd name="T17" fmla="*/ 681 h 681"/>
                <a:gd name="T18" fmla="*/ 240 w 480"/>
                <a:gd name="T19" fmla="*/ 681 h 681"/>
                <a:gd name="T20" fmla="*/ 226 w 480"/>
                <a:gd name="T21" fmla="*/ 28 h 681"/>
                <a:gd name="T22" fmla="*/ 80 w 480"/>
                <a:gd name="T23" fmla="*/ 96 h 681"/>
                <a:gd name="T24" fmla="*/ 39 w 480"/>
                <a:gd name="T25" fmla="*/ 264 h 681"/>
                <a:gd name="T26" fmla="*/ 39 w 480"/>
                <a:gd name="T27" fmla="*/ 265 h 681"/>
                <a:gd name="T28" fmla="*/ 228 w 480"/>
                <a:gd name="T29" fmla="*/ 650 h 681"/>
                <a:gd name="T30" fmla="*/ 240 w 480"/>
                <a:gd name="T31" fmla="*/ 657 h 681"/>
                <a:gd name="T32" fmla="*/ 240 w 480"/>
                <a:gd name="T33" fmla="*/ 657 h 681"/>
                <a:gd name="T34" fmla="*/ 252 w 480"/>
                <a:gd name="T35" fmla="*/ 650 h 681"/>
                <a:gd name="T36" fmla="*/ 441 w 480"/>
                <a:gd name="T37" fmla="*/ 265 h 681"/>
                <a:gd name="T38" fmla="*/ 441 w 480"/>
                <a:gd name="T39" fmla="*/ 264 h 681"/>
                <a:gd name="T40" fmla="*/ 401 w 480"/>
                <a:gd name="T41" fmla="*/ 96 h 681"/>
                <a:gd name="T42" fmla="*/ 241 w 480"/>
                <a:gd name="T43" fmla="*/ 29 h 681"/>
                <a:gd name="T44" fmla="*/ 240 w 480"/>
                <a:gd name="T45" fmla="*/ 29 h 681"/>
                <a:gd name="T46" fmla="*/ 239 w 480"/>
                <a:gd name="T47" fmla="*/ 29 h 681"/>
                <a:gd name="T48" fmla="*/ 226 w 480"/>
                <a:gd name="T49" fmla="*/ 28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0" h="681">
                  <a:moveTo>
                    <a:pt x="240" y="681"/>
                  </a:moveTo>
                  <a:cubicBezTo>
                    <a:pt x="227" y="681"/>
                    <a:pt x="214" y="674"/>
                    <a:pt x="208" y="663"/>
                  </a:cubicBezTo>
                  <a:cubicBezTo>
                    <a:pt x="156" y="580"/>
                    <a:pt x="35" y="376"/>
                    <a:pt x="16" y="270"/>
                  </a:cubicBezTo>
                  <a:cubicBezTo>
                    <a:pt x="0" y="203"/>
                    <a:pt x="17" y="132"/>
                    <a:pt x="61" y="80"/>
                  </a:cubicBezTo>
                  <a:cubicBezTo>
                    <a:pt x="105" y="28"/>
                    <a:pt x="172" y="0"/>
                    <a:pt x="240" y="5"/>
                  </a:cubicBezTo>
                  <a:cubicBezTo>
                    <a:pt x="308" y="0"/>
                    <a:pt x="375" y="28"/>
                    <a:pt x="419" y="80"/>
                  </a:cubicBezTo>
                  <a:cubicBezTo>
                    <a:pt x="464" y="132"/>
                    <a:pt x="480" y="203"/>
                    <a:pt x="465" y="270"/>
                  </a:cubicBezTo>
                  <a:cubicBezTo>
                    <a:pt x="449" y="362"/>
                    <a:pt x="325" y="575"/>
                    <a:pt x="272" y="663"/>
                  </a:cubicBezTo>
                  <a:cubicBezTo>
                    <a:pt x="266" y="674"/>
                    <a:pt x="253" y="681"/>
                    <a:pt x="240" y="681"/>
                  </a:cubicBezTo>
                  <a:cubicBezTo>
                    <a:pt x="240" y="681"/>
                    <a:pt x="240" y="681"/>
                    <a:pt x="240" y="681"/>
                  </a:cubicBezTo>
                  <a:close/>
                  <a:moveTo>
                    <a:pt x="226" y="28"/>
                  </a:moveTo>
                  <a:cubicBezTo>
                    <a:pt x="170" y="28"/>
                    <a:pt x="116" y="53"/>
                    <a:pt x="80" y="96"/>
                  </a:cubicBezTo>
                  <a:cubicBezTo>
                    <a:pt x="40" y="142"/>
                    <a:pt x="25" y="205"/>
                    <a:pt x="39" y="264"/>
                  </a:cubicBezTo>
                  <a:cubicBezTo>
                    <a:pt x="39" y="265"/>
                    <a:pt x="39" y="265"/>
                    <a:pt x="39" y="265"/>
                  </a:cubicBezTo>
                  <a:cubicBezTo>
                    <a:pt x="58" y="368"/>
                    <a:pt x="178" y="569"/>
                    <a:pt x="228" y="650"/>
                  </a:cubicBezTo>
                  <a:cubicBezTo>
                    <a:pt x="231" y="655"/>
                    <a:pt x="235" y="657"/>
                    <a:pt x="240" y="657"/>
                  </a:cubicBezTo>
                  <a:cubicBezTo>
                    <a:pt x="240" y="657"/>
                    <a:pt x="240" y="657"/>
                    <a:pt x="240" y="657"/>
                  </a:cubicBezTo>
                  <a:cubicBezTo>
                    <a:pt x="245" y="657"/>
                    <a:pt x="249" y="655"/>
                    <a:pt x="252" y="650"/>
                  </a:cubicBezTo>
                  <a:cubicBezTo>
                    <a:pt x="304" y="564"/>
                    <a:pt x="426" y="353"/>
                    <a:pt x="441" y="265"/>
                  </a:cubicBezTo>
                  <a:cubicBezTo>
                    <a:pt x="441" y="264"/>
                    <a:pt x="441" y="264"/>
                    <a:pt x="441" y="264"/>
                  </a:cubicBezTo>
                  <a:cubicBezTo>
                    <a:pt x="455" y="205"/>
                    <a:pt x="440" y="142"/>
                    <a:pt x="401" y="96"/>
                  </a:cubicBezTo>
                  <a:cubicBezTo>
                    <a:pt x="362" y="49"/>
                    <a:pt x="302" y="24"/>
                    <a:pt x="241" y="29"/>
                  </a:cubicBezTo>
                  <a:cubicBezTo>
                    <a:pt x="240" y="29"/>
                    <a:pt x="240" y="29"/>
                    <a:pt x="240" y="29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35" y="28"/>
                    <a:pt x="230" y="28"/>
                    <a:pt x="226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Freeform 58">
              <a:extLst>
                <a:ext uri="{FF2B5EF4-FFF2-40B4-BE49-F238E27FC236}">
                  <a16:creationId xmlns:a16="http://schemas.microsoft.com/office/drawing/2014/main" id="{220F0D44-6ED5-516A-E3AF-A037CEB4E0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1650" y="3314700"/>
              <a:ext cx="171450" cy="165100"/>
            </a:xfrm>
            <a:custGeom>
              <a:avLst/>
              <a:gdLst>
                <a:gd name="T0" fmla="*/ 118 w 228"/>
                <a:gd name="T1" fmla="*/ 219 h 219"/>
                <a:gd name="T2" fmla="*/ 41 w 228"/>
                <a:gd name="T3" fmla="*/ 187 h 219"/>
                <a:gd name="T4" fmla="*/ 17 w 228"/>
                <a:gd name="T5" fmla="*/ 68 h 219"/>
                <a:gd name="T6" fmla="*/ 118 w 228"/>
                <a:gd name="T7" fmla="*/ 0 h 219"/>
                <a:gd name="T8" fmla="*/ 228 w 228"/>
                <a:gd name="T9" fmla="*/ 110 h 219"/>
                <a:gd name="T10" fmla="*/ 228 w 228"/>
                <a:gd name="T11" fmla="*/ 110 h 219"/>
                <a:gd name="T12" fmla="*/ 160 w 228"/>
                <a:gd name="T13" fmla="*/ 211 h 219"/>
                <a:gd name="T14" fmla="*/ 118 w 228"/>
                <a:gd name="T15" fmla="*/ 219 h 219"/>
                <a:gd name="T16" fmla="*/ 118 w 228"/>
                <a:gd name="T17" fmla="*/ 24 h 219"/>
                <a:gd name="T18" fmla="*/ 39 w 228"/>
                <a:gd name="T19" fmla="*/ 77 h 219"/>
                <a:gd name="T20" fmla="*/ 58 w 228"/>
                <a:gd name="T21" fmla="*/ 170 h 219"/>
                <a:gd name="T22" fmla="*/ 151 w 228"/>
                <a:gd name="T23" fmla="*/ 189 h 219"/>
                <a:gd name="T24" fmla="*/ 204 w 228"/>
                <a:gd name="T25" fmla="*/ 110 h 219"/>
                <a:gd name="T26" fmla="*/ 204 w 228"/>
                <a:gd name="T27" fmla="*/ 110 h 219"/>
                <a:gd name="T28" fmla="*/ 118 w 228"/>
                <a:gd name="T29" fmla="*/ 24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19">
                  <a:moveTo>
                    <a:pt x="118" y="219"/>
                  </a:moveTo>
                  <a:cubicBezTo>
                    <a:pt x="90" y="219"/>
                    <a:pt x="62" y="208"/>
                    <a:pt x="41" y="187"/>
                  </a:cubicBezTo>
                  <a:cubicBezTo>
                    <a:pt x="9" y="156"/>
                    <a:pt x="0" y="109"/>
                    <a:pt x="17" y="68"/>
                  </a:cubicBezTo>
                  <a:cubicBezTo>
                    <a:pt x="34" y="27"/>
                    <a:pt x="74" y="0"/>
                    <a:pt x="118" y="0"/>
                  </a:cubicBezTo>
                  <a:cubicBezTo>
                    <a:pt x="179" y="0"/>
                    <a:pt x="228" y="49"/>
                    <a:pt x="228" y="110"/>
                  </a:cubicBezTo>
                  <a:cubicBezTo>
                    <a:pt x="228" y="110"/>
                    <a:pt x="228" y="110"/>
                    <a:pt x="228" y="110"/>
                  </a:cubicBezTo>
                  <a:cubicBezTo>
                    <a:pt x="228" y="154"/>
                    <a:pt x="201" y="194"/>
                    <a:pt x="160" y="211"/>
                  </a:cubicBezTo>
                  <a:cubicBezTo>
                    <a:pt x="147" y="217"/>
                    <a:pt x="132" y="219"/>
                    <a:pt x="118" y="219"/>
                  </a:cubicBezTo>
                  <a:close/>
                  <a:moveTo>
                    <a:pt x="118" y="24"/>
                  </a:moveTo>
                  <a:cubicBezTo>
                    <a:pt x="84" y="24"/>
                    <a:pt x="53" y="45"/>
                    <a:pt x="39" y="77"/>
                  </a:cubicBezTo>
                  <a:cubicBezTo>
                    <a:pt x="26" y="109"/>
                    <a:pt x="33" y="146"/>
                    <a:pt x="58" y="170"/>
                  </a:cubicBezTo>
                  <a:cubicBezTo>
                    <a:pt x="82" y="195"/>
                    <a:pt x="119" y="202"/>
                    <a:pt x="151" y="189"/>
                  </a:cubicBezTo>
                  <a:cubicBezTo>
                    <a:pt x="183" y="175"/>
                    <a:pt x="204" y="144"/>
                    <a:pt x="204" y="110"/>
                  </a:cubicBezTo>
                  <a:cubicBezTo>
                    <a:pt x="204" y="110"/>
                    <a:pt x="204" y="110"/>
                    <a:pt x="204" y="110"/>
                  </a:cubicBezTo>
                  <a:cubicBezTo>
                    <a:pt x="204" y="63"/>
                    <a:pt x="165" y="24"/>
                    <a:pt x="118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Freeform 59">
              <a:extLst>
                <a:ext uri="{FF2B5EF4-FFF2-40B4-BE49-F238E27FC236}">
                  <a16:creationId xmlns:a16="http://schemas.microsoft.com/office/drawing/2014/main" id="{8F5A1446-4B5E-030B-2E0A-977062ACEEB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913" y="3411538"/>
              <a:ext cx="471488" cy="312738"/>
            </a:xfrm>
            <a:custGeom>
              <a:avLst/>
              <a:gdLst>
                <a:gd name="T0" fmla="*/ 14 w 626"/>
                <a:gd name="T1" fmla="*/ 415 h 415"/>
                <a:gd name="T2" fmla="*/ 4 w 626"/>
                <a:gd name="T3" fmla="*/ 410 h 415"/>
                <a:gd name="T4" fmla="*/ 7 w 626"/>
                <a:gd name="T5" fmla="*/ 393 h 415"/>
                <a:gd name="T6" fmla="*/ 605 w 626"/>
                <a:gd name="T7" fmla="*/ 3 h 415"/>
                <a:gd name="T8" fmla="*/ 622 w 626"/>
                <a:gd name="T9" fmla="*/ 7 h 415"/>
                <a:gd name="T10" fmla="*/ 618 w 626"/>
                <a:gd name="T11" fmla="*/ 24 h 415"/>
                <a:gd name="T12" fmla="*/ 21 w 626"/>
                <a:gd name="T13" fmla="*/ 414 h 415"/>
                <a:gd name="T14" fmla="*/ 14 w 626"/>
                <a:gd name="T15" fmla="*/ 41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6" h="415">
                  <a:moveTo>
                    <a:pt x="14" y="415"/>
                  </a:moveTo>
                  <a:cubicBezTo>
                    <a:pt x="10" y="415"/>
                    <a:pt x="6" y="414"/>
                    <a:pt x="4" y="410"/>
                  </a:cubicBezTo>
                  <a:cubicBezTo>
                    <a:pt x="0" y="405"/>
                    <a:pt x="2" y="397"/>
                    <a:pt x="7" y="393"/>
                  </a:cubicBezTo>
                  <a:cubicBezTo>
                    <a:pt x="605" y="3"/>
                    <a:pt x="605" y="3"/>
                    <a:pt x="605" y="3"/>
                  </a:cubicBezTo>
                  <a:cubicBezTo>
                    <a:pt x="611" y="0"/>
                    <a:pt x="618" y="1"/>
                    <a:pt x="622" y="7"/>
                  </a:cubicBezTo>
                  <a:cubicBezTo>
                    <a:pt x="626" y="13"/>
                    <a:pt x="624" y="20"/>
                    <a:pt x="618" y="24"/>
                  </a:cubicBezTo>
                  <a:cubicBezTo>
                    <a:pt x="21" y="414"/>
                    <a:pt x="21" y="414"/>
                    <a:pt x="21" y="414"/>
                  </a:cubicBezTo>
                  <a:cubicBezTo>
                    <a:pt x="19" y="415"/>
                    <a:pt x="16" y="415"/>
                    <a:pt x="14" y="4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8" name="Title 27">
            <a:extLst>
              <a:ext uri="{FF2B5EF4-FFF2-40B4-BE49-F238E27FC236}">
                <a16:creationId xmlns:a16="http://schemas.microsoft.com/office/drawing/2014/main" id="{ED07A714-0D25-FAD5-A0EC-06FD3267E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BeyondTrust Key Features</a:t>
            </a:r>
          </a:p>
        </p:txBody>
      </p:sp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DF0943EC-E640-2913-D7D8-2A085883F2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TCS confidential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F3CE50D-76AB-BA0F-FD47-6E4328FECDCF}"/>
              </a:ext>
            </a:extLst>
          </p:cNvPr>
          <p:cNvSpPr/>
          <p:nvPr/>
        </p:nvSpPr>
        <p:spPr>
          <a:xfrm>
            <a:off x="306065" y="673211"/>
            <a:ext cx="3475897" cy="3706409"/>
          </a:xfrm>
          <a:prstGeom prst="roundRect">
            <a:avLst/>
          </a:prstGeom>
          <a:noFill/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81E74E-0F45-D631-823F-E469E9F872B0}"/>
              </a:ext>
            </a:extLst>
          </p:cNvPr>
          <p:cNvSpPr txBox="1"/>
          <p:nvPr/>
        </p:nvSpPr>
        <p:spPr>
          <a:xfrm>
            <a:off x="4869161" y="1124522"/>
            <a:ext cx="4572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Endpoint Privilege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Least privilege enforcement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Application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Credential theft protection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User activity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r>
              <a:rPr lang="en-US" sz="1600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Advanced Session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Real-time session shadowing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Granular command filtering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Session analytics and reporting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Incident response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E69E9FC-7149-2AF1-191A-42827123192E}"/>
              </a:ext>
            </a:extLst>
          </p:cNvPr>
          <p:cNvSpPr/>
          <p:nvPr/>
        </p:nvSpPr>
        <p:spPr>
          <a:xfrm>
            <a:off x="4674315" y="641294"/>
            <a:ext cx="3475897" cy="3706409"/>
          </a:xfrm>
          <a:prstGeom prst="roundRect">
            <a:avLst/>
          </a:prstGeom>
          <a:noFill/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B51E7F-6C1F-F374-D8F2-F4B3D542B46B}"/>
              </a:ext>
            </a:extLst>
          </p:cNvPr>
          <p:cNvSpPr txBox="1"/>
          <p:nvPr/>
        </p:nvSpPr>
        <p:spPr>
          <a:xfrm>
            <a:off x="387838" y="1136791"/>
            <a:ext cx="4572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Password Safe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Centralized credential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Automatic discovery and onboarding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Password rotation and verification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API-first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r>
              <a:rPr lang="en-US" sz="1600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Remote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Secure remote connections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Jump server functionality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Session recording and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Multi-platform support</a:t>
            </a:r>
          </a:p>
        </p:txBody>
      </p:sp>
    </p:spTree>
    <p:extLst>
      <p:ext uri="{BB962C8B-B14F-4D97-AF65-F5344CB8AC3E}">
        <p14:creationId xmlns:p14="http://schemas.microsoft.com/office/powerpoint/2010/main" val="18257623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5CD14-4CEC-93B9-AAA1-14B289A61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B4A7C7E1-C82C-3A06-B79D-46D1F58A30C6}"/>
              </a:ext>
            </a:extLst>
          </p:cNvPr>
          <p:cNvGrpSpPr/>
          <p:nvPr/>
        </p:nvGrpSpPr>
        <p:grpSpPr>
          <a:xfrm>
            <a:off x="1646076" y="4029452"/>
            <a:ext cx="570912" cy="419326"/>
            <a:chOff x="6759575" y="3000375"/>
            <a:chExt cx="906463" cy="746125"/>
          </a:xfrm>
          <a:solidFill>
            <a:srgbClr val="F4F3F9"/>
          </a:solidFill>
        </p:grpSpPr>
        <p:sp>
          <p:nvSpPr>
            <p:cNvPr id="50" name="Freeform 55">
              <a:extLst>
                <a:ext uri="{FF2B5EF4-FFF2-40B4-BE49-F238E27FC236}">
                  <a16:creationId xmlns:a16="http://schemas.microsoft.com/office/drawing/2014/main" id="{BABF8A44-D1A8-A5BE-C636-34CC066507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1400" y="3000375"/>
              <a:ext cx="274638" cy="358775"/>
            </a:xfrm>
            <a:custGeom>
              <a:avLst/>
              <a:gdLst>
                <a:gd name="T0" fmla="*/ 182 w 364"/>
                <a:gd name="T1" fmla="*/ 476 h 476"/>
                <a:gd name="T2" fmla="*/ 152 w 364"/>
                <a:gd name="T3" fmla="*/ 462 h 476"/>
                <a:gd name="T4" fmla="*/ 0 w 364"/>
                <a:gd name="T5" fmla="*/ 182 h 476"/>
                <a:gd name="T6" fmla="*/ 53 w 364"/>
                <a:gd name="T7" fmla="*/ 53 h 476"/>
                <a:gd name="T8" fmla="*/ 182 w 364"/>
                <a:gd name="T9" fmla="*/ 0 h 476"/>
                <a:gd name="T10" fmla="*/ 182 w 364"/>
                <a:gd name="T11" fmla="*/ 0 h 476"/>
                <a:gd name="T12" fmla="*/ 364 w 364"/>
                <a:gd name="T13" fmla="*/ 182 h 476"/>
                <a:gd name="T14" fmla="*/ 212 w 364"/>
                <a:gd name="T15" fmla="*/ 462 h 476"/>
                <a:gd name="T16" fmla="*/ 182 w 364"/>
                <a:gd name="T17" fmla="*/ 476 h 476"/>
                <a:gd name="T18" fmla="*/ 182 w 364"/>
                <a:gd name="T19" fmla="*/ 24 h 476"/>
                <a:gd name="T20" fmla="*/ 70 w 364"/>
                <a:gd name="T21" fmla="*/ 70 h 476"/>
                <a:gd name="T22" fmla="*/ 24 w 364"/>
                <a:gd name="T23" fmla="*/ 182 h 476"/>
                <a:gd name="T24" fmla="*/ 171 w 364"/>
                <a:gd name="T25" fmla="*/ 447 h 476"/>
                <a:gd name="T26" fmla="*/ 182 w 364"/>
                <a:gd name="T27" fmla="*/ 452 h 476"/>
                <a:gd name="T28" fmla="*/ 193 w 364"/>
                <a:gd name="T29" fmla="*/ 447 h 476"/>
                <a:gd name="T30" fmla="*/ 340 w 364"/>
                <a:gd name="T31" fmla="*/ 182 h 476"/>
                <a:gd name="T32" fmla="*/ 182 w 364"/>
                <a:gd name="T33" fmla="*/ 24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4" h="476">
                  <a:moveTo>
                    <a:pt x="182" y="476"/>
                  </a:moveTo>
                  <a:cubicBezTo>
                    <a:pt x="170" y="476"/>
                    <a:pt x="159" y="471"/>
                    <a:pt x="152" y="462"/>
                  </a:cubicBezTo>
                  <a:cubicBezTo>
                    <a:pt x="95" y="389"/>
                    <a:pt x="0" y="257"/>
                    <a:pt x="0" y="182"/>
                  </a:cubicBezTo>
                  <a:cubicBezTo>
                    <a:pt x="0" y="133"/>
                    <a:pt x="19" y="87"/>
                    <a:pt x="53" y="53"/>
                  </a:cubicBezTo>
                  <a:cubicBezTo>
                    <a:pt x="87" y="19"/>
                    <a:pt x="133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282" y="0"/>
                    <a:pt x="364" y="81"/>
                    <a:pt x="364" y="182"/>
                  </a:cubicBezTo>
                  <a:cubicBezTo>
                    <a:pt x="364" y="257"/>
                    <a:pt x="269" y="389"/>
                    <a:pt x="212" y="462"/>
                  </a:cubicBezTo>
                  <a:cubicBezTo>
                    <a:pt x="205" y="471"/>
                    <a:pt x="194" y="476"/>
                    <a:pt x="182" y="476"/>
                  </a:cubicBezTo>
                  <a:close/>
                  <a:moveTo>
                    <a:pt x="182" y="24"/>
                  </a:moveTo>
                  <a:cubicBezTo>
                    <a:pt x="140" y="24"/>
                    <a:pt x="100" y="40"/>
                    <a:pt x="70" y="70"/>
                  </a:cubicBezTo>
                  <a:cubicBezTo>
                    <a:pt x="40" y="100"/>
                    <a:pt x="24" y="140"/>
                    <a:pt x="24" y="182"/>
                  </a:cubicBezTo>
                  <a:cubicBezTo>
                    <a:pt x="24" y="254"/>
                    <a:pt x="136" y="403"/>
                    <a:pt x="171" y="447"/>
                  </a:cubicBezTo>
                  <a:cubicBezTo>
                    <a:pt x="174" y="450"/>
                    <a:pt x="178" y="452"/>
                    <a:pt x="182" y="452"/>
                  </a:cubicBezTo>
                  <a:cubicBezTo>
                    <a:pt x="186" y="452"/>
                    <a:pt x="190" y="450"/>
                    <a:pt x="193" y="447"/>
                  </a:cubicBezTo>
                  <a:cubicBezTo>
                    <a:pt x="285" y="329"/>
                    <a:pt x="340" y="230"/>
                    <a:pt x="340" y="182"/>
                  </a:cubicBezTo>
                  <a:cubicBezTo>
                    <a:pt x="340" y="95"/>
                    <a:pt x="269" y="24"/>
                    <a:pt x="18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Freeform 56">
              <a:extLst>
                <a:ext uri="{FF2B5EF4-FFF2-40B4-BE49-F238E27FC236}">
                  <a16:creationId xmlns:a16="http://schemas.microsoft.com/office/drawing/2014/main" id="{7553EA8F-7EEE-80F2-B921-7E8DB13B89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0775" y="3079750"/>
              <a:ext cx="114300" cy="115888"/>
            </a:xfrm>
            <a:custGeom>
              <a:avLst/>
              <a:gdLst>
                <a:gd name="T0" fmla="*/ 76 w 152"/>
                <a:gd name="T1" fmla="*/ 152 h 152"/>
                <a:gd name="T2" fmla="*/ 0 w 152"/>
                <a:gd name="T3" fmla="*/ 76 h 152"/>
                <a:gd name="T4" fmla="*/ 76 w 152"/>
                <a:gd name="T5" fmla="*/ 0 h 152"/>
                <a:gd name="T6" fmla="*/ 76 w 152"/>
                <a:gd name="T7" fmla="*/ 0 h 152"/>
                <a:gd name="T8" fmla="*/ 130 w 152"/>
                <a:gd name="T9" fmla="*/ 22 h 152"/>
                <a:gd name="T10" fmla="*/ 152 w 152"/>
                <a:gd name="T11" fmla="*/ 76 h 152"/>
                <a:gd name="T12" fmla="*/ 152 w 152"/>
                <a:gd name="T13" fmla="*/ 76 h 152"/>
                <a:gd name="T14" fmla="*/ 76 w 152"/>
                <a:gd name="T15" fmla="*/ 152 h 152"/>
                <a:gd name="T16" fmla="*/ 76 w 152"/>
                <a:gd name="T17" fmla="*/ 24 h 152"/>
                <a:gd name="T18" fmla="*/ 76 w 152"/>
                <a:gd name="T19" fmla="*/ 24 h 152"/>
                <a:gd name="T20" fmla="*/ 24 w 152"/>
                <a:gd name="T21" fmla="*/ 76 h 152"/>
                <a:gd name="T22" fmla="*/ 76 w 152"/>
                <a:gd name="T23" fmla="*/ 128 h 152"/>
                <a:gd name="T24" fmla="*/ 128 w 152"/>
                <a:gd name="T25" fmla="*/ 76 h 152"/>
                <a:gd name="T26" fmla="*/ 128 w 152"/>
                <a:gd name="T27" fmla="*/ 76 h 152"/>
                <a:gd name="T28" fmla="*/ 113 w 152"/>
                <a:gd name="T29" fmla="*/ 39 h 152"/>
                <a:gd name="T30" fmla="*/ 76 w 152"/>
                <a:gd name="T31" fmla="*/ 2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2" h="152">
                  <a:moveTo>
                    <a:pt x="76" y="152"/>
                  </a:moveTo>
                  <a:cubicBezTo>
                    <a:pt x="34" y="152"/>
                    <a:pt x="0" y="118"/>
                    <a:pt x="0" y="76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6" y="0"/>
                    <a:pt x="115" y="8"/>
                    <a:pt x="130" y="22"/>
                  </a:cubicBezTo>
                  <a:cubicBezTo>
                    <a:pt x="144" y="37"/>
                    <a:pt x="152" y="56"/>
                    <a:pt x="152" y="76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118"/>
                    <a:pt x="118" y="152"/>
                    <a:pt x="76" y="152"/>
                  </a:cubicBezTo>
                  <a:close/>
                  <a:moveTo>
                    <a:pt x="76" y="24"/>
                  </a:moveTo>
                  <a:cubicBezTo>
                    <a:pt x="76" y="24"/>
                    <a:pt x="76" y="24"/>
                    <a:pt x="76" y="24"/>
                  </a:cubicBezTo>
                  <a:cubicBezTo>
                    <a:pt x="47" y="24"/>
                    <a:pt x="24" y="47"/>
                    <a:pt x="24" y="76"/>
                  </a:cubicBezTo>
                  <a:cubicBezTo>
                    <a:pt x="24" y="104"/>
                    <a:pt x="47" y="128"/>
                    <a:pt x="76" y="128"/>
                  </a:cubicBezTo>
                  <a:cubicBezTo>
                    <a:pt x="104" y="128"/>
                    <a:pt x="128" y="104"/>
                    <a:pt x="128" y="76"/>
                  </a:cubicBezTo>
                  <a:cubicBezTo>
                    <a:pt x="128" y="76"/>
                    <a:pt x="128" y="76"/>
                    <a:pt x="128" y="76"/>
                  </a:cubicBezTo>
                  <a:cubicBezTo>
                    <a:pt x="128" y="62"/>
                    <a:pt x="122" y="49"/>
                    <a:pt x="113" y="39"/>
                  </a:cubicBezTo>
                  <a:cubicBezTo>
                    <a:pt x="103" y="29"/>
                    <a:pt x="90" y="24"/>
                    <a:pt x="76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Freeform 57">
              <a:extLst>
                <a:ext uri="{FF2B5EF4-FFF2-40B4-BE49-F238E27FC236}">
                  <a16:creationId xmlns:a16="http://schemas.microsoft.com/office/drawing/2014/main" id="{2931A39F-8EBE-A78E-0C17-6EBD4A890B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9575" y="3232150"/>
              <a:ext cx="361950" cy="514350"/>
            </a:xfrm>
            <a:custGeom>
              <a:avLst/>
              <a:gdLst>
                <a:gd name="T0" fmla="*/ 240 w 480"/>
                <a:gd name="T1" fmla="*/ 681 h 681"/>
                <a:gd name="T2" fmla="*/ 208 w 480"/>
                <a:gd name="T3" fmla="*/ 663 h 681"/>
                <a:gd name="T4" fmla="*/ 16 w 480"/>
                <a:gd name="T5" fmla="*/ 270 h 681"/>
                <a:gd name="T6" fmla="*/ 61 w 480"/>
                <a:gd name="T7" fmla="*/ 80 h 681"/>
                <a:gd name="T8" fmla="*/ 240 w 480"/>
                <a:gd name="T9" fmla="*/ 5 h 681"/>
                <a:gd name="T10" fmla="*/ 419 w 480"/>
                <a:gd name="T11" fmla="*/ 80 h 681"/>
                <a:gd name="T12" fmla="*/ 465 w 480"/>
                <a:gd name="T13" fmla="*/ 270 h 681"/>
                <a:gd name="T14" fmla="*/ 272 w 480"/>
                <a:gd name="T15" fmla="*/ 663 h 681"/>
                <a:gd name="T16" fmla="*/ 240 w 480"/>
                <a:gd name="T17" fmla="*/ 681 h 681"/>
                <a:gd name="T18" fmla="*/ 240 w 480"/>
                <a:gd name="T19" fmla="*/ 681 h 681"/>
                <a:gd name="T20" fmla="*/ 226 w 480"/>
                <a:gd name="T21" fmla="*/ 28 h 681"/>
                <a:gd name="T22" fmla="*/ 80 w 480"/>
                <a:gd name="T23" fmla="*/ 96 h 681"/>
                <a:gd name="T24" fmla="*/ 39 w 480"/>
                <a:gd name="T25" fmla="*/ 264 h 681"/>
                <a:gd name="T26" fmla="*/ 39 w 480"/>
                <a:gd name="T27" fmla="*/ 265 h 681"/>
                <a:gd name="T28" fmla="*/ 228 w 480"/>
                <a:gd name="T29" fmla="*/ 650 h 681"/>
                <a:gd name="T30" fmla="*/ 240 w 480"/>
                <a:gd name="T31" fmla="*/ 657 h 681"/>
                <a:gd name="T32" fmla="*/ 240 w 480"/>
                <a:gd name="T33" fmla="*/ 657 h 681"/>
                <a:gd name="T34" fmla="*/ 252 w 480"/>
                <a:gd name="T35" fmla="*/ 650 h 681"/>
                <a:gd name="T36" fmla="*/ 441 w 480"/>
                <a:gd name="T37" fmla="*/ 265 h 681"/>
                <a:gd name="T38" fmla="*/ 441 w 480"/>
                <a:gd name="T39" fmla="*/ 264 h 681"/>
                <a:gd name="T40" fmla="*/ 401 w 480"/>
                <a:gd name="T41" fmla="*/ 96 h 681"/>
                <a:gd name="T42" fmla="*/ 241 w 480"/>
                <a:gd name="T43" fmla="*/ 29 h 681"/>
                <a:gd name="T44" fmla="*/ 240 w 480"/>
                <a:gd name="T45" fmla="*/ 29 h 681"/>
                <a:gd name="T46" fmla="*/ 239 w 480"/>
                <a:gd name="T47" fmla="*/ 29 h 681"/>
                <a:gd name="T48" fmla="*/ 226 w 480"/>
                <a:gd name="T49" fmla="*/ 28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0" h="681">
                  <a:moveTo>
                    <a:pt x="240" y="681"/>
                  </a:moveTo>
                  <a:cubicBezTo>
                    <a:pt x="227" y="681"/>
                    <a:pt x="214" y="674"/>
                    <a:pt x="208" y="663"/>
                  </a:cubicBezTo>
                  <a:cubicBezTo>
                    <a:pt x="156" y="580"/>
                    <a:pt x="35" y="376"/>
                    <a:pt x="16" y="270"/>
                  </a:cubicBezTo>
                  <a:cubicBezTo>
                    <a:pt x="0" y="203"/>
                    <a:pt x="17" y="132"/>
                    <a:pt x="61" y="80"/>
                  </a:cubicBezTo>
                  <a:cubicBezTo>
                    <a:pt x="105" y="28"/>
                    <a:pt x="172" y="0"/>
                    <a:pt x="240" y="5"/>
                  </a:cubicBezTo>
                  <a:cubicBezTo>
                    <a:pt x="308" y="0"/>
                    <a:pt x="375" y="28"/>
                    <a:pt x="419" y="80"/>
                  </a:cubicBezTo>
                  <a:cubicBezTo>
                    <a:pt x="464" y="132"/>
                    <a:pt x="480" y="203"/>
                    <a:pt x="465" y="270"/>
                  </a:cubicBezTo>
                  <a:cubicBezTo>
                    <a:pt x="449" y="362"/>
                    <a:pt x="325" y="575"/>
                    <a:pt x="272" y="663"/>
                  </a:cubicBezTo>
                  <a:cubicBezTo>
                    <a:pt x="266" y="674"/>
                    <a:pt x="253" y="681"/>
                    <a:pt x="240" y="681"/>
                  </a:cubicBezTo>
                  <a:cubicBezTo>
                    <a:pt x="240" y="681"/>
                    <a:pt x="240" y="681"/>
                    <a:pt x="240" y="681"/>
                  </a:cubicBezTo>
                  <a:close/>
                  <a:moveTo>
                    <a:pt x="226" y="28"/>
                  </a:moveTo>
                  <a:cubicBezTo>
                    <a:pt x="170" y="28"/>
                    <a:pt x="116" y="53"/>
                    <a:pt x="80" y="96"/>
                  </a:cubicBezTo>
                  <a:cubicBezTo>
                    <a:pt x="40" y="142"/>
                    <a:pt x="25" y="205"/>
                    <a:pt x="39" y="264"/>
                  </a:cubicBezTo>
                  <a:cubicBezTo>
                    <a:pt x="39" y="265"/>
                    <a:pt x="39" y="265"/>
                    <a:pt x="39" y="265"/>
                  </a:cubicBezTo>
                  <a:cubicBezTo>
                    <a:pt x="58" y="368"/>
                    <a:pt x="178" y="569"/>
                    <a:pt x="228" y="650"/>
                  </a:cubicBezTo>
                  <a:cubicBezTo>
                    <a:pt x="231" y="655"/>
                    <a:pt x="235" y="657"/>
                    <a:pt x="240" y="657"/>
                  </a:cubicBezTo>
                  <a:cubicBezTo>
                    <a:pt x="240" y="657"/>
                    <a:pt x="240" y="657"/>
                    <a:pt x="240" y="657"/>
                  </a:cubicBezTo>
                  <a:cubicBezTo>
                    <a:pt x="245" y="657"/>
                    <a:pt x="249" y="655"/>
                    <a:pt x="252" y="650"/>
                  </a:cubicBezTo>
                  <a:cubicBezTo>
                    <a:pt x="304" y="564"/>
                    <a:pt x="426" y="353"/>
                    <a:pt x="441" y="265"/>
                  </a:cubicBezTo>
                  <a:cubicBezTo>
                    <a:pt x="441" y="264"/>
                    <a:pt x="441" y="264"/>
                    <a:pt x="441" y="264"/>
                  </a:cubicBezTo>
                  <a:cubicBezTo>
                    <a:pt x="455" y="205"/>
                    <a:pt x="440" y="142"/>
                    <a:pt x="401" y="96"/>
                  </a:cubicBezTo>
                  <a:cubicBezTo>
                    <a:pt x="362" y="49"/>
                    <a:pt x="302" y="24"/>
                    <a:pt x="241" y="29"/>
                  </a:cubicBezTo>
                  <a:cubicBezTo>
                    <a:pt x="240" y="29"/>
                    <a:pt x="240" y="29"/>
                    <a:pt x="240" y="29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35" y="28"/>
                    <a:pt x="230" y="28"/>
                    <a:pt x="226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Freeform 58">
              <a:extLst>
                <a:ext uri="{FF2B5EF4-FFF2-40B4-BE49-F238E27FC236}">
                  <a16:creationId xmlns:a16="http://schemas.microsoft.com/office/drawing/2014/main" id="{D30A656F-74EB-7887-7D96-5714A0F051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1650" y="3314700"/>
              <a:ext cx="171450" cy="165100"/>
            </a:xfrm>
            <a:custGeom>
              <a:avLst/>
              <a:gdLst>
                <a:gd name="T0" fmla="*/ 118 w 228"/>
                <a:gd name="T1" fmla="*/ 219 h 219"/>
                <a:gd name="T2" fmla="*/ 41 w 228"/>
                <a:gd name="T3" fmla="*/ 187 h 219"/>
                <a:gd name="T4" fmla="*/ 17 w 228"/>
                <a:gd name="T5" fmla="*/ 68 h 219"/>
                <a:gd name="T6" fmla="*/ 118 w 228"/>
                <a:gd name="T7" fmla="*/ 0 h 219"/>
                <a:gd name="T8" fmla="*/ 228 w 228"/>
                <a:gd name="T9" fmla="*/ 110 h 219"/>
                <a:gd name="T10" fmla="*/ 228 w 228"/>
                <a:gd name="T11" fmla="*/ 110 h 219"/>
                <a:gd name="T12" fmla="*/ 160 w 228"/>
                <a:gd name="T13" fmla="*/ 211 h 219"/>
                <a:gd name="T14" fmla="*/ 118 w 228"/>
                <a:gd name="T15" fmla="*/ 219 h 219"/>
                <a:gd name="T16" fmla="*/ 118 w 228"/>
                <a:gd name="T17" fmla="*/ 24 h 219"/>
                <a:gd name="T18" fmla="*/ 39 w 228"/>
                <a:gd name="T19" fmla="*/ 77 h 219"/>
                <a:gd name="T20" fmla="*/ 58 w 228"/>
                <a:gd name="T21" fmla="*/ 170 h 219"/>
                <a:gd name="T22" fmla="*/ 151 w 228"/>
                <a:gd name="T23" fmla="*/ 189 h 219"/>
                <a:gd name="T24" fmla="*/ 204 w 228"/>
                <a:gd name="T25" fmla="*/ 110 h 219"/>
                <a:gd name="T26" fmla="*/ 204 w 228"/>
                <a:gd name="T27" fmla="*/ 110 h 219"/>
                <a:gd name="T28" fmla="*/ 118 w 228"/>
                <a:gd name="T29" fmla="*/ 24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19">
                  <a:moveTo>
                    <a:pt x="118" y="219"/>
                  </a:moveTo>
                  <a:cubicBezTo>
                    <a:pt x="90" y="219"/>
                    <a:pt x="62" y="208"/>
                    <a:pt x="41" y="187"/>
                  </a:cubicBezTo>
                  <a:cubicBezTo>
                    <a:pt x="9" y="156"/>
                    <a:pt x="0" y="109"/>
                    <a:pt x="17" y="68"/>
                  </a:cubicBezTo>
                  <a:cubicBezTo>
                    <a:pt x="34" y="27"/>
                    <a:pt x="74" y="0"/>
                    <a:pt x="118" y="0"/>
                  </a:cubicBezTo>
                  <a:cubicBezTo>
                    <a:pt x="179" y="0"/>
                    <a:pt x="228" y="49"/>
                    <a:pt x="228" y="110"/>
                  </a:cubicBezTo>
                  <a:cubicBezTo>
                    <a:pt x="228" y="110"/>
                    <a:pt x="228" y="110"/>
                    <a:pt x="228" y="110"/>
                  </a:cubicBezTo>
                  <a:cubicBezTo>
                    <a:pt x="228" y="154"/>
                    <a:pt x="201" y="194"/>
                    <a:pt x="160" y="211"/>
                  </a:cubicBezTo>
                  <a:cubicBezTo>
                    <a:pt x="147" y="217"/>
                    <a:pt x="132" y="219"/>
                    <a:pt x="118" y="219"/>
                  </a:cubicBezTo>
                  <a:close/>
                  <a:moveTo>
                    <a:pt x="118" y="24"/>
                  </a:moveTo>
                  <a:cubicBezTo>
                    <a:pt x="84" y="24"/>
                    <a:pt x="53" y="45"/>
                    <a:pt x="39" y="77"/>
                  </a:cubicBezTo>
                  <a:cubicBezTo>
                    <a:pt x="26" y="109"/>
                    <a:pt x="33" y="146"/>
                    <a:pt x="58" y="170"/>
                  </a:cubicBezTo>
                  <a:cubicBezTo>
                    <a:pt x="82" y="195"/>
                    <a:pt x="119" y="202"/>
                    <a:pt x="151" y="189"/>
                  </a:cubicBezTo>
                  <a:cubicBezTo>
                    <a:pt x="183" y="175"/>
                    <a:pt x="204" y="144"/>
                    <a:pt x="204" y="110"/>
                  </a:cubicBezTo>
                  <a:cubicBezTo>
                    <a:pt x="204" y="110"/>
                    <a:pt x="204" y="110"/>
                    <a:pt x="204" y="110"/>
                  </a:cubicBezTo>
                  <a:cubicBezTo>
                    <a:pt x="204" y="63"/>
                    <a:pt x="165" y="24"/>
                    <a:pt x="118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Freeform 59">
              <a:extLst>
                <a:ext uri="{FF2B5EF4-FFF2-40B4-BE49-F238E27FC236}">
                  <a16:creationId xmlns:a16="http://schemas.microsoft.com/office/drawing/2014/main" id="{3DD6263E-1610-5A79-7807-74390157A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913" y="3411538"/>
              <a:ext cx="471488" cy="312738"/>
            </a:xfrm>
            <a:custGeom>
              <a:avLst/>
              <a:gdLst>
                <a:gd name="T0" fmla="*/ 14 w 626"/>
                <a:gd name="T1" fmla="*/ 415 h 415"/>
                <a:gd name="T2" fmla="*/ 4 w 626"/>
                <a:gd name="T3" fmla="*/ 410 h 415"/>
                <a:gd name="T4" fmla="*/ 7 w 626"/>
                <a:gd name="T5" fmla="*/ 393 h 415"/>
                <a:gd name="T6" fmla="*/ 605 w 626"/>
                <a:gd name="T7" fmla="*/ 3 h 415"/>
                <a:gd name="T8" fmla="*/ 622 w 626"/>
                <a:gd name="T9" fmla="*/ 7 h 415"/>
                <a:gd name="T10" fmla="*/ 618 w 626"/>
                <a:gd name="T11" fmla="*/ 24 h 415"/>
                <a:gd name="T12" fmla="*/ 21 w 626"/>
                <a:gd name="T13" fmla="*/ 414 h 415"/>
                <a:gd name="T14" fmla="*/ 14 w 626"/>
                <a:gd name="T15" fmla="*/ 41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6" h="415">
                  <a:moveTo>
                    <a:pt x="14" y="415"/>
                  </a:moveTo>
                  <a:cubicBezTo>
                    <a:pt x="10" y="415"/>
                    <a:pt x="6" y="414"/>
                    <a:pt x="4" y="410"/>
                  </a:cubicBezTo>
                  <a:cubicBezTo>
                    <a:pt x="0" y="405"/>
                    <a:pt x="2" y="397"/>
                    <a:pt x="7" y="393"/>
                  </a:cubicBezTo>
                  <a:cubicBezTo>
                    <a:pt x="605" y="3"/>
                    <a:pt x="605" y="3"/>
                    <a:pt x="605" y="3"/>
                  </a:cubicBezTo>
                  <a:cubicBezTo>
                    <a:pt x="611" y="0"/>
                    <a:pt x="618" y="1"/>
                    <a:pt x="622" y="7"/>
                  </a:cubicBezTo>
                  <a:cubicBezTo>
                    <a:pt x="626" y="13"/>
                    <a:pt x="624" y="20"/>
                    <a:pt x="618" y="24"/>
                  </a:cubicBezTo>
                  <a:cubicBezTo>
                    <a:pt x="21" y="414"/>
                    <a:pt x="21" y="414"/>
                    <a:pt x="21" y="414"/>
                  </a:cubicBezTo>
                  <a:cubicBezTo>
                    <a:pt x="19" y="415"/>
                    <a:pt x="16" y="415"/>
                    <a:pt x="14" y="4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8" name="Title 27">
            <a:extLst>
              <a:ext uri="{FF2B5EF4-FFF2-40B4-BE49-F238E27FC236}">
                <a16:creationId xmlns:a16="http://schemas.microsoft.com/office/drawing/2014/main" id="{C3570A22-7781-4478-E458-848C673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Delinea  Deep Dive</a:t>
            </a:r>
          </a:p>
        </p:txBody>
      </p:sp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BD350E7D-A869-2167-CB87-7B9C5CF9B1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TCS confidential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5896E1-2851-FBF4-AC94-9A28B4CFB1B2}"/>
              </a:ext>
            </a:extLst>
          </p:cNvPr>
          <p:cNvSpPr txBox="1"/>
          <p:nvPr/>
        </p:nvSpPr>
        <p:spPr>
          <a:xfrm>
            <a:off x="535249" y="795985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4E84C4"/>
                </a:solidFill>
                <a:effectLst/>
                <a:latin typeface="+mj-lt"/>
                <a:cs typeface="MS PGothic" panose="020B0600070205080204" pitchFamily="34" charset="-128"/>
              </a:rPr>
              <a:t>Company Overview</a:t>
            </a:r>
            <a:endParaRPr lang="en-GB" sz="1600" dirty="0">
              <a:solidFill>
                <a:srgbClr val="4E84C4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91401F-53C7-B85A-8AAF-3287DAC4C7A4}"/>
              </a:ext>
            </a:extLst>
          </p:cNvPr>
          <p:cNvSpPr txBox="1"/>
          <p:nvPr/>
        </p:nvSpPr>
        <p:spPr>
          <a:xfrm>
            <a:off x="494351" y="1190823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Founded: 2021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Headquarters: Washington, USA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Focus: Cloud-first PAM solutions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55D253-A944-0F5F-F7CC-79CCF795F021}"/>
              </a:ext>
            </a:extLst>
          </p:cNvPr>
          <p:cNvSpPr txBox="1"/>
          <p:nvPr/>
        </p:nvSpPr>
        <p:spPr>
          <a:xfrm>
            <a:off x="614414" y="2598257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4E84C4"/>
                </a:solidFill>
                <a:effectLst/>
                <a:latin typeface="+mj-lt"/>
                <a:cs typeface="MS PGothic" panose="020B0600070205080204" pitchFamily="34" charset="-128"/>
              </a:rPr>
              <a:t>Core Components PAM</a:t>
            </a:r>
            <a:endParaRPr lang="en-GB" sz="1600" dirty="0">
              <a:solidFill>
                <a:srgbClr val="4E84C4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3DDD76-52E2-7DC7-A7B3-27ECAE49A8BC}"/>
              </a:ext>
            </a:extLst>
          </p:cNvPr>
          <p:cNvSpPr txBox="1"/>
          <p:nvPr/>
        </p:nvSpPr>
        <p:spPr>
          <a:xfrm>
            <a:off x="614414" y="2936161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dirty="0">
                <a:solidFill>
                  <a:srgbClr val="000000"/>
                </a:solidFill>
                <a:latin typeface="+mj-lt"/>
                <a:ea typeface="MS PGothic" panose="020B0600070205080204" pitchFamily="34" charset="-128"/>
              </a:rPr>
              <a:t>Secret Server</a:t>
            </a:r>
          </a:p>
          <a:p>
            <a:pPr>
              <a:buNone/>
            </a:pPr>
            <a:r>
              <a:rPr lang="en-GB" sz="1600" dirty="0">
                <a:solidFill>
                  <a:srgbClr val="000000"/>
                </a:solidFill>
                <a:latin typeface="+mj-lt"/>
                <a:ea typeface="MS PGothic" panose="020B0600070205080204" pitchFamily="34" charset="-128"/>
              </a:rPr>
              <a:t>Privilege Manager</a:t>
            </a:r>
          </a:p>
          <a:p>
            <a:pPr>
              <a:buNone/>
            </a:pPr>
            <a:r>
              <a:rPr lang="en-GB" sz="1600" dirty="0">
                <a:solidFill>
                  <a:srgbClr val="000000"/>
                </a:solidFill>
                <a:latin typeface="+mj-lt"/>
                <a:ea typeface="MS PGothic" panose="020B0600070205080204" pitchFamily="34" charset="-128"/>
              </a:rPr>
              <a:t>DevOps Secrets Vault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54436DF-511C-8B0B-22ED-364F7D276B39}"/>
              </a:ext>
            </a:extLst>
          </p:cNvPr>
          <p:cNvSpPr/>
          <p:nvPr/>
        </p:nvSpPr>
        <p:spPr>
          <a:xfrm>
            <a:off x="356058" y="669312"/>
            <a:ext cx="3475897" cy="3706409"/>
          </a:xfrm>
          <a:prstGeom prst="roundRect">
            <a:avLst/>
          </a:prstGeom>
          <a:noFill/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2E7825DC-5487-98AA-9D94-A12DDCD3C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707" y="1472703"/>
            <a:ext cx="2867025" cy="159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14452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DE7CF-464E-8B61-C404-D75AA1079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7A99D264-60C5-66D6-864F-99A724737319}"/>
              </a:ext>
            </a:extLst>
          </p:cNvPr>
          <p:cNvGrpSpPr/>
          <p:nvPr/>
        </p:nvGrpSpPr>
        <p:grpSpPr>
          <a:xfrm>
            <a:off x="1646076" y="4029452"/>
            <a:ext cx="570912" cy="419326"/>
            <a:chOff x="6759575" y="3000375"/>
            <a:chExt cx="906463" cy="746125"/>
          </a:xfrm>
          <a:solidFill>
            <a:srgbClr val="F4F3F9"/>
          </a:solidFill>
        </p:grpSpPr>
        <p:sp>
          <p:nvSpPr>
            <p:cNvPr id="50" name="Freeform 55">
              <a:extLst>
                <a:ext uri="{FF2B5EF4-FFF2-40B4-BE49-F238E27FC236}">
                  <a16:creationId xmlns:a16="http://schemas.microsoft.com/office/drawing/2014/main" id="{28EECFD1-D97B-A223-CE2D-7BB41BBF80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1400" y="3000375"/>
              <a:ext cx="274638" cy="358775"/>
            </a:xfrm>
            <a:custGeom>
              <a:avLst/>
              <a:gdLst>
                <a:gd name="T0" fmla="*/ 182 w 364"/>
                <a:gd name="T1" fmla="*/ 476 h 476"/>
                <a:gd name="T2" fmla="*/ 152 w 364"/>
                <a:gd name="T3" fmla="*/ 462 h 476"/>
                <a:gd name="T4" fmla="*/ 0 w 364"/>
                <a:gd name="T5" fmla="*/ 182 h 476"/>
                <a:gd name="T6" fmla="*/ 53 w 364"/>
                <a:gd name="T7" fmla="*/ 53 h 476"/>
                <a:gd name="T8" fmla="*/ 182 w 364"/>
                <a:gd name="T9" fmla="*/ 0 h 476"/>
                <a:gd name="T10" fmla="*/ 182 w 364"/>
                <a:gd name="T11" fmla="*/ 0 h 476"/>
                <a:gd name="T12" fmla="*/ 364 w 364"/>
                <a:gd name="T13" fmla="*/ 182 h 476"/>
                <a:gd name="T14" fmla="*/ 212 w 364"/>
                <a:gd name="T15" fmla="*/ 462 h 476"/>
                <a:gd name="T16" fmla="*/ 182 w 364"/>
                <a:gd name="T17" fmla="*/ 476 h 476"/>
                <a:gd name="T18" fmla="*/ 182 w 364"/>
                <a:gd name="T19" fmla="*/ 24 h 476"/>
                <a:gd name="T20" fmla="*/ 70 w 364"/>
                <a:gd name="T21" fmla="*/ 70 h 476"/>
                <a:gd name="T22" fmla="*/ 24 w 364"/>
                <a:gd name="T23" fmla="*/ 182 h 476"/>
                <a:gd name="T24" fmla="*/ 171 w 364"/>
                <a:gd name="T25" fmla="*/ 447 h 476"/>
                <a:gd name="T26" fmla="*/ 182 w 364"/>
                <a:gd name="T27" fmla="*/ 452 h 476"/>
                <a:gd name="T28" fmla="*/ 193 w 364"/>
                <a:gd name="T29" fmla="*/ 447 h 476"/>
                <a:gd name="T30" fmla="*/ 340 w 364"/>
                <a:gd name="T31" fmla="*/ 182 h 476"/>
                <a:gd name="T32" fmla="*/ 182 w 364"/>
                <a:gd name="T33" fmla="*/ 24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4" h="476">
                  <a:moveTo>
                    <a:pt x="182" y="476"/>
                  </a:moveTo>
                  <a:cubicBezTo>
                    <a:pt x="170" y="476"/>
                    <a:pt x="159" y="471"/>
                    <a:pt x="152" y="462"/>
                  </a:cubicBezTo>
                  <a:cubicBezTo>
                    <a:pt x="95" y="389"/>
                    <a:pt x="0" y="257"/>
                    <a:pt x="0" y="182"/>
                  </a:cubicBezTo>
                  <a:cubicBezTo>
                    <a:pt x="0" y="133"/>
                    <a:pt x="19" y="87"/>
                    <a:pt x="53" y="53"/>
                  </a:cubicBezTo>
                  <a:cubicBezTo>
                    <a:pt x="87" y="19"/>
                    <a:pt x="133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282" y="0"/>
                    <a:pt x="364" y="81"/>
                    <a:pt x="364" y="182"/>
                  </a:cubicBezTo>
                  <a:cubicBezTo>
                    <a:pt x="364" y="257"/>
                    <a:pt x="269" y="389"/>
                    <a:pt x="212" y="462"/>
                  </a:cubicBezTo>
                  <a:cubicBezTo>
                    <a:pt x="205" y="471"/>
                    <a:pt x="194" y="476"/>
                    <a:pt x="182" y="476"/>
                  </a:cubicBezTo>
                  <a:close/>
                  <a:moveTo>
                    <a:pt x="182" y="24"/>
                  </a:moveTo>
                  <a:cubicBezTo>
                    <a:pt x="140" y="24"/>
                    <a:pt x="100" y="40"/>
                    <a:pt x="70" y="70"/>
                  </a:cubicBezTo>
                  <a:cubicBezTo>
                    <a:pt x="40" y="100"/>
                    <a:pt x="24" y="140"/>
                    <a:pt x="24" y="182"/>
                  </a:cubicBezTo>
                  <a:cubicBezTo>
                    <a:pt x="24" y="254"/>
                    <a:pt x="136" y="403"/>
                    <a:pt x="171" y="447"/>
                  </a:cubicBezTo>
                  <a:cubicBezTo>
                    <a:pt x="174" y="450"/>
                    <a:pt x="178" y="452"/>
                    <a:pt x="182" y="452"/>
                  </a:cubicBezTo>
                  <a:cubicBezTo>
                    <a:pt x="186" y="452"/>
                    <a:pt x="190" y="450"/>
                    <a:pt x="193" y="447"/>
                  </a:cubicBezTo>
                  <a:cubicBezTo>
                    <a:pt x="285" y="329"/>
                    <a:pt x="340" y="230"/>
                    <a:pt x="340" y="182"/>
                  </a:cubicBezTo>
                  <a:cubicBezTo>
                    <a:pt x="340" y="95"/>
                    <a:pt x="269" y="24"/>
                    <a:pt x="18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Freeform 56">
              <a:extLst>
                <a:ext uri="{FF2B5EF4-FFF2-40B4-BE49-F238E27FC236}">
                  <a16:creationId xmlns:a16="http://schemas.microsoft.com/office/drawing/2014/main" id="{CB8FB40E-780D-6830-B37E-2A95B5658B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0775" y="3079750"/>
              <a:ext cx="114300" cy="115888"/>
            </a:xfrm>
            <a:custGeom>
              <a:avLst/>
              <a:gdLst>
                <a:gd name="T0" fmla="*/ 76 w 152"/>
                <a:gd name="T1" fmla="*/ 152 h 152"/>
                <a:gd name="T2" fmla="*/ 0 w 152"/>
                <a:gd name="T3" fmla="*/ 76 h 152"/>
                <a:gd name="T4" fmla="*/ 76 w 152"/>
                <a:gd name="T5" fmla="*/ 0 h 152"/>
                <a:gd name="T6" fmla="*/ 76 w 152"/>
                <a:gd name="T7" fmla="*/ 0 h 152"/>
                <a:gd name="T8" fmla="*/ 130 w 152"/>
                <a:gd name="T9" fmla="*/ 22 h 152"/>
                <a:gd name="T10" fmla="*/ 152 w 152"/>
                <a:gd name="T11" fmla="*/ 76 h 152"/>
                <a:gd name="T12" fmla="*/ 152 w 152"/>
                <a:gd name="T13" fmla="*/ 76 h 152"/>
                <a:gd name="T14" fmla="*/ 76 w 152"/>
                <a:gd name="T15" fmla="*/ 152 h 152"/>
                <a:gd name="T16" fmla="*/ 76 w 152"/>
                <a:gd name="T17" fmla="*/ 24 h 152"/>
                <a:gd name="T18" fmla="*/ 76 w 152"/>
                <a:gd name="T19" fmla="*/ 24 h 152"/>
                <a:gd name="T20" fmla="*/ 24 w 152"/>
                <a:gd name="T21" fmla="*/ 76 h 152"/>
                <a:gd name="T22" fmla="*/ 76 w 152"/>
                <a:gd name="T23" fmla="*/ 128 h 152"/>
                <a:gd name="T24" fmla="*/ 128 w 152"/>
                <a:gd name="T25" fmla="*/ 76 h 152"/>
                <a:gd name="T26" fmla="*/ 128 w 152"/>
                <a:gd name="T27" fmla="*/ 76 h 152"/>
                <a:gd name="T28" fmla="*/ 113 w 152"/>
                <a:gd name="T29" fmla="*/ 39 h 152"/>
                <a:gd name="T30" fmla="*/ 76 w 152"/>
                <a:gd name="T31" fmla="*/ 2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2" h="152">
                  <a:moveTo>
                    <a:pt x="76" y="152"/>
                  </a:moveTo>
                  <a:cubicBezTo>
                    <a:pt x="34" y="152"/>
                    <a:pt x="0" y="118"/>
                    <a:pt x="0" y="76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6" y="0"/>
                    <a:pt x="115" y="8"/>
                    <a:pt x="130" y="22"/>
                  </a:cubicBezTo>
                  <a:cubicBezTo>
                    <a:pt x="144" y="37"/>
                    <a:pt x="152" y="56"/>
                    <a:pt x="152" y="76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118"/>
                    <a:pt x="118" y="152"/>
                    <a:pt x="76" y="152"/>
                  </a:cubicBezTo>
                  <a:close/>
                  <a:moveTo>
                    <a:pt x="76" y="24"/>
                  </a:moveTo>
                  <a:cubicBezTo>
                    <a:pt x="76" y="24"/>
                    <a:pt x="76" y="24"/>
                    <a:pt x="76" y="24"/>
                  </a:cubicBezTo>
                  <a:cubicBezTo>
                    <a:pt x="47" y="24"/>
                    <a:pt x="24" y="47"/>
                    <a:pt x="24" y="76"/>
                  </a:cubicBezTo>
                  <a:cubicBezTo>
                    <a:pt x="24" y="104"/>
                    <a:pt x="47" y="128"/>
                    <a:pt x="76" y="128"/>
                  </a:cubicBezTo>
                  <a:cubicBezTo>
                    <a:pt x="104" y="128"/>
                    <a:pt x="128" y="104"/>
                    <a:pt x="128" y="76"/>
                  </a:cubicBezTo>
                  <a:cubicBezTo>
                    <a:pt x="128" y="76"/>
                    <a:pt x="128" y="76"/>
                    <a:pt x="128" y="76"/>
                  </a:cubicBezTo>
                  <a:cubicBezTo>
                    <a:pt x="128" y="62"/>
                    <a:pt x="122" y="49"/>
                    <a:pt x="113" y="39"/>
                  </a:cubicBezTo>
                  <a:cubicBezTo>
                    <a:pt x="103" y="29"/>
                    <a:pt x="90" y="24"/>
                    <a:pt x="76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Freeform 57">
              <a:extLst>
                <a:ext uri="{FF2B5EF4-FFF2-40B4-BE49-F238E27FC236}">
                  <a16:creationId xmlns:a16="http://schemas.microsoft.com/office/drawing/2014/main" id="{87BDDF4B-AC7A-FD89-5E63-A58D89E394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9575" y="3232150"/>
              <a:ext cx="361950" cy="514350"/>
            </a:xfrm>
            <a:custGeom>
              <a:avLst/>
              <a:gdLst>
                <a:gd name="T0" fmla="*/ 240 w 480"/>
                <a:gd name="T1" fmla="*/ 681 h 681"/>
                <a:gd name="T2" fmla="*/ 208 w 480"/>
                <a:gd name="T3" fmla="*/ 663 h 681"/>
                <a:gd name="T4" fmla="*/ 16 w 480"/>
                <a:gd name="T5" fmla="*/ 270 h 681"/>
                <a:gd name="T6" fmla="*/ 61 w 480"/>
                <a:gd name="T7" fmla="*/ 80 h 681"/>
                <a:gd name="T8" fmla="*/ 240 w 480"/>
                <a:gd name="T9" fmla="*/ 5 h 681"/>
                <a:gd name="T10" fmla="*/ 419 w 480"/>
                <a:gd name="T11" fmla="*/ 80 h 681"/>
                <a:gd name="T12" fmla="*/ 465 w 480"/>
                <a:gd name="T13" fmla="*/ 270 h 681"/>
                <a:gd name="T14" fmla="*/ 272 w 480"/>
                <a:gd name="T15" fmla="*/ 663 h 681"/>
                <a:gd name="T16" fmla="*/ 240 w 480"/>
                <a:gd name="T17" fmla="*/ 681 h 681"/>
                <a:gd name="T18" fmla="*/ 240 w 480"/>
                <a:gd name="T19" fmla="*/ 681 h 681"/>
                <a:gd name="T20" fmla="*/ 226 w 480"/>
                <a:gd name="T21" fmla="*/ 28 h 681"/>
                <a:gd name="T22" fmla="*/ 80 w 480"/>
                <a:gd name="T23" fmla="*/ 96 h 681"/>
                <a:gd name="T24" fmla="*/ 39 w 480"/>
                <a:gd name="T25" fmla="*/ 264 h 681"/>
                <a:gd name="T26" fmla="*/ 39 w 480"/>
                <a:gd name="T27" fmla="*/ 265 h 681"/>
                <a:gd name="T28" fmla="*/ 228 w 480"/>
                <a:gd name="T29" fmla="*/ 650 h 681"/>
                <a:gd name="T30" fmla="*/ 240 w 480"/>
                <a:gd name="T31" fmla="*/ 657 h 681"/>
                <a:gd name="T32" fmla="*/ 240 w 480"/>
                <a:gd name="T33" fmla="*/ 657 h 681"/>
                <a:gd name="T34" fmla="*/ 252 w 480"/>
                <a:gd name="T35" fmla="*/ 650 h 681"/>
                <a:gd name="T36" fmla="*/ 441 w 480"/>
                <a:gd name="T37" fmla="*/ 265 h 681"/>
                <a:gd name="T38" fmla="*/ 441 w 480"/>
                <a:gd name="T39" fmla="*/ 264 h 681"/>
                <a:gd name="T40" fmla="*/ 401 w 480"/>
                <a:gd name="T41" fmla="*/ 96 h 681"/>
                <a:gd name="T42" fmla="*/ 241 w 480"/>
                <a:gd name="T43" fmla="*/ 29 h 681"/>
                <a:gd name="T44" fmla="*/ 240 w 480"/>
                <a:gd name="T45" fmla="*/ 29 h 681"/>
                <a:gd name="T46" fmla="*/ 239 w 480"/>
                <a:gd name="T47" fmla="*/ 29 h 681"/>
                <a:gd name="T48" fmla="*/ 226 w 480"/>
                <a:gd name="T49" fmla="*/ 28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0" h="681">
                  <a:moveTo>
                    <a:pt x="240" y="681"/>
                  </a:moveTo>
                  <a:cubicBezTo>
                    <a:pt x="227" y="681"/>
                    <a:pt x="214" y="674"/>
                    <a:pt x="208" y="663"/>
                  </a:cubicBezTo>
                  <a:cubicBezTo>
                    <a:pt x="156" y="580"/>
                    <a:pt x="35" y="376"/>
                    <a:pt x="16" y="270"/>
                  </a:cubicBezTo>
                  <a:cubicBezTo>
                    <a:pt x="0" y="203"/>
                    <a:pt x="17" y="132"/>
                    <a:pt x="61" y="80"/>
                  </a:cubicBezTo>
                  <a:cubicBezTo>
                    <a:pt x="105" y="28"/>
                    <a:pt x="172" y="0"/>
                    <a:pt x="240" y="5"/>
                  </a:cubicBezTo>
                  <a:cubicBezTo>
                    <a:pt x="308" y="0"/>
                    <a:pt x="375" y="28"/>
                    <a:pt x="419" y="80"/>
                  </a:cubicBezTo>
                  <a:cubicBezTo>
                    <a:pt x="464" y="132"/>
                    <a:pt x="480" y="203"/>
                    <a:pt x="465" y="270"/>
                  </a:cubicBezTo>
                  <a:cubicBezTo>
                    <a:pt x="449" y="362"/>
                    <a:pt x="325" y="575"/>
                    <a:pt x="272" y="663"/>
                  </a:cubicBezTo>
                  <a:cubicBezTo>
                    <a:pt x="266" y="674"/>
                    <a:pt x="253" y="681"/>
                    <a:pt x="240" y="681"/>
                  </a:cubicBezTo>
                  <a:cubicBezTo>
                    <a:pt x="240" y="681"/>
                    <a:pt x="240" y="681"/>
                    <a:pt x="240" y="681"/>
                  </a:cubicBezTo>
                  <a:close/>
                  <a:moveTo>
                    <a:pt x="226" y="28"/>
                  </a:moveTo>
                  <a:cubicBezTo>
                    <a:pt x="170" y="28"/>
                    <a:pt x="116" y="53"/>
                    <a:pt x="80" y="96"/>
                  </a:cubicBezTo>
                  <a:cubicBezTo>
                    <a:pt x="40" y="142"/>
                    <a:pt x="25" y="205"/>
                    <a:pt x="39" y="264"/>
                  </a:cubicBezTo>
                  <a:cubicBezTo>
                    <a:pt x="39" y="265"/>
                    <a:pt x="39" y="265"/>
                    <a:pt x="39" y="265"/>
                  </a:cubicBezTo>
                  <a:cubicBezTo>
                    <a:pt x="58" y="368"/>
                    <a:pt x="178" y="569"/>
                    <a:pt x="228" y="650"/>
                  </a:cubicBezTo>
                  <a:cubicBezTo>
                    <a:pt x="231" y="655"/>
                    <a:pt x="235" y="657"/>
                    <a:pt x="240" y="657"/>
                  </a:cubicBezTo>
                  <a:cubicBezTo>
                    <a:pt x="240" y="657"/>
                    <a:pt x="240" y="657"/>
                    <a:pt x="240" y="657"/>
                  </a:cubicBezTo>
                  <a:cubicBezTo>
                    <a:pt x="245" y="657"/>
                    <a:pt x="249" y="655"/>
                    <a:pt x="252" y="650"/>
                  </a:cubicBezTo>
                  <a:cubicBezTo>
                    <a:pt x="304" y="564"/>
                    <a:pt x="426" y="353"/>
                    <a:pt x="441" y="265"/>
                  </a:cubicBezTo>
                  <a:cubicBezTo>
                    <a:pt x="441" y="264"/>
                    <a:pt x="441" y="264"/>
                    <a:pt x="441" y="264"/>
                  </a:cubicBezTo>
                  <a:cubicBezTo>
                    <a:pt x="455" y="205"/>
                    <a:pt x="440" y="142"/>
                    <a:pt x="401" y="96"/>
                  </a:cubicBezTo>
                  <a:cubicBezTo>
                    <a:pt x="362" y="49"/>
                    <a:pt x="302" y="24"/>
                    <a:pt x="241" y="29"/>
                  </a:cubicBezTo>
                  <a:cubicBezTo>
                    <a:pt x="240" y="29"/>
                    <a:pt x="240" y="29"/>
                    <a:pt x="240" y="29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35" y="28"/>
                    <a:pt x="230" y="28"/>
                    <a:pt x="226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Freeform 58">
              <a:extLst>
                <a:ext uri="{FF2B5EF4-FFF2-40B4-BE49-F238E27FC236}">
                  <a16:creationId xmlns:a16="http://schemas.microsoft.com/office/drawing/2014/main" id="{F5D3453C-4A1A-C741-E5E1-FDD86DEE85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1650" y="3314700"/>
              <a:ext cx="171450" cy="165100"/>
            </a:xfrm>
            <a:custGeom>
              <a:avLst/>
              <a:gdLst>
                <a:gd name="T0" fmla="*/ 118 w 228"/>
                <a:gd name="T1" fmla="*/ 219 h 219"/>
                <a:gd name="T2" fmla="*/ 41 w 228"/>
                <a:gd name="T3" fmla="*/ 187 h 219"/>
                <a:gd name="T4" fmla="*/ 17 w 228"/>
                <a:gd name="T5" fmla="*/ 68 h 219"/>
                <a:gd name="T6" fmla="*/ 118 w 228"/>
                <a:gd name="T7" fmla="*/ 0 h 219"/>
                <a:gd name="T8" fmla="*/ 228 w 228"/>
                <a:gd name="T9" fmla="*/ 110 h 219"/>
                <a:gd name="T10" fmla="*/ 228 w 228"/>
                <a:gd name="T11" fmla="*/ 110 h 219"/>
                <a:gd name="T12" fmla="*/ 160 w 228"/>
                <a:gd name="T13" fmla="*/ 211 h 219"/>
                <a:gd name="T14" fmla="*/ 118 w 228"/>
                <a:gd name="T15" fmla="*/ 219 h 219"/>
                <a:gd name="T16" fmla="*/ 118 w 228"/>
                <a:gd name="T17" fmla="*/ 24 h 219"/>
                <a:gd name="T18" fmla="*/ 39 w 228"/>
                <a:gd name="T19" fmla="*/ 77 h 219"/>
                <a:gd name="T20" fmla="*/ 58 w 228"/>
                <a:gd name="T21" fmla="*/ 170 h 219"/>
                <a:gd name="T22" fmla="*/ 151 w 228"/>
                <a:gd name="T23" fmla="*/ 189 h 219"/>
                <a:gd name="T24" fmla="*/ 204 w 228"/>
                <a:gd name="T25" fmla="*/ 110 h 219"/>
                <a:gd name="T26" fmla="*/ 204 w 228"/>
                <a:gd name="T27" fmla="*/ 110 h 219"/>
                <a:gd name="T28" fmla="*/ 118 w 228"/>
                <a:gd name="T29" fmla="*/ 24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19">
                  <a:moveTo>
                    <a:pt x="118" y="219"/>
                  </a:moveTo>
                  <a:cubicBezTo>
                    <a:pt x="90" y="219"/>
                    <a:pt x="62" y="208"/>
                    <a:pt x="41" y="187"/>
                  </a:cubicBezTo>
                  <a:cubicBezTo>
                    <a:pt x="9" y="156"/>
                    <a:pt x="0" y="109"/>
                    <a:pt x="17" y="68"/>
                  </a:cubicBezTo>
                  <a:cubicBezTo>
                    <a:pt x="34" y="27"/>
                    <a:pt x="74" y="0"/>
                    <a:pt x="118" y="0"/>
                  </a:cubicBezTo>
                  <a:cubicBezTo>
                    <a:pt x="179" y="0"/>
                    <a:pt x="228" y="49"/>
                    <a:pt x="228" y="110"/>
                  </a:cubicBezTo>
                  <a:cubicBezTo>
                    <a:pt x="228" y="110"/>
                    <a:pt x="228" y="110"/>
                    <a:pt x="228" y="110"/>
                  </a:cubicBezTo>
                  <a:cubicBezTo>
                    <a:pt x="228" y="154"/>
                    <a:pt x="201" y="194"/>
                    <a:pt x="160" y="211"/>
                  </a:cubicBezTo>
                  <a:cubicBezTo>
                    <a:pt x="147" y="217"/>
                    <a:pt x="132" y="219"/>
                    <a:pt x="118" y="219"/>
                  </a:cubicBezTo>
                  <a:close/>
                  <a:moveTo>
                    <a:pt x="118" y="24"/>
                  </a:moveTo>
                  <a:cubicBezTo>
                    <a:pt x="84" y="24"/>
                    <a:pt x="53" y="45"/>
                    <a:pt x="39" y="77"/>
                  </a:cubicBezTo>
                  <a:cubicBezTo>
                    <a:pt x="26" y="109"/>
                    <a:pt x="33" y="146"/>
                    <a:pt x="58" y="170"/>
                  </a:cubicBezTo>
                  <a:cubicBezTo>
                    <a:pt x="82" y="195"/>
                    <a:pt x="119" y="202"/>
                    <a:pt x="151" y="189"/>
                  </a:cubicBezTo>
                  <a:cubicBezTo>
                    <a:pt x="183" y="175"/>
                    <a:pt x="204" y="144"/>
                    <a:pt x="204" y="110"/>
                  </a:cubicBezTo>
                  <a:cubicBezTo>
                    <a:pt x="204" y="110"/>
                    <a:pt x="204" y="110"/>
                    <a:pt x="204" y="110"/>
                  </a:cubicBezTo>
                  <a:cubicBezTo>
                    <a:pt x="204" y="63"/>
                    <a:pt x="165" y="24"/>
                    <a:pt x="118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Freeform 59">
              <a:extLst>
                <a:ext uri="{FF2B5EF4-FFF2-40B4-BE49-F238E27FC236}">
                  <a16:creationId xmlns:a16="http://schemas.microsoft.com/office/drawing/2014/main" id="{ECC35FD5-AD45-F04C-FAB1-76245A0BB61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913" y="3411538"/>
              <a:ext cx="471488" cy="312738"/>
            </a:xfrm>
            <a:custGeom>
              <a:avLst/>
              <a:gdLst>
                <a:gd name="T0" fmla="*/ 14 w 626"/>
                <a:gd name="T1" fmla="*/ 415 h 415"/>
                <a:gd name="T2" fmla="*/ 4 w 626"/>
                <a:gd name="T3" fmla="*/ 410 h 415"/>
                <a:gd name="T4" fmla="*/ 7 w 626"/>
                <a:gd name="T5" fmla="*/ 393 h 415"/>
                <a:gd name="T6" fmla="*/ 605 w 626"/>
                <a:gd name="T7" fmla="*/ 3 h 415"/>
                <a:gd name="T8" fmla="*/ 622 w 626"/>
                <a:gd name="T9" fmla="*/ 7 h 415"/>
                <a:gd name="T10" fmla="*/ 618 w 626"/>
                <a:gd name="T11" fmla="*/ 24 h 415"/>
                <a:gd name="T12" fmla="*/ 21 w 626"/>
                <a:gd name="T13" fmla="*/ 414 h 415"/>
                <a:gd name="T14" fmla="*/ 14 w 626"/>
                <a:gd name="T15" fmla="*/ 41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6" h="415">
                  <a:moveTo>
                    <a:pt x="14" y="415"/>
                  </a:moveTo>
                  <a:cubicBezTo>
                    <a:pt x="10" y="415"/>
                    <a:pt x="6" y="414"/>
                    <a:pt x="4" y="410"/>
                  </a:cubicBezTo>
                  <a:cubicBezTo>
                    <a:pt x="0" y="405"/>
                    <a:pt x="2" y="397"/>
                    <a:pt x="7" y="393"/>
                  </a:cubicBezTo>
                  <a:cubicBezTo>
                    <a:pt x="605" y="3"/>
                    <a:pt x="605" y="3"/>
                    <a:pt x="605" y="3"/>
                  </a:cubicBezTo>
                  <a:cubicBezTo>
                    <a:pt x="611" y="0"/>
                    <a:pt x="618" y="1"/>
                    <a:pt x="622" y="7"/>
                  </a:cubicBezTo>
                  <a:cubicBezTo>
                    <a:pt x="626" y="13"/>
                    <a:pt x="624" y="20"/>
                    <a:pt x="618" y="24"/>
                  </a:cubicBezTo>
                  <a:cubicBezTo>
                    <a:pt x="21" y="414"/>
                    <a:pt x="21" y="414"/>
                    <a:pt x="21" y="414"/>
                  </a:cubicBezTo>
                  <a:cubicBezTo>
                    <a:pt x="19" y="415"/>
                    <a:pt x="16" y="415"/>
                    <a:pt x="14" y="4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8" name="Title 27">
            <a:extLst>
              <a:ext uri="{FF2B5EF4-FFF2-40B4-BE49-F238E27FC236}">
                <a16:creationId xmlns:a16="http://schemas.microsoft.com/office/drawing/2014/main" id="{72F1A6AB-2C0F-4837-9119-AA3E4FC7A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Diagram </a:t>
            </a:r>
          </a:p>
        </p:txBody>
      </p:sp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9EF383C9-A594-C8FD-5A13-12BF7CFF46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  <p:pic>
        <p:nvPicPr>
          <p:cNvPr id="12290" name="Picture 2" descr="alt">
            <a:extLst>
              <a:ext uri="{FF2B5EF4-FFF2-40B4-BE49-F238E27FC236}">
                <a16:creationId xmlns:a16="http://schemas.microsoft.com/office/drawing/2014/main" id="{6A5597A0-23C9-3083-D987-DC0749AE07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4" y="525066"/>
            <a:ext cx="8229600" cy="4093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3565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307D9-8326-D12D-9F0D-5704B08DD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555B8F0A-17E8-5276-3EA6-7AC69BD8ECF3}"/>
              </a:ext>
            </a:extLst>
          </p:cNvPr>
          <p:cNvGrpSpPr/>
          <p:nvPr/>
        </p:nvGrpSpPr>
        <p:grpSpPr>
          <a:xfrm>
            <a:off x="1646076" y="4029452"/>
            <a:ext cx="570912" cy="419326"/>
            <a:chOff x="6759575" y="3000375"/>
            <a:chExt cx="906463" cy="746125"/>
          </a:xfrm>
          <a:solidFill>
            <a:srgbClr val="F4F3F9"/>
          </a:solidFill>
        </p:grpSpPr>
        <p:sp>
          <p:nvSpPr>
            <p:cNvPr id="50" name="Freeform 55">
              <a:extLst>
                <a:ext uri="{FF2B5EF4-FFF2-40B4-BE49-F238E27FC236}">
                  <a16:creationId xmlns:a16="http://schemas.microsoft.com/office/drawing/2014/main" id="{5DA868B7-2D12-4535-8462-9838BDAFAD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1400" y="3000375"/>
              <a:ext cx="274638" cy="358775"/>
            </a:xfrm>
            <a:custGeom>
              <a:avLst/>
              <a:gdLst>
                <a:gd name="T0" fmla="*/ 182 w 364"/>
                <a:gd name="T1" fmla="*/ 476 h 476"/>
                <a:gd name="T2" fmla="*/ 152 w 364"/>
                <a:gd name="T3" fmla="*/ 462 h 476"/>
                <a:gd name="T4" fmla="*/ 0 w 364"/>
                <a:gd name="T5" fmla="*/ 182 h 476"/>
                <a:gd name="T6" fmla="*/ 53 w 364"/>
                <a:gd name="T7" fmla="*/ 53 h 476"/>
                <a:gd name="T8" fmla="*/ 182 w 364"/>
                <a:gd name="T9" fmla="*/ 0 h 476"/>
                <a:gd name="T10" fmla="*/ 182 w 364"/>
                <a:gd name="T11" fmla="*/ 0 h 476"/>
                <a:gd name="T12" fmla="*/ 364 w 364"/>
                <a:gd name="T13" fmla="*/ 182 h 476"/>
                <a:gd name="T14" fmla="*/ 212 w 364"/>
                <a:gd name="T15" fmla="*/ 462 h 476"/>
                <a:gd name="T16" fmla="*/ 182 w 364"/>
                <a:gd name="T17" fmla="*/ 476 h 476"/>
                <a:gd name="T18" fmla="*/ 182 w 364"/>
                <a:gd name="T19" fmla="*/ 24 h 476"/>
                <a:gd name="T20" fmla="*/ 70 w 364"/>
                <a:gd name="T21" fmla="*/ 70 h 476"/>
                <a:gd name="T22" fmla="*/ 24 w 364"/>
                <a:gd name="T23" fmla="*/ 182 h 476"/>
                <a:gd name="T24" fmla="*/ 171 w 364"/>
                <a:gd name="T25" fmla="*/ 447 h 476"/>
                <a:gd name="T26" fmla="*/ 182 w 364"/>
                <a:gd name="T27" fmla="*/ 452 h 476"/>
                <a:gd name="T28" fmla="*/ 193 w 364"/>
                <a:gd name="T29" fmla="*/ 447 h 476"/>
                <a:gd name="T30" fmla="*/ 340 w 364"/>
                <a:gd name="T31" fmla="*/ 182 h 476"/>
                <a:gd name="T32" fmla="*/ 182 w 364"/>
                <a:gd name="T33" fmla="*/ 24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4" h="476">
                  <a:moveTo>
                    <a:pt x="182" y="476"/>
                  </a:moveTo>
                  <a:cubicBezTo>
                    <a:pt x="170" y="476"/>
                    <a:pt x="159" y="471"/>
                    <a:pt x="152" y="462"/>
                  </a:cubicBezTo>
                  <a:cubicBezTo>
                    <a:pt x="95" y="389"/>
                    <a:pt x="0" y="257"/>
                    <a:pt x="0" y="182"/>
                  </a:cubicBezTo>
                  <a:cubicBezTo>
                    <a:pt x="0" y="133"/>
                    <a:pt x="19" y="87"/>
                    <a:pt x="53" y="53"/>
                  </a:cubicBezTo>
                  <a:cubicBezTo>
                    <a:pt x="87" y="19"/>
                    <a:pt x="133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282" y="0"/>
                    <a:pt x="364" y="81"/>
                    <a:pt x="364" y="182"/>
                  </a:cubicBezTo>
                  <a:cubicBezTo>
                    <a:pt x="364" y="257"/>
                    <a:pt x="269" y="389"/>
                    <a:pt x="212" y="462"/>
                  </a:cubicBezTo>
                  <a:cubicBezTo>
                    <a:pt x="205" y="471"/>
                    <a:pt x="194" y="476"/>
                    <a:pt x="182" y="476"/>
                  </a:cubicBezTo>
                  <a:close/>
                  <a:moveTo>
                    <a:pt x="182" y="24"/>
                  </a:moveTo>
                  <a:cubicBezTo>
                    <a:pt x="140" y="24"/>
                    <a:pt x="100" y="40"/>
                    <a:pt x="70" y="70"/>
                  </a:cubicBezTo>
                  <a:cubicBezTo>
                    <a:pt x="40" y="100"/>
                    <a:pt x="24" y="140"/>
                    <a:pt x="24" y="182"/>
                  </a:cubicBezTo>
                  <a:cubicBezTo>
                    <a:pt x="24" y="254"/>
                    <a:pt x="136" y="403"/>
                    <a:pt x="171" y="447"/>
                  </a:cubicBezTo>
                  <a:cubicBezTo>
                    <a:pt x="174" y="450"/>
                    <a:pt x="178" y="452"/>
                    <a:pt x="182" y="452"/>
                  </a:cubicBezTo>
                  <a:cubicBezTo>
                    <a:pt x="186" y="452"/>
                    <a:pt x="190" y="450"/>
                    <a:pt x="193" y="447"/>
                  </a:cubicBezTo>
                  <a:cubicBezTo>
                    <a:pt x="285" y="329"/>
                    <a:pt x="340" y="230"/>
                    <a:pt x="340" y="182"/>
                  </a:cubicBezTo>
                  <a:cubicBezTo>
                    <a:pt x="340" y="95"/>
                    <a:pt x="269" y="24"/>
                    <a:pt x="18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Freeform 56">
              <a:extLst>
                <a:ext uri="{FF2B5EF4-FFF2-40B4-BE49-F238E27FC236}">
                  <a16:creationId xmlns:a16="http://schemas.microsoft.com/office/drawing/2014/main" id="{6AB93A9A-FEE9-6130-94CC-AFBEE3A16D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0775" y="3079750"/>
              <a:ext cx="114300" cy="115888"/>
            </a:xfrm>
            <a:custGeom>
              <a:avLst/>
              <a:gdLst>
                <a:gd name="T0" fmla="*/ 76 w 152"/>
                <a:gd name="T1" fmla="*/ 152 h 152"/>
                <a:gd name="T2" fmla="*/ 0 w 152"/>
                <a:gd name="T3" fmla="*/ 76 h 152"/>
                <a:gd name="T4" fmla="*/ 76 w 152"/>
                <a:gd name="T5" fmla="*/ 0 h 152"/>
                <a:gd name="T6" fmla="*/ 76 w 152"/>
                <a:gd name="T7" fmla="*/ 0 h 152"/>
                <a:gd name="T8" fmla="*/ 130 w 152"/>
                <a:gd name="T9" fmla="*/ 22 h 152"/>
                <a:gd name="T10" fmla="*/ 152 w 152"/>
                <a:gd name="T11" fmla="*/ 76 h 152"/>
                <a:gd name="T12" fmla="*/ 152 w 152"/>
                <a:gd name="T13" fmla="*/ 76 h 152"/>
                <a:gd name="T14" fmla="*/ 76 w 152"/>
                <a:gd name="T15" fmla="*/ 152 h 152"/>
                <a:gd name="T16" fmla="*/ 76 w 152"/>
                <a:gd name="T17" fmla="*/ 24 h 152"/>
                <a:gd name="T18" fmla="*/ 76 w 152"/>
                <a:gd name="T19" fmla="*/ 24 h 152"/>
                <a:gd name="T20" fmla="*/ 24 w 152"/>
                <a:gd name="T21" fmla="*/ 76 h 152"/>
                <a:gd name="T22" fmla="*/ 76 w 152"/>
                <a:gd name="T23" fmla="*/ 128 h 152"/>
                <a:gd name="T24" fmla="*/ 128 w 152"/>
                <a:gd name="T25" fmla="*/ 76 h 152"/>
                <a:gd name="T26" fmla="*/ 128 w 152"/>
                <a:gd name="T27" fmla="*/ 76 h 152"/>
                <a:gd name="T28" fmla="*/ 113 w 152"/>
                <a:gd name="T29" fmla="*/ 39 h 152"/>
                <a:gd name="T30" fmla="*/ 76 w 152"/>
                <a:gd name="T31" fmla="*/ 2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2" h="152">
                  <a:moveTo>
                    <a:pt x="76" y="152"/>
                  </a:moveTo>
                  <a:cubicBezTo>
                    <a:pt x="34" y="152"/>
                    <a:pt x="0" y="118"/>
                    <a:pt x="0" y="76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6" y="0"/>
                    <a:pt x="115" y="8"/>
                    <a:pt x="130" y="22"/>
                  </a:cubicBezTo>
                  <a:cubicBezTo>
                    <a:pt x="144" y="37"/>
                    <a:pt x="152" y="56"/>
                    <a:pt x="152" y="76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118"/>
                    <a:pt x="118" y="152"/>
                    <a:pt x="76" y="152"/>
                  </a:cubicBezTo>
                  <a:close/>
                  <a:moveTo>
                    <a:pt x="76" y="24"/>
                  </a:moveTo>
                  <a:cubicBezTo>
                    <a:pt x="76" y="24"/>
                    <a:pt x="76" y="24"/>
                    <a:pt x="76" y="24"/>
                  </a:cubicBezTo>
                  <a:cubicBezTo>
                    <a:pt x="47" y="24"/>
                    <a:pt x="24" y="47"/>
                    <a:pt x="24" y="76"/>
                  </a:cubicBezTo>
                  <a:cubicBezTo>
                    <a:pt x="24" y="104"/>
                    <a:pt x="47" y="128"/>
                    <a:pt x="76" y="128"/>
                  </a:cubicBezTo>
                  <a:cubicBezTo>
                    <a:pt x="104" y="128"/>
                    <a:pt x="128" y="104"/>
                    <a:pt x="128" y="76"/>
                  </a:cubicBezTo>
                  <a:cubicBezTo>
                    <a:pt x="128" y="76"/>
                    <a:pt x="128" y="76"/>
                    <a:pt x="128" y="76"/>
                  </a:cubicBezTo>
                  <a:cubicBezTo>
                    <a:pt x="128" y="62"/>
                    <a:pt x="122" y="49"/>
                    <a:pt x="113" y="39"/>
                  </a:cubicBezTo>
                  <a:cubicBezTo>
                    <a:pt x="103" y="29"/>
                    <a:pt x="90" y="24"/>
                    <a:pt x="76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Freeform 57">
              <a:extLst>
                <a:ext uri="{FF2B5EF4-FFF2-40B4-BE49-F238E27FC236}">
                  <a16:creationId xmlns:a16="http://schemas.microsoft.com/office/drawing/2014/main" id="{214CC715-E1A0-5B34-09A7-81289C3AB1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9575" y="3232150"/>
              <a:ext cx="361950" cy="514350"/>
            </a:xfrm>
            <a:custGeom>
              <a:avLst/>
              <a:gdLst>
                <a:gd name="T0" fmla="*/ 240 w 480"/>
                <a:gd name="T1" fmla="*/ 681 h 681"/>
                <a:gd name="T2" fmla="*/ 208 w 480"/>
                <a:gd name="T3" fmla="*/ 663 h 681"/>
                <a:gd name="T4" fmla="*/ 16 w 480"/>
                <a:gd name="T5" fmla="*/ 270 h 681"/>
                <a:gd name="T6" fmla="*/ 61 w 480"/>
                <a:gd name="T7" fmla="*/ 80 h 681"/>
                <a:gd name="T8" fmla="*/ 240 w 480"/>
                <a:gd name="T9" fmla="*/ 5 h 681"/>
                <a:gd name="T10" fmla="*/ 419 w 480"/>
                <a:gd name="T11" fmla="*/ 80 h 681"/>
                <a:gd name="T12" fmla="*/ 465 w 480"/>
                <a:gd name="T13" fmla="*/ 270 h 681"/>
                <a:gd name="T14" fmla="*/ 272 w 480"/>
                <a:gd name="T15" fmla="*/ 663 h 681"/>
                <a:gd name="T16" fmla="*/ 240 w 480"/>
                <a:gd name="T17" fmla="*/ 681 h 681"/>
                <a:gd name="T18" fmla="*/ 240 w 480"/>
                <a:gd name="T19" fmla="*/ 681 h 681"/>
                <a:gd name="T20" fmla="*/ 226 w 480"/>
                <a:gd name="T21" fmla="*/ 28 h 681"/>
                <a:gd name="T22" fmla="*/ 80 w 480"/>
                <a:gd name="T23" fmla="*/ 96 h 681"/>
                <a:gd name="T24" fmla="*/ 39 w 480"/>
                <a:gd name="T25" fmla="*/ 264 h 681"/>
                <a:gd name="T26" fmla="*/ 39 w 480"/>
                <a:gd name="T27" fmla="*/ 265 h 681"/>
                <a:gd name="T28" fmla="*/ 228 w 480"/>
                <a:gd name="T29" fmla="*/ 650 h 681"/>
                <a:gd name="T30" fmla="*/ 240 w 480"/>
                <a:gd name="T31" fmla="*/ 657 h 681"/>
                <a:gd name="T32" fmla="*/ 240 w 480"/>
                <a:gd name="T33" fmla="*/ 657 h 681"/>
                <a:gd name="T34" fmla="*/ 252 w 480"/>
                <a:gd name="T35" fmla="*/ 650 h 681"/>
                <a:gd name="T36" fmla="*/ 441 w 480"/>
                <a:gd name="T37" fmla="*/ 265 h 681"/>
                <a:gd name="T38" fmla="*/ 441 w 480"/>
                <a:gd name="T39" fmla="*/ 264 h 681"/>
                <a:gd name="T40" fmla="*/ 401 w 480"/>
                <a:gd name="T41" fmla="*/ 96 h 681"/>
                <a:gd name="T42" fmla="*/ 241 w 480"/>
                <a:gd name="T43" fmla="*/ 29 h 681"/>
                <a:gd name="T44" fmla="*/ 240 w 480"/>
                <a:gd name="T45" fmla="*/ 29 h 681"/>
                <a:gd name="T46" fmla="*/ 239 w 480"/>
                <a:gd name="T47" fmla="*/ 29 h 681"/>
                <a:gd name="T48" fmla="*/ 226 w 480"/>
                <a:gd name="T49" fmla="*/ 28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0" h="681">
                  <a:moveTo>
                    <a:pt x="240" y="681"/>
                  </a:moveTo>
                  <a:cubicBezTo>
                    <a:pt x="227" y="681"/>
                    <a:pt x="214" y="674"/>
                    <a:pt x="208" y="663"/>
                  </a:cubicBezTo>
                  <a:cubicBezTo>
                    <a:pt x="156" y="580"/>
                    <a:pt x="35" y="376"/>
                    <a:pt x="16" y="270"/>
                  </a:cubicBezTo>
                  <a:cubicBezTo>
                    <a:pt x="0" y="203"/>
                    <a:pt x="17" y="132"/>
                    <a:pt x="61" y="80"/>
                  </a:cubicBezTo>
                  <a:cubicBezTo>
                    <a:pt x="105" y="28"/>
                    <a:pt x="172" y="0"/>
                    <a:pt x="240" y="5"/>
                  </a:cubicBezTo>
                  <a:cubicBezTo>
                    <a:pt x="308" y="0"/>
                    <a:pt x="375" y="28"/>
                    <a:pt x="419" y="80"/>
                  </a:cubicBezTo>
                  <a:cubicBezTo>
                    <a:pt x="464" y="132"/>
                    <a:pt x="480" y="203"/>
                    <a:pt x="465" y="270"/>
                  </a:cubicBezTo>
                  <a:cubicBezTo>
                    <a:pt x="449" y="362"/>
                    <a:pt x="325" y="575"/>
                    <a:pt x="272" y="663"/>
                  </a:cubicBezTo>
                  <a:cubicBezTo>
                    <a:pt x="266" y="674"/>
                    <a:pt x="253" y="681"/>
                    <a:pt x="240" y="681"/>
                  </a:cubicBezTo>
                  <a:cubicBezTo>
                    <a:pt x="240" y="681"/>
                    <a:pt x="240" y="681"/>
                    <a:pt x="240" y="681"/>
                  </a:cubicBezTo>
                  <a:close/>
                  <a:moveTo>
                    <a:pt x="226" y="28"/>
                  </a:moveTo>
                  <a:cubicBezTo>
                    <a:pt x="170" y="28"/>
                    <a:pt x="116" y="53"/>
                    <a:pt x="80" y="96"/>
                  </a:cubicBezTo>
                  <a:cubicBezTo>
                    <a:pt x="40" y="142"/>
                    <a:pt x="25" y="205"/>
                    <a:pt x="39" y="264"/>
                  </a:cubicBezTo>
                  <a:cubicBezTo>
                    <a:pt x="39" y="265"/>
                    <a:pt x="39" y="265"/>
                    <a:pt x="39" y="265"/>
                  </a:cubicBezTo>
                  <a:cubicBezTo>
                    <a:pt x="58" y="368"/>
                    <a:pt x="178" y="569"/>
                    <a:pt x="228" y="650"/>
                  </a:cubicBezTo>
                  <a:cubicBezTo>
                    <a:pt x="231" y="655"/>
                    <a:pt x="235" y="657"/>
                    <a:pt x="240" y="657"/>
                  </a:cubicBezTo>
                  <a:cubicBezTo>
                    <a:pt x="240" y="657"/>
                    <a:pt x="240" y="657"/>
                    <a:pt x="240" y="657"/>
                  </a:cubicBezTo>
                  <a:cubicBezTo>
                    <a:pt x="245" y="657"/>
                    <a:pt x="249" y="655"/>
                    <a:pt x="252" y="650"/>
                  </a:cubicBezTo>
                  <a:cubicBezTo>
                    <a:pt x="304" y="564"/>
                    <a:pt x="426" y="353"/>
                    <a:pt x="441" y="265"/>
                  </a:cubicBezTo>
                  <a:cubicBezTo>
                    <a:pt x="441" y="264"/>
                    <a:pt x="441" y="264"/>
                    <a:pt x="441" y="264"/>
                  </a:cubicBezTo>
                  <a:cubicBezTo>
                    <a:pt x="455" y="205"/>
                    <a:pt x="440" y="142"/>
                    <a:pt x="401" y="96"/>
                  </a:cubicBezTo>
                  <a:cubicBezTo>
                    <a:pt x="362" y="49"/>
                    <a:pt x="302" y="24"/>
                    <a:pt x="241" y="29"/>
                  </a:cubicBezTo>
                  <a:cubicBezTo>
                    <a:pt x="240" y="29"/>
                    <a:pt x="240" y="29"/>
                    <a:pt x="240" y="29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35" y="28"/>
                    <a:pt x="230" y="28"/>
                    <a:pt x="226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Freeform 58">
              <a:extLst>
                <a:ext uri="{FF2B5EF4-FFF2-40B4-BE49-F238E27FC236}">
                  <a16:creationId xmlns:a16="http://schemas.microsoft.com/office/drawing/2014/main" id="{D63CA341-6E18-C61F-0449-2927771A89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1650" y="3314700"/>
              <a:ext cx="171450" cy="165100"/>
            </a:xfrm>
            <a:custGeom>
              <a:avLst/>
              <a:gdLst>
                <a:gd name="T0" fmla="*/ 118 w 228"/>
                <a:gd name="T1" fmla="*/ 219 h 219"/>
                <a:gd name="T2" fmla="*/ 41 w 228"/>
                <a:gd name="T3" fmla="*/ 187 h 219"/>
                <a:gd name="T4" fmla="*/ 17 w 228"/>
                <a:gd name="T5" fmla="*/ 68 h 219"/>
                <a:gd name="T6" fmla="*/ 118 w 228"/>
                <a:gd name="T7" fmla="*/ 0 h 219"/>
                <a:gd name="T8" fmla="*/ 228 w 228"/>
                <a:gd name="T9" fmla="*/ 110 h 219"/>
                <a:gd name="T10" fmla="*/ 228 w 228"/>
                <a:gd name="T11" fmla="*/ 110 h 219"/>
                <a:gd name="T12" fmla="*/ 160 w 228"/>
                <a:gd name="T13" fmla="*/ 211 h 219"/>
                <a:gd name="T14" fmla="*/ 118 w 228"/>
                <a:gd name="T15" fmla="*/ 219 h 219"/>
                <a:gd name="T16" fmla="*/ 118 w 228"/>
                <a:gd name="T17" fmla="*/ 24 h 219"/>
                <a:gd name="T18" fmla="*/ 39 w 228"/>
                <a:gd name="T19" fmla="*/ 77 h 219"/>
                <a:gd name="T20" fmla="*/ 58 w 228"/>
                <a:gd name="T21" fmla="*/ 170 h 219"/>
                <a:gd name="T22" fmla="*/ 151 w 228"/>
                <a:gd name="T23" fmla="*/ 189 h 219"/>
                <a:gd name="T24" fmla="*/ 204 w 228"/>
                <a:gd name="T25" fmla="*/ 110 h 219"/>
                <a:gd name="T26" fmla="*/ 204 w 228"/>
                <a:gd name="T27" fmla="*/ 110 h 219"/>
                <a:gd name="T28" fmla="*/ 118 w 228"/>
                <a:gd name="T29" fmla="*/ 24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19">
                  <a:moveTo>
                    <a:pt x="118" y="219"/>
                  </a:moveTo>
                  <a:cubicBezTo>
                    <a:pt x="90" y="219"/>
                    <a:pt x="62" y="208"/>
                    <a:pt x="41" y="187"/>
                  </a:cubicBezTo>
                  <a:cubicBezTo>
                    <a:pt x="9" y="156"/>
                    <a:pt x="0" y="109"/>
                    <a:pt x="17" y="68"/>
                  </a:cubicBezTo>
                  <a:cubicBezTo>
                    <a:pt x="34" y="27"/>
                    <a:pt x="74" y="0"/>
                    <a:pt x="118" y="0"/>
                  </a:cubicBezTo>
                  <a:cubicBezTo>
                    <a:pt x="179" y="0"/>
                    <a:pt x="228" y="49"/>
                    <a:pt x="228" y="110"/>
                  </a:cubicBezTo>
                  <a:cubicBezTo>
                    <a:pt x="228" y="110"/>
                    <a:pt x="228" y="110"/>
                    <a:pt x="228" y="110"/>
                  </a:cubicBezTo>
                  <a:cubicBezTo>
                    <a:pt x="228" y="154"/>
                    <a:pt x="201" y="194"/>
                    <a:pt x="160" y="211"/>
                  </a:cubicBezTo>
                  <a:cubicBezTo>
                    <a:pt x="147" y="217"/>
                    <a:pt x="132" y="219"/>
                    <a:pt x="118" y="219"/>
                  </a:cubicBezTo>
                  <a:close/>
                  <a:moveTo>
                    <a:pt x="118" y="24"/>
                  </a:moveTo>
                  <a:cubicBezTo>
                    <a:pt x="84" y="24"/>
                    <a:pt x="53" y="45"/>
                    <a:pt x="39" y="77"/>
                  </a:cubicBezTo>
                  <a:cubicBezTo>
                    <a:pt x="26" y="109"/>
                    <a:pt x="33" y="146"/>
                    <a:pt x="58" y="170"/>
                  </a:cubicBezTo>
                  <a:cubicBezTo>
                    <a:pt x="82" y="195"/>
                    <a:pt x="119" y="202"/>
                    <a:pt x="151" y="189"/>
                  </a:cubicBezTo>
                  <a:cubicBezTo>
                    <a:pt x="183" y="175"/>
                    <a:pt x="204" y="144"/>
                    <a:pt x="204" y="110"/>
                  </a:cubicBezTo>
                  <a:cubicBezTo>
                    <a:pt x="204" y="110"/>
                    <a:pt x="204" y="110"/>
                    <a:pt x="204" y="110"/>
                  </a:cubicBezTo>
                  <a:cubicBezTo>
                    <a:pt x="204" y="63"/>
                    <a:pt x="165" y="24"/>
                    <a:pt x="118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Freeform 59">
              <a:extLst>
                <a:ext uri="{FF2B5EF4-FFF2-40B4-BE49-F238E27FC236}">
                  <a16:creationId xmlns:a16="http://schemas.microsoft.com/office/drawing/2014/main" id="{90993142-73A7-B695-B93E-04A7C268A1F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913" y="3411538"/>
              <a:ext cx="471488" cy="312738"/>
            </a:xfrm>
            <a:custGeom>
              <a:avLst/>
              <a:gdLst>
                <a:gd name="T0" fmla="*/ 14 w 626"/>
                <a:gd name="T1" fmla="*/ 415 h 415"/>
                <a:gd name="T2" fmla="*/ 4 w 626"/>
                <a:gd name="T3" fmla="*/ 410 h 415"/>
                <a:gd name="T4" fmla="*/ 7 w 626"/>
                <a:gd name="T5" fmla="*/ 393 h 415"/>
                <a:gd name="T6" fmla="*/ 605 w 626"/>
                <a:gd name="T7" fmla="*/ 3 h 415"/>
                <a:gd name="T8" fmla="*/ 622 w 626"/>
                <a:gd name="T9" fmla="*/ 7 h 415"/>
                <a:gd name="T10" fmla="*/ 618 w 626"/>
                <a:gd name="T11" fmla="*/ 24 h 415"/>
                <a:gd name="T12" fmla="*/ 21 w 626"/>
                <a:gd name="T13" fmla="*/ 414 h 415"/>
                <a:gd name="T14" fmla="*/ 14 w 626"/>
                <a:gd name="T15" fmla="*/ 41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6" h="415">
                  <a:moveTo>
                    <a:pt x="14" y="415"/>
                  </a:moveTo>
                  <a:cubicBezTo>
                    <a:pt x="10" y="415"/>
                    <a:pt x="6" y="414"/>
                    <a:pt x="4" y="410"/>
                  </a:cubicBezTo>
                  <a:cubicBezTo>
                    <a:pt x="0" y="405"/>
                    <a:pt x="2" y="397"/>
                    <a:pt x="7" y="393"/>
                  </a:cubicBezTo>
                  <a:cubicBezTo>
                    <a:pt x="605" y="3"/>
                    <a:pt x="605" y="3"/>
                    <a:pt x="605" y="3"/>
                  </a:cubicBezTo>
                  <a:cubicBezTo>
                    <a:pt x="611" y="0"/>
                    <a:pt x="618" y="1"/>
                    <a:pt x="622" y="7"/>
                  </a:cubicBezTo>
                  <a:cubicBezTo>
                    <a:pt x="626" y="13"/>
                    <a:pt x="624" y="20"/>
                    <a:pt x="618" y="24"/>
                  </a:cubicBezTo>
                  <a:cubicBezTo>
                    <a:pt x="21" y="414"/>
                    <a:pt x="21" y="414"/>
                    <a:pt x="21" y="414"/>
                  </a:cubicBezTo>
                  <a:cubicBezTo>
                    <a:pt x="19" y="415"/>
                    <a:pt x="16" y="415"/>
                    <a:pt x="14" y="4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8" name="Title 27">
            <a:extLst>
              <a:ext uri="{FF2B5EF4-FFF2-40B4-BE49-F238E27FC236}">
                <a16:creationId xmlns:a16="http://schemas.microsoft.com/office/drawing/2014/main" id="{DDA4AF1A-F708-50C1-AE32-18E69A81D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BeyondTrust Key Features</a:t>
            </a:r>
          </a:p>
        </p:txBody>
      </p:sp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BD2C3F1D-440F-5B53-DB0D-6DE1155C77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TCS confidential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7DAED8-ABDC-8126-24CB-2F3F08A4B651}"/>
              </a:ext>
            </a:extLst>
          </p:cNvPr>
          <p:cNvSpPr/>
          <p:nvPr/>
        </p:nvSpPr>
        <p:spPr>
          <a:xfrm>
            <a:off x="306065" y="673211"/>
            <a:ext cx="3968775" cy="3910078"/>
          </a:xfrm>
          <a:prstGeom prst="roundRect">
            <a:avLst/>
          </a:prstGeom>
          <a:noFill/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976573-1615-0505-F421-E80E5F10918E}"/>
              </a:ext>
            </a:extLst>
          </p:cNvPr>
          <p:cNvSpPr txBox="1"/>
          <p:nvPr/>
        </p:nvSpPr>
        <p:spPr>
          <a:xfrm>
            <a:off x="4869161" y="1124522"/>
            <a:ext cx="4572000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800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DevOps Secrets Vault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Developer-friendly secrets </a:t>
            </a:r>
          </a:p>
          <a:p>
            <a:r>
              <a:rPr lang="en-GB" sz="18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	management</a:t>
            </a:r>
            <a:endParaRPr lang="en-GB" sz="18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CI/CD pipeline integration</a:t>
            </a:r>
            <a:endParaRPr lang="en-GB" sz="18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API-first architecture</a:t>
            </a:r>
            <a:endParaRPr lang="en-GB" sz="18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Container and cloud support</a:t>
            </a:r>
            <a:endParaRPr lang="en-GB" sz="18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>
              <a:buNone/>
            </a:pPr>
            <a:r>
              <a:rPr lang="en-GB" sz="1800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Rapid 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Cloud-based setup in minutes</a:t>
            </a:r>
            <a:endParaRPr lang="en-GB" sz="18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Minimal infrastructure requirements</a:t>
            </a:r>
            <a:endParaRPr lang="en-GB" sz="18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Automatic updates and maintenance</a:t>
            </a:r>
            <a:endParaRPr lang="en-GB" sz="18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Scalable architecture</a:t>
            </a:r>
            <a:endParaRPr lang="en-GB" sz="18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0388BFC-C89F-09A3-2D89-2C527842DF81}"/>
              </a:ext>
            </a:extLst>
          </p:cNvPr>
          <p:cNvSpPr/>
          <p:nvPr/>
        </p:nvSpPr>
        <p:spPr>
          <a:xfrm>
            <a:off x="4674315" y="641294"/>
            <a:ext cx="3968775" cy="3941995"/>
          </a:xfrm>
          <a:prstGeom prst="roundRect">
            <a:avLst/>
          </a:prstGeom>
          <a:noFill/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9157E7-8BCC-E682-9CC1-4DFDE595211C}"/>
              </a:ext>
            </a:extLst>
          </p:cNvPr>
          <p:cNvSpPr txBox="1"/>
          <p:nvPr/>
        </p:nvSpPr>
        <p:spPr>
          <a:xfrm>
            <a:off x="387838" y="1136791"/>
            <a:ext cx="4572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800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Secret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Cloud-native password management</a:t>
            </a:r>
            <a:endParaRPr lang="en-GB" sz="18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Automated credential rotation</a:t>
            </a:r>
            <a:endParaRPr lang="en-GB" sz="18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Secure password sharing</a:t>
            </a:r>
            <a:endParaRPr lang="en-GB" sz="18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Comprehensive audit trails</a:t>
            </a:r>
            <a:endParaRPr lang="en-GB" sz="18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 </a:t>
            </a:r>
            <a:endParaRPr lang="en-GB" sz="18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>
              <a:buNone/>
            </a:pPr>
            <a:r>
              <a:rPr lang="en-GB" sz="1800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Privilege Manager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Endpoint privilege management</a:t>
            </a:r>
            <a:endParaRPr lang="en-GB" sz="18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Application control and whitelisting</a:t>
            </a:r>
            <a:endParaRPr lang="en-GB" sz="18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Privilege elevation workflows</a:t>
            </a:r>
            <a:endParaRPr lang="en-GB" sz="18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User </a:t>
            </a:r>
            <a:r>
              <a:rPr lang="en-GB" sz="1800" dirty="0" err="1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behavior</a:t>
            </a:r>
            <a:r>
              <a:rPr lang="en-GB" sz="18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 monitoring</a:t>
            </a:r>
            <a:endParaRPr lang="en-GB" sz="18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691434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AB8B5-F62A-E246-F645-010632FD0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2D2911E4-43D4-BA64-DA11-22FB9E50448D}"/>
              </a:ext>
            </a:extLst>
          </p:cNvPr>
          <p:cNvGrpSpPr/>
          <p:nvPr/>
        </p:nvGrpSpPr>
        <p:grpSpPr>
          <a:xfrm>
            <a:off x="1646076" y="4029452"/>
            <a:ext cx="570912" cy="419326"/>
            <a:chOff x="6759575" y="3000375"/>
            <a:chExt cx="906463" cy="746125"/>
          </a:xfrm>
          <a:solidFill>
            <a:srgbClr val="F4F3F9"/>
          </a:solidFill>
        </p:grpSpPr>
        <p:sp>
          <p:nvSpPr>
            <p:cNvPr id="50" name="Freeform 55">
              <a:extLst>
                <a:ext uri="{FF2B5EF4-FFF2-40B4-BE49-F238E27FC236}">
                  <a16:creationId xmlns:a16="http://schemas.microsoft.com/office/drawing/2014/main" id="{A70CAA77-FCD6-3C26-3CB8-01B3D4C487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1400" y="3000375"/>
              <a:ext cx="274638" cy="358775"/>
            </a:xfrm>
            <a:custGeom>
              <a:avLst/>
              <a:gdLst>
                <a:gd name="T0" fmla="*/ 182 w 364"/>
                <a:gd name="T1" fmla="*/ 476 h 476"/>
                <a:gd name="T2" fmla="*/ 152 w 364"/>
                <a:gd name="T3" fmla="*/ 462 h 476"/>
                <a:gd name="T4" fmla="*/ 0 w 364"/>
                <a:gd name="T5" fmla="*/ 182 h 476"/>
                <a:gd name="T6" fmla="*/ 53 w 364"/>
                <a:gd name="T7" fmla="*/ 53 h 476"/>
                <a:gd name="T8" fmla="*/ 182 w 364"/>
                <a:gd name="T9" fmla="*/ 0 h 476"/>
                <a:gd name="T10" fmla="*/ 182 w 364"/>
                <a:gd name="T11" fmla="*/ 0 h 476"/>
                <a:gd name="T12" fmla="*/ 364 w 364"/>
                <a:gd name="T13" fmla="*/ 182 h 476"/>
                <a:gd name="T14" fmla="*/ 212 w 364"/>
                <a:gd name="T15" fmla="*/ 462 h 476"/>
                <a:gd name="T16" fmla="*/ 182 w 364"/>
                <a:gd name="T17" fmla="*/ 476 h 476"/>
                <a:gd name="T18" fmla="*/ 182 w 364"/>
                <a:gd name="T19" fmla="*/ 24 h 476"/>
                <a:gd name="T20" fmla="*/ 70 w 364"/>
                <a:gd name="T21" fmla="*/ 70 h 476"/>
                <a:gd name="T22" fmla="*/ 24 w 364"/>
                <a:gd name="T23" fmla="*/ 182 h 476"/>
                <a:gd name="T24" fmla="*/ 171 w 364"/>
                <a:gd name="T25" fmla="*/ 447 h 476"/>
                <a:gd name="T26" fmla="*/ 182 w 364"/>
                <a:gd name="T27" fmla="*/ 452 h 476"/>
                <a:gd name="T28" fmla="*/ 193 w 364"/>
                <a:gd name="T29" fmla="*/ 447 h 476"/>
                <a:gd name="T30" fmla="*/ 340 w 364"/>
                <a:gd name="T31" fmla="*/ 182 h 476"/>
                <a:gd name="T32" fmla="*/ 182 w 364"/>
                <a:gd name="T33" fmla="*/ 24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4" h="476">
                  <a:moveTo>
                    <a:pt x="182" y="476"/>
                  </a:moveTo>
                  <a:cubicBezTo>
                    <a:pt x="170" y="476"/>
                    <a:pt x="159" y="471"/>
                    <a:pt x="152" y="462"/>
                  </a:cubicBezTo>
                  <a:cubicBezTo>
                    <a:pt x="95" y="389"/>
                    <a:pt x="0" y="257"/>
                    <a:pt x="0" y="182"/>
                  </a:cubicBezTo>
                  <a:cubicBezTo>
                    <a:pt x="0" y="133"/>
                    <a:pt x="19" y="87"/>
                    <a:pt x="53" y="53"/>
                  </a:cubicBezTo>
                  <a:cubicBezTo>
                    <a:pt x="87" y="19"/>
                    <a:pt x="133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282" y="0"/>
                    <a:pt x="364" y="81"/>
                    <a:pt x="364" y="182"/>
                  </a:cubicBezTo>
                  <a:cubicBezTo>
                    <a:pt x="364" y="257"/>
                    <a:pt x="269" y="389"/>
                    <a:pt x="212" y="462"/>
                  </a:cubicBezTo>
                  <a:cubicBezTo>
                    <a:pt x="205" y="471"/>
                    <a:pt x="194" y="476"/>
                    <a:pt x="182" y="476"/>
                  </a:cubicBezTo>
                  <a:close/>
                  <a:moveTo>
                    <a:pt x="182" y="24"/>
                  </a:moveTo>
                  <a:cubicBezTo>
                    <a:pt x="140" y="24"/>
                    <a:pt x="100" y="40"/>
                    <a:pt x="70" y="70"/>
                  </a:cubicBezTo>
                  <a:cubicBezTo>
                    <a:pt x="40" y="100"/>
                    <a:pt x="24" y="140"/>
                    <a:pt x="24" y="182"/>
                  </a:cubicBezTo>
                  <a:cubicBezTo>
                    <a:pt x="24" y="254"/>
                    <a:pt x="136" y="403"/>
                    <a:pt x="171" y="447"/>
                  </a:cubicBezTo>
                  <a:cubicBezTo>
                    <a:pt x="174" y="450"/>
                    <a:pt x="178" y="452"/>
                    <a:pt x="182" y="452"/>
                  </a:cubicBezTo>
                  <a:cubicBezTo>
                    <a:pt x="186" y="452"/>
                    <a:pt x="190" y="450"/>
                    <a:pt x="193" y="447"/>
                  </a:cubicBezTo>
                  <a:cubicBezTo>
                    <a:pt x="285" y="329"/>
                    <a:pt x="340" y="230"/>
                    <a:pt x="340" y="182"/>
                  </a:cubicBezTo>
                  <a:cubicBezTo>
                    <a:pt x="340" y="95"/>
                    <a:pt x="269" y="24"/>
                    <a:pt x="18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Freeform 56">
              <a:extLst>
                <a:ext uri="{FF2B5EF4-FFF2-40B4-BE49-F238E27FC236}">
                  <a16:creationId xmlns:a16="http://schemas.microsoft.com/office/drawing/2014/main" id="{CD5ADE30-EBD2-417B-CDF4-B03444A25B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0775" y="3079750"/>
              <a:ext cx="114300" cy="115888"/>
            </a:xfrm>
            <a:custGeom>
              <a:avLst/>
              <a:gdLst>
                <a:gd name="T0" fmla="*/ 76 w 152"/>
                <a:gd name="T1" fmla="*/ 152 h 152"/>
                <a:gd name="T2" fmla="*/ 0 w 152"/>
                <a:gd name="T3" fmla="*/ 76 h 152"/>
                <a:gd name="T4" fmla="*/ 76 w 152"/>
                <a:gd name="T5" fmla="*/ 0 h 152"/>
                <a:gd name="T6" fmla="*/ 76 w 152"/>
                <a:gd name="T7" fmla="*/ 0 h 152"/>
                <a:gd name="T8" fmla="*/ 130 w 152"/>
                <a:gd name="T9" fmla="*/ 22 h 152"/>
                <a:gd name="T10" fmla="*/ 152 w 152"/>
                <a:gd name="T11" fmla="*/ 76 h 152"/>
                <a:gd name="T12" fmla="*/ 152 w 152"/>
                <a:gd name="T13" fmla="*/ 76 h 152"/>
                <a:gd name="T14" fmla="*/ 76 w 152"/>
                <a:gd name="T15" fmla="*/ 152 h 152"/>
                <a:gd name="T16" fmla="*/ 76 w 152"/>
                <a:gd name="T17" fmla="*/ 24 h 152"/>
                <a:gd name="T18" fmla="*/ 76 w 152"/>
                <a:gd name="T19" fmla="*/ 24 h 152"/>
                <a:gd name="T20" fmla="*/ 24 w 152"/>
                <a:gd name="T21" fmla="*/ 76 h 152"/>
                <a:gd name="T22" fmla="*/ 76 w 152"/>
                <a:gd name="T23" fmla="*/ 128 h 152"/>
                <a:gd name="T24" fmla="*/ 128 w 152"/>
                <a:gd name="T25" fmla="*/ 76 h 152"/>
                <a:gd name="T26" fmla="*/ 128 w 152"/>
                <a:gd name="T27" fmla="*/ 76 h 152"/>
                <a:gd name="T28" fmla="*/ 113 w 152"/>
                <a:gd name="T29" fmla="*/ 39 h 152"/>
                <a:gd name="T30" fmla="*/ 76 w 152"/>
                <a:gd name="T31" fmla="*/ 2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2" h="152">
                  <a:moveTo>
                    <a:pt x="76" y="152"/>
                  </a:moveTo>
                  <a:cubicBezTo>
                    <a:pt x="34" y="152"/>
                    <a:pt x="0" y="118"/>
                    <a:pt x="0" y="76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6" y="0"/>
                    <a:pt x="115" y="8"/>
                    <a:pt x="130" y="22"/>
                  </a:cubicBezTo>
                  <a:cubicBezTo>
                    <a:pt x="144" y="37"/>
                    <a:pt x="152" y="56"/>
                    <a:pt x="152" y="76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118"/>
                    <a:pt x="118" y="152"/>
                    <a:pt x="76" y="152"/>
                  </a:cubicBezTo>
                  <a:close/>
                  <a:moveTo>
                    <a:pt x="76" y="24"/>
                  </a:moveTo>
                  <a:cubicBezTo>
                    <a:pt x="76" y="24"/>
                    <a:pt x="76" y="24"/>
                    <a:pt x="76" y="24"/>
                  </a:cubicBezTo>
                  <a:cubicBezTo>
                    <a:pt x="47" y="24"/>
                    <a:pt x="24" y="47"/>
                    <a:pt x="24" y="76"/>
                  </a:cubicBezTo>
                  <a:cubicBezTo>
                    <a:pt x="24" y="104"/>
                    <a:pt x="47" y="128"/>
                    <a:pt x="76" y="128"/>
                  </a:cubicBezTo>
                  <a:cubicBezTo>
                    <a:pt x="104" y="128"/>
                    <a:pt x="128" y="104"/>
                    <a:pt x="128" y="76"/>
                  </a:cubicBezTo>
                  <a:cubicBezTo>
                    <a:pt x="128" y="76"/>
                    <a:pt x="128" y="76"/>
                    <a:pt x="128" y="76"/>
                  </a:cubicBezTo>
                  <a:cubicBezTo>
                    <a:pt x="128" y="62"/>
                    <a:pt x="122" y="49"/>
                    <a:pt x="113" y="39"/>
                  </a:cubicBezTo>
                  <a:cubicBezTo>
                    <a:pt x="103" y="29"/>
                    <a:pt x="90" y="24"/>
                    <a:pt x="76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Freeform 57">
              <a:extLst>
                <a:ext uri="{FF2B5EF4-FFF2-40B4-BE49-F238E27FC236}">
                  <a16:creationId xmlns:a16="http://schemas.microsoft.com/office/drawing/2014/main" id="{06E88A67-5B1D-0E15-CC72-631F3AFBD4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9575" y="3232150"/>
              <a:ext cx="361950" cy="514350"/>
            </a:xfrm>
            <a:custGeom>
              <a:avLst/>
              <a:gdLst>
                <a:gd name="T0" fmla="*/ 240 w 480"/>
                <a:gd name="T1" fmla="*/ 681 h 681"/>
                <a:gd name="T2" fmla="*/ 208 w 480"/>
                <a:gd name="T3" fmla="*/ 663 h 681"/>
                <a:gd name="T4" fmla="*/ 16 w 480"/>
                <a:gd name="T5" fmla="*/ 270 h 681"/>
                <a:gd name="T6" fmla="*/ 61 w 480"/>
                <a:gd name="T7" fmla="*/ 80 h 681"/>
                <a:gd name="T8" fmla="*/ 240 w 480"/>
                <a:gd name="T9" fmla="*/ 5 h 681"/>
                <a:gd name="T10" fmla="*/ 419 w 480"/>
                <a:gd name="T11" fmla="*/ 80 h 681"/>
                <a:gd name="T12" fmla="*/ 465 w 480"/>
                <a:gd name="T13" fmla="*/ 270 h 681"/>
                <a:gd name="T14" fmla="*/ 272 w 480"/>
                <a:gd name="T15" fmla="*/ 663 h 681"/>
                <a:gd name="T16" fmla="*/ 240 w 480"/>
                <a:gd name="T17" fmla="*/ 681 h 681"/>
                <a:gd name="T18" fmla="*/ 240 w 480"/>
                <a:gd name="T19" fmla="*/ 681 h 681"/>
                <a:gd name="T20" fmla="*/ 226 w 480"/>
                <a:gd name="T21" fmla="*/ 28 h 681"/>
                <a:gd name="T22" fmla="*/ 80 w 480"/>
                <a:gd name="T23" fmla="*/ 96 h 681"/>
                <a:gd name="T24" fmla="*/ 39 w 480"/>
                <a:gd name="T25" fmla="*/ 264 h 681"/>
                <a:gd name="T26" fmla="*/ 39 w 480"/>
                <a:gd name="T27" fmla="*/ 265 h 681"/>
                <a:gd name="T28" fmla="*/ 228 w 480"/>
                <a:gd name="T29" fmla="*/ 650 h 681"/>
                <a:gd name="T30" fmla="*/ 240 w 480"/>
                <a:gd name="T31" fmla="*/ 657 h 681"/>
                <a:gd name="T32" fmla="*/ 240 w 480"/>
                <a:gd name="T33" fmla="*/ 657 h 681"/>
                <a:gd name="T34" fmla="*/ 252 w 480"/>
                <a:gd name="T35" fmla="*/ 650 h 681"/>
                <a:gd name="T36" fmla="*/ 441 w 480"/>
                <a:gd name="T37" fmla="*/ 265 h 681"/>
                <a:gd name="T38" fmla="*/ 441 w 480"/>
                <a:gd name="T39" fmla="*/ 264 h 681"/>
                <a:gd name="T40" fmla="*/ 401 w 480"/>
                <a:gd name="T41" fmla="*/ 96 h 681"/>
                <a:gd name="T42" fmla="*/ 241 w 480"/>
                <a:gd name="T43" fmla="*/ 29 h 681"/>
                <a:gd name="T44" fmla="*/ 240 w 480"/>
                <a:gd name="T45" fmla="*/ 29 h 681"/>
                <a:gd name="T46" fmla="*/ 239 w 480"/>
                <a:gd name="T47" fmla="*/ 29 h 681"/>
                <a:gd name="T48" fmla="*/ 226 w 480"/>
                <a:gd name="T49" fmla="*/ 28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0" h="681">
                  <a:moveTo>
                    <a:pt x="240" y="681"/>
                  </a:moveTo>
                  <a:cubicBezTo>
                    <a:pt x="227" y="681"/>
                    <a:pt x="214" y="674"/>
                    <a:pt x="208" y="663"/>
                  </a:cubicBezTo>
                  <a:cubicBezTo>
                    <a:pt x="156" y="580"/>
                    <a:pt x="35" y="376"/>
                    <a:pt x="16" y="270"/>
                  </a:cubicBezTo>
                  <a:cubicBezTo>
                    <a:pt x="0" y="203"/>
                    <a:pt x="17" y="132"/>
                    <a:pt x="61" y="80"/>
                  </a:cubicBezTo>
                  <a:cubicBezTo>
                    <a:pt x="105" y="28"/>
                    <a:pt x="172" y="0"/>
                    <a:pt x="240" y="5"/>
                  </a:cubicBezTo>
                  <a:cubicBezTo>
                    <a:pt x="308" y="0"/>
                    <a:pt x="375" y="28"/>
                    <a:pt x="419" y="80"/>
                  </a:cubicBezTo>
                  <a:cubicBezTo>
                    <a:pt x="464" y="132"/>
                    <a:pt x="480" y="203"/>
                    <a:pt x="465" y="270"/>
                  </a:cubicBezTo>
                  <a:cubicBezTo>
                    <a:pt x="449" y="362"/>
                    <a:pt x="325" y="575"/>
                    <a:pt x="272" y="663"/>
                  </a:cubicBezTo>
                  <a:cubicBezTo>
                    <a:pt x="266" y="674"/>
                    <a:pt x="253" y="681"/>
                    <a:pt x="240" y="681"/>
                  </a:cubicBezTo>
                  <a:cubicBezTo>
                    <a:pt x="240" y="681"/>
                    <a:pt x="240" y="681"/>
                    <a:pt x="240" y="681"/>
                  </a:cubicBezTo>
                  <a:close/>
                  <a:moveTo>
                    <a:pt x="226" y="28"/>
                  </a:moveTo>
                  <a:cubicBezTo>
                    <a:pt x="170" y="28"/>
                    <a:pt x="116" y="53"/>
                    <a:pt x="80" y="96"/>
                  </a:cubicBezTo>
                  <a:cubicBezTo>
                    <a:pt x="40" y="142"/>
                    <a:pt x="25" y="205"/>
                    <a:pt x="39" y="264"/>
                  </a:cubicBezTo>
                  <a:cubicBezTo>
                    <a:pt x="39" y="265"/>
                    <a:pt x="39" y="265"/>
                    <a:pt x="39" y="265"/>
                  </a:cubicBezTo>
                  <a:cubicBezTo>
                    <a:pt x="58" y="368"/>
                    <a:pt x="178" y="569"/>
                    <a:pt x="228" y="650"/>
                  </a:cubicBezTo>
                  <a:cubicBezTo>
                    <a:pt x="231" y="655"/>
                    <a:pt x="235" y="657"/>
                    <a:pt x="240" y="657"/>
                  </a:cubicBezTo>
                  <a:cubicBezTo>
                    <a:pt x="240" y="657"/>
                    <a:pt x="240" y="657"/>
                    <a:pt x="240" y="657"/>
                  </a:cubicBezTo>
                  <a:cubicBezTo>
                    <a:pt x="245" y="657"/>
                    <a:pt x="249" y="655"/>
                    <a:pt x="252" y="650"/>
                  </a:cubicBezTo>
                  <a:cubicBezTo>
                    <a:pt x="304" y="564"/>
                    <a:pt x="426" y="353"/>
                    <a:pt x="441" y="265"/>
                  </a:cubicBezTo>
                  <a:cubicBezTo>
                    <a:pt x="441" y="264"/>
                    <a:pt x="441" y="264"/>
                    <a:pt x="441" y="264"/>
                  </a:cubicBezTo>
                  <a:cubicBezTo>
                    <a:pt x="455" y="205"/>
                    <a:pt x="440" y="142"/>
                    <a:pt x="401" y="96"/>
                  </a:cubicBezTo>
                  <a:cubicBezTo>
                    <a:pt x="362" y="49"/>
                    <a:pt x="302" y="24"/>
                    <a:pt x="241" y="29"/>
                  </a:cubicBezTo>
                  <a:cubicBezTo>
                    <a:pt x="240" y="29"/>
                    <a:pt x="240" y="29"/>
                    <a:pt x="240" y="29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35" y="28"/>
                    <a:pt x="230" y="28"/>
                    <a:pt x="226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Freeform 58">
              <a:extLst>
                <a:ext uri="{FF2B5EF4-FFF2-40B4-BE49-F238E27FC236}">
                  <a16:creationId xmlns:a16="http://schemas.microsoft.com/office/drawing/2014/main" id="{342C589A-86CC-48C7-5C6A-F57E7967EC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1650" y="3314700"/>
              <a:ext cx="171450" cy="165100"/>
            </a:xfrm>
            <a:custGeom>
              <a:avLst/>
              <a:gdLst>
                <a:gd name="T0" fmla="*/ 118 w 228"/>
                <a:gd name="T1" fmla="*/ 219 h 219"/>
                <a:gd name="T2" fmla="*/ 41 w 228"/>
                <a:gd name="T3" fmla="*/ 187 h 219"/>
                <a:gd name="T4" fmla="*/ 17 w 228"/>
                <a:gd name="T5" fmla="*/ 68 h 219"/>
                <a:gd name="T6" fmla="*/ 118 w 228"/>
                <a:gd name="T7" fmla="*/ 0 h 219"/>
                <a:gd name="T8" fmla="*/ 228 w 228"/>
                <a:gd name="T9" fmla="*/ 110 h 219"/>
                <a:gd name="T10" fmla="*/ 228 w 228"/>
                <a:gd name="T11" fmla="*/ 110 h 219"/>
                <a:gd name="T12" fmla="*/ 160 w 228"/>
                <a:gd name="T13" fmla="*/ 211 h 219"/>
                <a:gd name="T14" fmla="*/ 118 w 228"/>
                <a:gd name="T15" fmla="*/ 219 h 219"/>
                <a:gd name="T16" fmla="*/ 118 w 228"/>
                <a:gd name="T17" fmla="*/ 24 h 219"/>
                <a:gd name="T18" fmla="*/ 39 w 228"/>
                <a:gd name="T19" fmla="*/ 77 h 219"/>
                <a:gd name="T20" fmla="*/ 58 w 228"/>
                <a:gd name="T21" fmla="*/ 170 h 219"/>
                <a:gd name="T22" fmla="*/ 151 w 228"/>
                <a:gd name="T23" fmla="*/ 189 h 219"/>
                <a:gd name="T24" fmla="*/ 204 w 228"/>
                <a:gd name="T25" fmla="*/ 110 h 219"/>
                <a:gd name="T26" fmla="*/ 204 w 228"/>
                <a:gd name="T27" fmla="*/ 110 h 219"/>
                <a:gd name="T28" fmla="*/ 118 w 228"/>
                <a:gd name="T29" fmla="*/ 24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19">
                  <a:moveTo>
                    <a:pt x="118" y="219"/>
                  </a:moveTo>
                  <a:cubicBezTo>
                    <a:pt x="90" y="219"/>
                    <a:pt x="62" y="208"/>
                    <a:pt x="41" y="187"/>
                  </a:cubicBezTo>
                  <a:cubicBezTo>
                    <a:pt x="9" y="156"/>
                    <a:pt x="0" y="109"/>
                    <a:pt x="17" y="68"/>
                  </a:cubicBezTo>
                  <a:cubicBezTo>
                    <a:pt x="34" y="27"/>
                    <a:pt x="74" y="0"/>
                    <a:pt x="118" y="0"/>
                  </a:cubicBezTo>
                  <a:cubicBezTo>
                    <a:pt x="179" y="0"/>
                    <a:pt x="228" y="49"/>
                    <a:pt x="228" y="110"/>
                  </a:cubicBezTo>
                  <a:cubicBezTo>
                    <a:pt x="228" y="110"/>
                    <a:pt x="228" y="110"/>
                    <a:pt x="228" y="110"/>
                  </a:cubicBezTo>
                  <a:cubicBezTo>
                    <a:pt x="228" y="154"/>
                    <a:pt x="201" y="194"/>
                    <a:pt x="160" y="211"/>
                  </a:cubicBezTo>
                  <a:cubicBezTo>
                    <a:pt x="147" y="217"/>
                    <a:pt x="132" y="219"/>
                    <a:pt x="118" y="219"/>
                  </a:cubicBezTo>
                  <a:close/>
                  <a:moveTo>
                    <a:pt x="118" y="24"/>
                  </a:moveTo>
                  <a:cubicBezTo>
                    <a:pt x="84" y="24"/>
                    <a:pt x="53" y="45"/>
                    <a:pt x="39" y="77"/>
                  </a:cubicBezTo>
                  <a:cubicBezTo>
                    <a:pt x="26" y="109"/>
                    <a:pt x="33" y="146"/>
                    <a:pt x="58" y="170"/>
                  </a:cubicBezTo>
                  <a:cubicBezTo>
                    <a:pt x="82" y="195"/>
                    <a:pt x="119" y="202"/>
                    <a:pt x="151" y="189"/>
                  </a:cubicBezTo>
                  <a:cubicBezTo>
                    <a:pt x="183" y="175"/>
                    <a:pt x="204" y="144"/>
                    <a:pt x="204" y="110"/>
                  </a:cubicBezTo>
                  <a:cubicBezTo>
                    <a:pt x="204" y="110"/>
                    <a:pt x="204" y="110"/>
                    <a:pt x="204" y="110"/>
                  </a:cubicBezTo>
                  <a:cubicBezTo>
                    <a:pt x="204" y="63"/>
                    <a:pt x="165" y="24"/>
                    <a:pt x="118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Freeform 59">
              <a:extLst>
                <a:ext uri="{FF2B5EF4-FFF2-40B4-BE49-F238E27FC236}">
                  <a16:creationId xmlns:a16="http://schemas.microsoft.com/office/drawing/2014/main" id="{629DB4C0-37C0-6201-8B12-25BAFFEFC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913" y="3411538"/>
              <a:ext cx="471488" cy="312738"/>
            </a:xfrm>
            <a:custGeom>
              <a:avLst/>
              <a:gdLst>
                <a:gd name="T0" fmla="*/ 14 w 626"/>
                <a:gd name="T1" fmla="*/ 415 h 415"/>
                <a:gd name="T2" fmla="*/ 4 w 626"/>
                <a:gd name="T3" fmla="*/ 410 h 415"/>
                <a:gd name="T4" fmla="*/ 7 w 626"/>
                <a:gd name="T5" fmla="*/ 393 h 415"/>
                <a:gd name="T6" fmla="*/ 605 w 626"/>
                <a:gd name="T7" fmla="*/ 3 h 415"/>
                <a:gd name="T8" fmla="*/ 622 w 626"/>
                <a:gd name="T9" fmla="*/ 7 h 415"/>
                <a:gd name="T10" fmla="*/ 618 w 626"/>
                <a:gd name="T11" fmla="*/ 24 h 415"/>
                <a:gd name="T12" fmla="*/ 21 w 626"/>
                <a:gd name="T13" fmla="*/ 414 h 415"/>
                <a:gd name="T14" fmla="*/ 14 w 626"/>
                <a:gd name="T15" fmla="*/ 41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6" h="415">
                  <a:moveTo>
                    <a:pt x="14" y="415"/>
                  </a:moveTo>
                  <a:cubicBezTo>
                    <a:pt x="10" y="415"/>
                    <a:pt x="6" y="414"/>
                    <a:pt x="4" y="410"/>
                  </a:cubicBezTo>
                  <a:cubicBezTo>
                    <a:pt x="0" y="405"/>
                    <a:pt x="2" y="397"/>
                    <a:pt x="7" y="393"/>
                  </a:cubicBezTo>
                  <a:cubicBezTo>
                    <a:pt x="605" y="3"/>
                    <a:pt x="605" y="3"/>
                    <a:pt x="605" y="3"/>
                  </a:cubicBezTo>
                  <a:cubicBezTo>
                    <a:pt x="611" y="0"/>
                    <a:pt x="618" y="1"/>
                    <a:pt x="622" y="7"/>
                  </a:cubicBezTo>
                  <a:cubicBezTo>
                    <a:pt x="626" y="13"/>
                    <a:pt x="624" y="20"/>
                    <a:pt x="618" y="24"/>
                  </a:cubicBezTo>
                  <a:cubicBezTo>
                    <a:pt x="21" y="414"/>
                    <a:pt x="21" y="414"/>
                    <a:pt x="21" y="414"/>
                  </a:cubicBezTo>
                  <a:cubicBezTo>
                    <a:pt x="19" y="415"/>
                    <a:pt x="16" y="415"/>
                    <a:pt x="14" y="4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8" name="Title 27">
            <a:extLst>
              <a:ext uri="{FF2B5EF4-FFF2-40B4-BE49-F238E27FC236}">
                <a16:creationId xmlns:a16="http://schemas.microsoft.com/office/drawing/2014/main" id="{6854A76F-2E40-3B1A-240E-5B6118CA7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PAM Implementation Strategies</a:t>
            </a:r>
          </a:p>
        </p:txBody>
      </p:sp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1A6A9B27-7784-04AC-B447-281435E531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6B46AE-FA97-09AB-C0A2-E5D384DC4E9F}"/>
              </a:ext>
            </a:extLst>
          </p:cNvPr>
          <p:cNvSpPr txBox="1"/>
          <p:nvPr/>
        </p:nvSpPr>
        <p:spPr>
          <a:xfrm>
            <a:off x="468489" y="535982"/>
            <a:ext cx="4113035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Phase 1 Discovery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Administrative accounts identification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Service account mapping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Emergency account documentation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Shared account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Stakeholder Mapping</a:t>
            </a:r>
          </a:p>
          <a:p>
            <a:endParaRPr lang="en-GB" sz="1600" dirty="0">
              <a:solidFill>
                <a:srgbClr val="000000"/>
              </a:solidFill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r>
              <a:rPr lang="en-GB" sz="1600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Phase  2 </a:t>
            </a:r>
            <a:r>
              <a:rPr lang="en-GB" sz="1600" dirty="0">
                <a:solidFill>
                  <a:srgbClr val="4E84C4"/>
                </a:solidFill>
                <a:effectLst/>
                <a:latin typeface="+mj-lt"/>
                <a:cs typeface="MS PGothic" panose="020B0600070205080204" pitchFamily="34" charset="-128"/>
              </a:rPr>
              <a:t>Implementation Methodology</a:t>
            </a:r>
            <a:endParaRPr lang="en-GB" sz="1600" dirty="0">
              <a:solidFill>
                <a:srgbClr val="4E84C4"/>
              </a:solidFill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Install and configure PAM platform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Establish basic security policies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Create administrative procedures</a:t>
            </a:r>
          </a:p>
          <a:p>
            <a:pPr marL="285750" indent="-285750">
              <a:buFontTx/>
              <a:buChar char="-"/>
            </a:pPr>
            <a:endParaRPr lang="en-GB" sz="1600" dirty="0">
              <a:solidFill>
                <a:srgbClr val="000000"/>
              </a:solidFill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r>
              <a:rPr lang="en-GB" sz="1600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Phase 3 </a:t>
            </a:r>
            <a:r>
              <a:rPr lang="en-GB" sz="1600" dirty="0">
                <a:solidFill>
                  <a:srgbClr val="4E84C4"/>
                </a:solidFill>
                <a:effectLst/>
                <a:latin typeface="+mj-lt"/>
                <a:cs typeface="MS PGothic" panose="020B0600070205080204" pitchFamily="34" charset="-128"/>
              </a:rPr>
              <a:t>Onboarding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Onboard critical privileged accounts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Implement password rotation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Configure session management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9497A4-6944-BDC8-3C44-C96397403058}"/>
              </a:ext>
            </a:extLst>
          </p:cNvPr>
          <p:cNvSpPr txBox="1"/>
          <p:nvPr/>
        </p:nvSpPr>
        <p:spPr>
          <a:xfrm>
            <a:off x="4562476" y="535981"/>
            <a:ext cx="411303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Phase 4 Integration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Integrate with existing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Configure SIEM connectivity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Implement workflow automation</a:t>
            </a:r>
          </a:p>
          <a:p>
            <a:endParaRPr lang="en-GB" sz="1600" dirty="0">
              <a:solidFill>
                <a:srgbClr val="000000"/>
              </a:solidFill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r>
              <a:rPr lang="en-GB" sz="1600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Phase  5 </a:t>
            </a:r>
            <a:r>
              <a:rPr lang="en-GB" sz="1600" dirty="0">
                <a:solidFill>
                  <a:srgbClr val="4E84C4"/>
                </a:solidFill>
                <a:effectLst/>
                <a:latin typeface="+mj-lt"/>
                <a:cs typeface="MS PGothic" panose="020B0600070205080204" pitchFamily="34" charset="-128"/>
              </a:rPr>
              <a:t>Optimization </a:t>
            </a:r>
            <a:endParaRPr lang="en-GB" sz="1600" dirty="0">
              <a:solidFill>
                <a:srgbClr val="4E84C4"/>
              </a:solidFill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Fine-tune policies and procedures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Implement advanced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Conduct user training</a:t>
            </a:r>
          </a:p>
          <a:p>
            <a:pPr marL="285750" indent="-285750">
              <a:buFontTx/>
              <a:buChar char="-"/>
            </a:pPr>
            <a:endParaRPr lang="en-GB" sz="1600" dirty="0">
              <a:solidFill>
                <a:srgbClr val="000000"/>
              </a:solidFill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r>
              <a:rPr lang="en-GB" sz="1600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Phase 6 </a:t>
            </a:r>
            <a:r>
              <a:rPr lang="en-GB" sz="1600" dirty="0">
                <a:solidFill>
                  <a:srgbClr val="4E84C4"/>
                </a:solidFill>
                <a:effectLst/>
                <a:latin typeface="+mj-lt"/>
                <a:cs typeface="MS PGothic" panose="020B0600070205080204" pitchFamily="34" charset="-128"/>
              </a:rPr>
              <a:t>Continuous Improvement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Just-in-time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Privileged 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Threat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Compliance reporting</a:t>
            </a:r>
          </a:p>
        </p:txBody>
      </p:sp>
    </p:spTree>
    <p:extLst>
      <p:ext uri="{BB962C8B-B14F-4D97-AF65-F5344CB8AC3E}">
        <p14:creationId xmlns:p14="http://schemas.microsoft.com/office/powerpoint/2010/main" val="22668742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C5005-CFE3-71CC-CA5D-86528DD82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CDB2DC8D-8876-6667-18B1-9C4CF1A17E5C}"/>
              </a:ext>
            </a:extLst>
          </p:cNvPr>
          <p:cNvGrpSpPr/>
          <p:nvPr/>
        </p:nvGrpSpPr>
        <p:grpSpPr>
          <a:xfrm>
            <a:off x="1646076" y="4029452"/>
            <a:ext cx="570912" cy="419326"/>
            <a:chOff x="6759575" y="3000375"/>
            <a:chExt cx="906463" cy="746125"/>
          </a:xfrm>
          <a:solidFill>
            <a:srgbClr val="F4F3F9"/>
          </a:solidFill>
        </p:grpSpPr>
        <p:sp>
          <p:nvSpPr>
            <p:cNvPr id="50" name="Freeform 55">
              <a:extLst>
                <a:ext uri="{FF2B5EF4-FFF2-40B4-BE49-F238E27FC236}">
                  <a16:creationId xmlns:a16="http://schemas.microsoft.com/office/drawing/2014/main" id="{FD488316-77C0-09FC-06B2-900EA722DE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1400" y="3000375"/>
              <a:ext cx="274638" cy="358775"/>
            </a:xfrm>
            <a:custGeom>
              <a:avLst/>
              <a:gdLst>
                <a:gd name="T0" fmla="*/ 182 w 364"/>
                <a:gd name="T1" fmla="*/ 476 h 476"/>
                <a:gd name="T2" fmla="*/ 152 w 364"/>
                <a:gd name="T3" fmla="*/ 462 h 476"/>
                <a:gd name="T4" fmla="*/ 0 w 364"/>
                <a:gd name="T5" fmla="*/ 182 h 476"/>
                <a:gd name="T6" fmla="*/ 53 w 364"/>
                <a:gd name="T7" fmla="*/ 53 h 476"/>
                <a:gd name="T8" fmla="*/ 182 w 364"/>
                <a:gd name="T9" fmla="*/ 0 h 476"/>
                <a:gd name="T10" fmla="*/ 182 w 364"/>
                <a:gd name="T11" fmla="*/ 0 h 476"/>
                <a:gd name="T12" fmla="*/ 364 w 364"/>
                <a:gd name="T13" fmla="*/ 182 h 476"/>
                <a:gd name="T14" fmla="*/ 212 w 364"/>
                <a:gd name="T15" fmla="*/ 462 h 476"/>
                <a:gd name="T16" fmla="*/ 182 w 364"/>
                <a:gd name="T17" fmla="*/ 476 h 476"/>
                <a:gd name="T18" fmla="*/ 182 w 364"/>
                <a:gd name="T19" fmla="*/ 24 h 476"/>
                <a:gd name="T20" fmla="*/ 70 w 364"/>
                <a:gd name="T21" fmla="*/ 70 h 476"/>
                <a:gd name="T22" fmla="*/ 24 w 364"/>
                <a:gd name="T23" fmla="*/ 182 h 476"/>
                <a:gd name="T24" fmla="*/ 171 w 364"/>
                <a:gd name="T25" fmla="*/ 447 h 476"/>
                <a:gd name="T26" fmla="*/ 182 w 364"/>
                <a:gd name="T27" fmla="*/ 452 h 476"/>
                <a:gd name="T28" fmla="*/ 193 w 364"/>
                <a:gd name="T29" fmla="*/ 447 h 476"/>
                <a:gd name="T30" fmla="*/ 340 w 364"/>
                <a:gd name="T31" fmla="*/ 182 h 476"/>
                <a:gd name="T32" fmla="*/ 182 w 364"/>
                <a:gd name="T33" fmla="*/ 24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4" h="476">
                  <a:moveTo>
                    <a:pt x="182" y="476"/>
                  </a:moveTo>
                  <a:cubicBezTo>
                    <a:pt x="170" y="476"/>
                    <a:pt x="159" y="471"/>
                    <a:pt x="152" y="462"/>
                  </a:cubicBezTo>
                  <a:cubicBezTo>
                    <a:pt x="95" y="389"/>
                    <a:pt x="0" y="257"/>
                    <a:pt x="0" y="182"/>
                  </a:cubicBezTo>
                  <a:cubicBezTo>
                    <a:pt x="0" y="133"/>
                    <a:pt x="19" y="87"/>
                    <a:pt x="53" y="53"/>
                  </a:cubicBezTo>
                  <a:cubicBezTo>
                    <a:pt x="87" y="19"/>
                    <a:pt x="133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282" y="0"/>
                    <a:pt x="364" y="81"/>
                    <a:pt x="364" y="182"/>
                  </a:cubicBezTo>
                  <a:cubicBezTo>
                    <a:pt x="364" y="257"/>
                    <a:pt x="269" y="389"/>
                    <a:pt x="212" y="462"/>
                  </a:cubicBezTo>
                  <a:cubicBezTo>
                    <a:pt x="205" y="471"/>
                    <a:pt x="194" y="476"/>
                    <a:pt x="182" y="476"/>
                  </a:cubicBezTo>
                  <a:close/>
                  <a:moveTo>
                    <a:pt x="182" y="24"/>
                  </a:moveTo>
                  <a:cubicBezTo>
                    <a:pt x="140" y="24"/>
                    <a:pt x="100" y="40"/>
                    <a:pt x="70" y="70"/>
                  </a:cubicBezTo>
                  <a:cubicBezTo>
                    <a:pt x="40" y="100"/>
                    <a:pt x="24" y="140"/>
                    <a:pt x="24" y="182"/>
                  </a:cubicBezTo>
                  <a:cubicBezTo>
                    <a:pt x="24" y="254"/>
                    <a:pt x="136" y="403"/>
                    <a:pt x="171" y="447"/>
                  </a:cubicBezTo>
                  <a:cubicBezTo>
                    <a:pt x="174" y="450"/>
                    <a:pt x="178" y="452"/>
                    <a:pt x="182" y="452"/>
                  </a:cubicBezTo>
                  <a:cubicBezTo>
                    <a:pt x="186" y="452"/>
                    <a:pt x="190" y="450"/>
                    <a:pt x="193" y="447"/>
                  </a:cubicBezTo>
                  <a:cubicBezTo>
                    <a:pt x="285" y="329"/>
                    <a:pt x="340" y="230"/>
                    <a:pt x="340" y="182"/>
                  </a:cubicBezTo>
                  <a:cubicBezTo>
                    <a:pt x="340" y="95"/>
                    <a:pt x="269" y="24"/>
                    <a:pt x="18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Freeform 56">
              <a:extLst>
                <a:ext uri="{FF2B5EF4-FFF2-40B4-BE49-F238E27FC236}">
                  <a16:creationId xmlns:a16="http://schemas.microsoft.com/office/drawing/2014/main" id="{47B7FD61-4879-25A5-C786-3667DDB5BC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0775" y="3079750"/>
              <a:ext cx="114300" cy="115888"/>
            </a:xfrm>
            <a:custGeom>
              <a:avLst/>
              <a:gdLst>
                <a:gd name="T0" fmla="*/ 76 w 152"/>
                <a:gd name="T1" fmla="*/ 152 h 152"/>
                <a:gd name="T2" fmla="*/ 0 w 152"/>
                <a:gd name="T3" fmla="*/ 76 h 152"/>
                <a:gd name="T4" fmla="*/ 76 w 152"/>
                <a:gd name="T5" fmla="*/ 0 h 152"/>
                <a:gd name="T6" fmla="*/ 76 w 152"/>
                <a:gd name="T7" fmla="*/ 0 h 152"/>
                <a:gd name="T8" fmla="*/ 130 w 152"/>
                <a:gd name="T9" fmla="*/ 22 h 152"/>
                <a:gd name="T10" fmla="*/ 152 w 152"/>
                <a:gd name="T11" fmla="*/ 76 h 152"/>
                <a:gd name="T12" fmla="*/ 152 w 152"/>
                <a:gd name="T13" fmla="*/ 76 h 152"/>
                <a:gd name="T14" fmla="*/ 76 w 152"/>
                <a:gd name="T15" fmla="*/ 152 h 152"/>
                <a:gd name="T16" fmla="*/ 76 w 152"/>
                <a:gd name="T17" fmla="*/ 24 h 152"/>
                <a:gd name="T18" fmla="*/ 76 w 152"/>
                <a:gd name="T19" fmla="*/ 24 h 152"/>
                <a:gd name="T20" fmla="*/ 24 w 152"/>
                <a:gd name="T21" fmla="*/ 76 h 152"/>
                <a:gd name="T22" fmla="*/ 76 w 152"/>
                <a:gd name="T23" fmla="*/ 128 h 152"/>
                <a:gd name="T24" fmla="*/ 128 w 152"/>
                <a:gd name="T25" fmla="*/ 76 h 152"/>
                <a:gd name="T26" fmla="*/ 128 w 152"/>
                <a:gd name="T27" fmla="*/ 76 h 152"/>
                <a:gd name="T28" fmla="*/ 113 w 152"/>
                <a:gd name="T29" fmla="*/ 39 h 152"/>
                <a:gd name="T30" fmla="*/ 76 w 152"/>
                <a:gd name="T31" fmla="*/ 2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2" h="152">
                  <a:moveTo>
                    <a:pt x="76" y="152"/>
                  </a:moveTo>
                  <a:cubicBezTo>
                    <a:pt x="34" y="152"/>
                    <a:pt x="0" y="118"/>
                    <a:pt x="0" y="76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6" y="0"/>
                    <a:pt x="115" y="8"/>
                    <a:pt x="130" y="22"/>
                  </a:cubicBezTo>
                  <a:cubicBezTo>
                    <a:pt x="144" y="37"/>
                    <a:pt x="152" y="56"/>
                    <a:pt x="152" y="76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118"/>
                    <a:pt x="118" y="152"/>
                    <a:pt x="76" y="152"/>
                  </a:cubicBezTo>
                  <a:close/>
                  <a:moveTo>
                    <a:pt x="76" y="24"/>
                  </a:moveTo>
                  <a:cubicBezTo>
                    <a:pt x="76" y="24"/>
                    <a:pt x="76" y="24"/>
                    <a:pt x="76" y="24"/>
                  </a:cubicBezTo>
                  <a:cubicBezTo>
                    <a:pt x="47" y="24"/>
                    <a:pt x="24" y="47"/>
                    <a:pt x="24" y="76"/>
                  </a:cubicBezTo>
                  <a:cubicBezTo>
                    <a:pt x="24" y="104"/>
                    <a:pt x="47" y="128"/>
                    <a:pt x="76" y="128"/>
                  </a:cubicBezTo>
                  <a:cubicBezTo>
                    <a:pt x="104" y="128"/>
                    <a:pt x="128" y="104"/>
                    <a:pt x="128" y="76"/>
                  </a:cubicBezTo>
                  <a:cubicBezTo>
                    <a:pt x="128" y="76"/>
                    <a:pt x="128" y="76"/>
                    <a:pt x="128" y="76"/>
                  </a:cubicBezTo>
                  <a:cubicBezTo>
                    <a:pt x="128" y="62"/>
                    <a:pt x="122" y="49"/>
                    <a:pt x="113" y="39"/>
                  </a:cubicBezTo>
                  <a:cubicBezTo>
                    <a:pt x="103" y="29"/>
                    <a:pt x="90" y="24"/>
                    <a:pt x="76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Freeform 57">
              <a:extLst>
                <a:ext uri="{FF2B5EF4-FFF2-40B4-BE49-F238E27FC236}">
                  <a16:creationId xmlns:a16="http://schemas.microsoft.com/office/drawing/2014/main" id="{9CD52F8F-1C4D-C523-7222-50B6FB8CD2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9575" y="3232150"/>
              <a:ext cx="361950" cy="514350"/>
            </a:xfrm>
            <a:custGeom>
              <a:avLst/>
              <a:gdLst>
                <a:gd name="T0" fmla="*/ 240 w 480"/>
                <a:gd name="T1" fmla="*/ 681 h 681"/>
                <a:gd name="T2" fmla="*/ 208 w 480"/>
                <a:gd name="T3" fmla="*/ 663 h 681"/>
                <a:gd name="T4" fmla="*/ 16 w 480"/>
                <a:gd name="T5" fmla="*/ 270 h 681"/>
                <a:gd name="T6" fmla="*/ 61 w 480"/>
                <a:gd name="T7" fmla="*/ 80 h 681"/>
                <a:gd name="T8" fmla="*/ 240 w 480"/>
                <a:gd name="T9" fmla="*/ 5 h 681"/>
                <a:gd name="T10" fmla="*/ 419 w 480"/>
                <a:gd name="T11" fmla="*/ 80 h 681"/>
                <a:gd name="T12" fmla="*/ 465 w 480"/>
                <a:gd name="T13" fmla="*/ 270 h 681"/>
                <a:gd name="T14" fmla="*/ 272 w 480"/>
                <a:gd name="T15" fmla="*/ 663 h 681"/>
                <a:gd name="T16" fmla="*/ 240 w 480"/>
                <a:gd name="T17" fmla="*/ 681 h 681"/>
                <a:gd name="T18" fmla="*/ 240 w 480"/>
                <a:gd name="T19" fmla="*/ 681 h 681"/>
                <a:gd name="T20" fmla="*/ 226 w 480"/>
                <a:gd name="T21" fmla="*/ 28 h 681"/>
                <a:gd name="T22" fmla="*/ 80 w 480"/>
                <a:gd name="T23" fmla="*/ 96 h 681"/>
                <a:gd name="T24" fmla="*/ 39 w 480"/>
                <a:gd name="T25" fmla="*/ 264 h 681"/>
                <a:gd name="T26" fmla="*/ 39 w 480"/>
                <a:gd name="T27" fmla="*/ 265 h 681"/>
                <a:gd name="T28" fmla="*/ 228 w 480"/>
                <a:gd name="T29" fmla="*/ 650 h 681"/>
                <a:gd name="T30" fmla="*/ 240 w 480"/>
                <a:gd name="T31" fmla="*/ 657 h 681"/>
                <a:gd name="T32" fmla="*/ 240 w 480"/>
                <a:gd name="T33" fmla="*/ 657 h 681"/>
                <a:gd name="T34" fmla="*/ 252 w 480"/>
                <a:gd name="T35" fmla="*/ 650 h 681"/>
                <a:gd name="T36" fmla="*/ 441 w 480"/>
                <a:gd name="T37" fmla="*/ 265 h 681"/>
                <a:gd name="T38" fmla="*/ 441 w 480"/>
                <a:gd name="T39" fmla="*/ 264 h 681"/>
                <a:gd name="T40" fmla="*/ 401 w 480"/>
                <a:gd name="T41" fmla="*/ 96 h 681"/>
                <a:gd name="T42" fmla="*/ 241 w 480"/>
                <a:gd name="T43" fmla="*/ 29 h 681"/>
                <a:gd name="T44" fmla="*/ 240 w 480"/>
                <a:gd name="T45" fmla="*/ 29 h 681"/>
                <a:gd name="T46" fmla="*/ 239 w 480"/>
                <a:gd name="T47" fmla="*/ 29 h 681"/>
                <a:gd name="T48" fmla="*/ 226 w 480"/>
                <a:gd name="T49" fmla="*/ 28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0" h="681">
                  <a:moveTo>
                    <a:pt x="240" y="681"/>
                  </a:moveTo>
                  <a:cubicBezTo>
                    <a:pt x="227" y="681"/>
                    <a:pt x="214" y="674"/>
                    <a:pt x="208" y="663"/>
                  </a:cubicBezTo>
                  <a:cubicBezTo>
                    <a:pt x="156" y="580"/>
                    <a:pt x="35" y="376"/>
                    <a:pt x="16" y="270"/>
                  </a:cubicBezTo>
                  <a:cubicBezTo>
                    <a:pt x="0" y="203"/>
                    <a:pt x="17" y="132"/>
                    <a:pt x="61" y="80"/>
                  </a:cubicBezTo>
                  <a:cubicBezTo>
                    <a:pt x="105" y="28"/>
                    <a:pt x="172" y="0"/>
                    <a:pt x="240" y="5"/>
                  </a:cubicBezTo>
                  <a:cubicBezTo>
                    <a:pt x="308" y="0"/>
                    <a:pt x="375" y="28"/>
                    <a:pt x="419" y="80"/>
                  </a:cubicBezTo>
                  <a:cubicBezTo>
                    <a:pt x="464" y="132"/>
                    <a:pt x="480" y="203"/>
                    <a:pt x="465" y="270"/>
                  </a:cubicBezTo>
                  <a:cubicBezTo>
                    <a:pt x="449" y="362"/>
                    <a:pt x="325" y="575"/>
                    <a:pt x="272" y="663"/>
                  </a:cubicBezTo>
                  <a:cubicBezTo>
                    <a:pt x="266" y="674"/>
                    <a:pt x="253" y="681"/>
                    <a:pt x="240" y="681"/>
                  </a:cubicBezTo>
                  <a:cubicBezTo>
                    <a:pt x="240" y="681"/>
                    <a:pt x="240" y="681"/>
                    <a:pt x="240" y="681"/>
                  </a:cubicBezTo>
                  <a:close/>
                  <a:moveTo>
                    <a:pt x="226" y="28"/>
                  </a:moveTo>
                  <a:cubicBezTo>
                    <a:pt x="170" y="28"/>
                    <a:pt x="116" y="53"/>
                    <a:pt x="80" y="96"/>
                  </a:cubicBezTo>
                  <a:cubicBezTo>
                    <a:pt x="40" y="142"/>
                    <a:pt x="25" y="205"/>
                    <a:pt x="39" y="264"/>
                  </a:cubicBezTo>
                  <a:cubicBezTo>
                    <a:pt x="39" y="265"/>
                    <a:pt x="39" y="265"/>
                    <a:pt x="39" y="265"/>
                  </a:cubicBezTo>
                  <a:cubicBezTo>
                    <a:pt x="58" y="368"/>
                    <a:pt x="178" y="569"/>
                    <a:pt x="228" y="650"/>
                  </a:cubicBezTo>
                  <a:cubicBezTo>
                    <a:pt x="231" y="655"/>
                    <a:pt x="235" y="657"/>
                    <a:pt x="240" y="657"/>
                  </a:cubicBezTo>
                  <a:cubicBezTo>
                    <a:pt x="240" y="657"/>
                    <a:pt x="240" y="657"/>
                    <a:pt x="240" y="657"/>
                  </a:cubicBezTo>
                  <a:cubicBezTo>
                    <a:pt x="245" y="657"/>
                    <a:pt x="249" y="655"/>
                    <a:pt x="252" y="650"/>
                  </a:cubicBezTo>
                  <a:cubicBezTo>
                    <a:pt x="304" y="564"/>
                    <a:pt x="426" y="353"/>
                    <a:pt x="441" y="265"/>
                  </a:cubicBezTo>
                  <a:cubicBezTo>
                    <a:pt x="441" y="264"/>
                    <a:pt x="441" y="264"/>
                    <a:pt x="441" y="264"/>
                  </a:cubicBezTo>
                  <a:cubicBezTo>
                    <a:pt x="455" y="205"/>
                    <a:pt x="440" y="142"/>
                    <a:pt x="401" y="96"/>
                  </a:cubicBezTo>
                  <a:cubicBezTo>
                    <a:pt x="362" y="49"/>
                    <a:pt x="302" y="24"/>
                    <a:pt x="241" y="29"/>
                  </a:cubicBezTo>
                  <a:cubicBezTo>
                    <a:pt x="240" y="29"/>
                    <a:pt x="240" y="29"/>
                    <a:pt x="240" y="29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35" y="28"/>
                    <a:pt x="230" y="28"/>
                    <a:pt x="226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Freeform 58">
              <a:extLst>
                <a:ext uri="{FF2B5EF4-FFF2-40B4-BE49-F238E27FC236}">
                  <a16:creationId xmlns:a16="http://schemas.microsoft.com/office/drawing/2014/main" id="{53ED4460-4B1F-874E-A3D3-635BF4A52A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1650" y="3314700"/>
              <a:ext cx="171450" cy="165100"/>
            </a:xfrm>
            <a:custGeom>
              <a:avLst/>
              <a:gdLst>
                <a:gd name="T0" fmla="*/ 118 w 228"/>
                <a:gd name="T1" fmla="*/ 219 h 219"/>
                <a:gd name="T2" fmla="*/ 41 w 228"/>
                <a:gd name="T3" fmla="*/ 187 h 219"/>
                <a:gd name="T4" fmla="*/ 17 w 228"/>
                <a:gd name="T5" fmla="*/ 68 h 219"/>
                <a:gd name="T6" fmla="*/ 118 w 228"/>
                <a:gd name="T7" fmla="*/ 0 h 219"/>
                <a:gd name="T8" fmla="*/ 228 w 228"/>
                <a:gd name="T9" fmla="*/ 110 h 219"/>
                <a:gd name="T10" fmla="*/ 228 w 228"/>
                <a:gd name="T11" fmla="*/ 110 h 219"/>
                <a:gd name="T12" fmla="*/ 160 w 228"/>
                <a:gd name="T13" fmla="*/ 211 h 219"/>
                <a:gd name="T14" fmla="*/ 118 w 228"/>
                <a:gd name="T15" fmla="*/ 219 h 219"/>
                <a:gd name="T16" fmla="*/ 118 w 228"/>
                <a:gd name="T17" fmla="*/ 24 h 219"/>
                <a:gd name="T18" fmla="*/ 39 w 228"/>
                <a:gd name="T19" fmla="*/ 77 h 219"/>
                <a:gd name="T20" fmla="*/ 58 w 228"/>
                <a:gd name="T21" fmla="*/ 170 h 219"/>
                <a:gd name="T22" fmla="*/ 151 w 228"/>
                <a:gd name="T23" fmla="*/ 189 h 219"/>
                <a:gd name="T24" fmla="*/ 204 w 228"/>
                <a:gd name="T25" fmla="*/ 110 h 219"/>
                <a:gd name="T26" fmla="*/ 204 w 228"/>
                <a:gd name="T27" fmla="*/ 110 h 219"/>
                <a:gd name="T28" fmla="*/ 118 w 228"/>
                <a:gd name="T29" fmla="*/ 24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19">
                  <a:moveTo>
                    <a:pt x="118" y="219"/>
                  </a:moveTo>
                  <a:cubicBezTo>
                    <a:pt x="90" y="219"/>
                    <a:pt x="62" y="208"/>
                    <a:pt x="41" y="187"/>
                  </a:cubicBezTo>
                  <a:cubicBezTo>
                    <a:pt x="9" y="156"/>
                    <a:pt x="0" y="109"/>
                    <a:pt x="17" y="68"/>
                  </a:cubicBezTo>
                  <a:cubicBezTo>
                    <a:pt x="34" y="27"/>
                    <a:pt x="74" y="0"/>
                    <a:pt x="118" y="0"/>
                  </a:cubicBezTo>
                  <a:cubicBezTo>
                    <a:pt x="179" y="0"/>
                    <a:pt x="228" y="49"/>
                    <a:pt x="228" y="110"/>
                  </a:cubicBezTo>
                  <a:cubicBezTo>
                    <a:pt x="228" y="110"/>
                    <a:pt x="228" y="110"/>
                    <a:pt x="228" y="110"/>
                  </a:cubicBezTo>
                  <a:cubicBezTo>
                    <a:pt x="228" y="154"/>
                    <a:pt x="201" y="194"/>
                    <a:pt x="160" y="211"/>
                  </a:cubicBezTo>
                  <a:cubicBezTo>
                    <a:pt x="147" y="217"/>
                    <a:pt x="132" y="219"/>
                    <a:pt x="118" y="219"/>
                  </a:cubicBezTo>
                  <a:close/>
                  <a:moveTo>
                    <a:pt x="118" y="24"/>
                  </a:moveTo>
                  <a:cubicBezTo>
                    <a:pt x="84" y="24"/>
                    <a:pt x="53" y="45"/>
                    <a:pt x="39" y="77"/>
                  </a:cubicBezTo>
                  <a:cubicBezTo>
                    <a:pt x="26" y="109"/>
                    <a:pt x="33" y="146"/>
                    <a:pt x="58" y="170"/>
                  </a:cubicBezTo>
                  <a:cubicBezTo>
                    <a:pt x="82" y="195"/>
                    <a:pt x="119" y="202"/>
                    <a:pt x="151" y="189"/>
                  </a:cubicBezTo>
                  <a:cubicBezTo>
                    <a:pt x="183" y="175"/>
                    <a:pt x="204" y="144"/>
                    <a:pt x="204" y="110"/>
                  </a:cubicBezTo>
                  <a:cubicBezTo>
                    <a:pt x="204" y="110"/>
                    <a:pt x="204" y="110"/>
                    <a:pt x="204" y="110"/>
                  </a:cubicBezTo>
                  <a:cubicBezTo>
                    <a:pt x="204" y="63"/>
                    <a:pt x="165" y="24"/>
                    <a:pt x="118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Freeform 59">
              <a:extLst>
                <a:ext uri="{FF2B5EF4-FFF2-40B4-BE49-F238E27FC236}">
                  <a16:creationId xmlns:a16="http://schemas.microsoft.com/office/drawing/2014/main" id="{E0AB9537-58A3-B95C-20D8-BC1FAEA4E74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913" y="3411538"/>
              <a:ext cx="471488" cy="312738"/>
            </a:xfrm>
            <a:custGeom>
              <a:avLst/>
              <a:gdLst>
                <a:gd name="T0" fmla="*/ 14 w 626"/>
                <a:gd name="T1" fmla="*/ 415 h 415"/>
                <a:gd name="T2" fmla="*/ 4 w 626"/>
                <a:gd name="T3" fmla="*/ 410 h 415"/>
                <a:gd name="T4" fmla="*/ 7 w 626"/>
                <a:gd name="T5" fmla="*/ 393 h 415"/>
                <a:gd name="T6" fmla="*/ 605 w 626"/>
                <a:gd name="T7" fmla="*/ 3 h 415"/>
                <a:gd name="T8" fmla="*/ 622 w 626"/>
                <a:gd name="T9" fmla="*/ 7 h 415"/>
                <a:gd name="T10" fmla="*/ 618 w 626"/>
                <a:gd name="T11" fmla="*/ 24 h 415"/>
                <a:gd name="T12" fmla="*/ 21 w 626"/>
                <a:gd name="T13" fmla="*/ 414 h 415"/>
                <a:gd name="T14" fmla="*/ 14 w 626"/>
                <a:gd name="T15" fmla="*/ 41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6" h="415">
                  <a:moveTo>
                    <a:pt x="14" y="415"/>
                  </a:moveTo>
                  <a:cubicBezTo>
                    <a:pt x="10" y="415"/>
                    <a:pt x="6" y="414"/>
                    <a:pt x="4" y="410"/>
                  </a:cubicBezTo>
                  <a:cubicBezTo>
                    <a:pt x="0" y="405"/>
                    <a:pt x="2" y="397"/>
                    <a:pt x="7" y="393"/>
                  </a:cubicBezTo>
                  <a:cubicBezTo>
                    <a:pt x="605" y="3"/>
                    <a:pt x="605" y="3"/>
                    <a:pt x="605" y="3"/>
                  </a:cubicBezTo>
                  <a:cubicBezTo>
                    <a:pt x="611" y="0"/>
                    <a:pt x="618" y="1"/>
                    <a:pt x="622" y="7"/>
                  </a:cubicBezTo>
                  <a:cubicBezTo>
                    <a:pt x="626" y="13"/>
                    <a:pt x="624" y="20"/>
                    <a:pt x="618" y="24"/>
                  </a:cubicBezTo>
                  <a:cubicBezTo>
                    <a:pt x="21" y="414"/>
                    <a:pt x="21" y="414"/>
                    <a:pt x="21" y="414"/>
                  </a:cubicBezTo>
                  <a:cubicBezTo>
                    <a:pt x="19" y="415"/>
                    <a:pt x="16" y="415"/>
                    <a:pt x="14" y="4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8" name="Title 27">
            <a:extLst>
              <a:ext uri="{FF2B5EF4-FFF2-40B4-BE49-F238E27FC236}">
                <a16:creationId xmlns:a16="http://schemas.microsoft.com/office/drawing/2014/main" id="{9317293F-0FD7-682C-34B1-2D732926D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Implementation Challenges</a:t>
            </a:r>
          </a:p>
        </p:txBody>
      </p:sp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BB905119-4674-AE20-3324-00D83CB5CE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B72D6-DB9F-D08F-B0DC-23561671B5A5}"/>
              </a:ext>
            </a:extLst>
          </p:cNvPr>
          <p:cNvSpPr txBox="1"/>
          <p:nvPr/>
        </p:nvSpPr>
        <p:spPr>
          <a:xfrm>
            <a:off x="335964" y="772876"/>
            <a:ext cx="537317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Challenge</a:t>
            </a: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: Application compatibility issues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>
              <a:buNone/>
            </a:pPr>
            <a:r>
              <a:rPr lang="en-GB" sz="1600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Solution</a:t>
            </a: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: Gradual rollout with thorough testing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>
              <a:buNone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 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>
              <a:buNone/>
            </a:pPr>
            <a:r>
              <a:rPr lang="en-GB" sz="1600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Challenge</a:t>
            </a: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: Network connectivity problems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>
              <a:buNone/>
            </a:pPr>
            <a:r>
              <a:rPr lang="en-GB" sz="1600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Solution</a:t>
            </a: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: Proper network planning and firewall configuration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>
              <a:buNone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 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>
              <a:buNone/>
            </a:pPr>
            <a:r>
              <a:rPr lang="en-GB" sz="1600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Challenge</a:t>
            </a: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: Performance impact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>
              <a:buNone/>
            </a:pPr>
            <a:r>
              <a:rPr lang="en-GB" sz="1600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Solution</a:t>
            </a: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: Capacity planning and optimization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>
              <a:buNone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 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>
              <a:buNone/>
            </a:pPr>
            <a:r>
              <a:rPr lang="en-GB" sz="1600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Challenge</a:t>
            </a: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: User resistance to change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>
              <a:buNone/>
            </a:pPr>
            <a:r>
              <a:rPr lang="en-GB" sz="1600" dirty="0">
                <a:solidFill>
                  <a:srgbClr val="4E84C4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Solution</a:t>
            </a: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: Comprehensive training and change management</a:t>
            </a:r>
          </a:p>
          <a:p>
            <a:pPr>
              <a:buNone/>
            </a:pPr>
            <a:endParaRPr lang="en-GB" sz="1600" dirty="0">
              <a:solidFill>
                <a:srgbClr val="000000"/>
              </a:solidFill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>
              <a:buNone/>
            </a:pPr>
            <a:r>
              <a:rPr lang="en-GB" sz="1600" dirty="0">
                <a:solidFill>
                  <a:srgbClr val="4E84C4"/>
                </a:solidFill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Challenge</a:t>
            </a:r>
            <a:r>
              <a:rPr lang="en-GB" sz="1600" dirty="0">
                <a:solidFill>
                  <a:srgbClr val="000000"/>
                </a:solidFill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: Resource constraints</a:t>
            </a:r>
          </a:p>
          <a:p>
            <a:pPr>
              <a:buNone/>
            </a:pPr>
            <a:r>
              <a:rPr lang="en-GB" sz="1600" dirty="0">
                <a:solidFill>
                  <a:srgbClr val="4E84C4"/>
                </a:solidFill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Solution</a:t>
            </a:r>
            <a:r>
              <a:rPr lang="en-GB" sz="1600" dirty="0">
                <a:solidFill>
                  <a:srgbClr val="000000"/>
                </a:solidFill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: Phased implementation approach</a:t>
            </a: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 </a:t>
            </a:r>
            <a:endParaRPr lang="en-GB" sz="1600" dirty="0">
              <a:effectLst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pic>
        <p:nvPicPr>
          <p:cNvPr id="14338" name="Picture 2" descr="Challenge Clipart Stock Illustrations ...">
            <a:extLst>
              <a:ext uri="{FF2B5EF4-FFF2-40B4-BE49-F238E27FC236}">
                <a16:creationId xmlns:a16="http://schemas.microsoft.com/office/drawing/2014/main" id="{C6624E6B-6BC7-2D57-06C5-FBC7F85BF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0838" y="2645588"/>
            <a:ext cx="2552700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06924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C298D-2C14-C593-2BA6-4F4296427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BD80D97-DFB2-0673-E67E-3170707C47EE}"/>
              </a:ext>
            </a:extLst>
          </p:cNvPr>
          <p:cNvGrpSpPr/>
          <p:nvPr/>
        </p:nvGrpSpPr>
        <p:grpSpPr>
          <a:xfrm>
            <a:off x="1646076" y="4029452"/>
            <a:ext cx="570912" cy="419326"/>
            <a:chOff x="6759575" y="3000375"/>
            <a:chExt cx="906463" cy="746125"/>
          </a:xfrm>
          <a:solidFill>
            <a:srgbClr val="F4F3F9"/>
          </a:solidFill>
        </p:grpSpPr>
        <p:sp>
          <p:nvSpPr>
            <p:cNvPr id="50" name="Freeform 55">
              <a:extLst>
                <a:ext uri="{FF2B5EF4-FFF2-40B4-BE49-F238E27FC236}">
                  <a16:creationId xmlns:a16="http://schemas.microsoft.com/office/drawing/2014/main" id="{B3AEF753-7003-614E-67CB-550229604F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1400" y="3000375"/>
              <a:ext cx="274638" cy="358775"/>
            </a:xfrm>
            <a:custGeom>
              <a:avLst/>
              <a:gdLst>
                <a:gd name="T0" fmla="*/ 182 w 364"/>
                <a:gd name="T1" fmla="*/ 476 h 476"/>
                <a:gd name="T2" fmla="*/ 152 w 364"/>
                <a:gd name="T3" fmla="*/ 462 h 476"/>
                <a:gd name="T4" fmla="*/ 0 w 364"/>
                <a:gd name="T5" fmla="*/ 182 h 476"/>
                <a:gd name="T6" fmla="*/ 53 w 364"/>
                <a:gd name="T7" fmla="*/ 53 h 476"/>
                <a:gd name="T8" fmla="*/ 182 w 364"/>
                <a:gd name="T9" fmla="*/ 0 h 476"/>
                <a:gd name="T10" fmla="*/ 182 w 364"/>
                <a:gd name="T11" fmla="*/ 0 h 476"/>
                <a:gd name="T12" fmla="*/ 364 w 364"/>
                <a:gd name="T13" fmla="*/ 182 h 476"/>
                <a:gd name="T14" fmla="*/ 212 w 364"/>
                <a:gd name="T15" fmla="*/ 462 h 476"/>
                <a:gd name="T16" fmla="*/ 182 w 364"/>
                <a:gd name="T17" fmla="*/ 476 h 476"/>
                <a:gd name="T18" fmla="*/ 182 w 364"/>
                <a:gd name="T19" fmla="*/ 24 h 476"/>
                <a:gd name="T20" fmla="*/ 70 w 364"/>
                <a:gd name="T21" fmla="*/ 70 h 476"/>
                <a:gd name="T22" fmla="*/ 24 w 364"/>
                <a:gd name="T23" fmla="*/ 182 h 476"/>
                <a:gd name="T24" fmla="*/ 171 w 364"/>
                <a:gd name="T25" fmla="*/ 447 h 476"/>
                <a:gd name="T26" fmla="*/ 182 w 364"/>
                <a:gd name="T27" fmla="*/ 452 h 476"/>
                <a:gd name="T28" fmla="*/ 193 w 364"/>
                <a:gd name="T29" fmla="*/ 447 h 476"/>
                <a:gd name="T30" fmla="*/ 340 w 364"/>
                <a:gd name="T31" fmla="*/ 182 h 476"/>
                <a:gd name="T32" fmla="*/ 182 w 364"/>
                <a:gd name="T33" fmla="*/ 24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4" h="476">
                  <a:moveTo>
                    <a:pt x="182" y="476"/>
                  </a:moveTo>
                  <a:cubicBezTo>
                    <a:pt x="170" y="476"/>
                    <a:pt x="159" y="471"/>
                    <a:pt x="152" y="462"/>
                  </a:cubicBezTo>
                  <a:cubicBezTo>
                    <a:pt x="95" y="389"/>
                    <a:pt x="0" y="257"/>
                    <a:pt x="0" y="182"/>
                  </a:cubicBezTo>
                  <a:cubicBezTo>
                    <a:pt x="0" y="133"/>
                    <a:pt x="19" y="87"/>
                    <a:pt x="53" y="53"/>
                  </a:cubicBezTo>
                  <a:cubicBezTo>
                    <a:pt x="87" y="19"/>
                    <a:pt x="133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282" y="0"/>
                    <a:pt x="364" y="81"/>
                    <a:pt x="364" y="182"/>
                  </a:cubicBezTo>
                  <a:cubicBezTo>
                    <a:pt x="364" y="257"/>
                    <a:pt x="269" y="389"/>
                    <a:pt x="212" y="462"/>
                  </a:cubicBezTo>
                  <a:cubicBezTo>
                    <a:pt x="205" y="471"/>
                    <a:pt x="194" y="476"/>
                    <a:pt x="182" y="476"/>
                  </a:cubicBezTo>
                  <a:close/>
                  <a:moveTo>
                    <a:pt x="182" y="24"/>
                  </a:moveTo>
                  <a:cubicBezTo>
                    <a:pt x="140" y="24"/>
                    <a:pt x="100" y="40"/>
                    <a:pt x="70" y="70"/>
                  </a:cubicBezTo>
                  <a:cubicBezTo>
                    <a:pt x="40" y="100"/>
                    <a:pt x="24" y="140"/>
                    <a:pt x="24" y="182"/>
                  </a:cubicBezTo>
                  <a:cubicBezTo>
                    <a:pt x="24" y="254"/>
                    <a:pt x="136" y="403"/>
                    <a:pt x="171" y="447"/>
                  </a:cubicBezTo>
                  <a:cubicBezTo>
                    <a:pt x="174" y="450"/>
                    <a:pt x="178" y="452"/>
                    <a:pt x="182" y="452"/>
                  </a:cubicBezTo>
                  <a:cubicBezTo>
                    <a:pt x="186" y="452"/>
                    <a:pt x="190" y="450"/>
                    <a:pt x="193" y="447"/>
                  </a:cubicBezTo>
                  <a:cubicBezTo>
                    <a:pt x="285" y="329"/>
                    <a:pt x="340" y="230"/>
                    <a:pt x="340" y="182"/>
                  </a:cubicBezTo>
                  <a:cubicBezTo>
                    <a:pt x="340" y="95"/>
                    <a:pt x="269" y="24"/>
                    <a:pt x="18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Freeform 56">
              <a:extLst>
                <a:ext uri="{FF2B5EF4-FFF2-40B4-BE49-F238E27FC236}">
                  <a16:creationId xmlns:a16="http://schemas.microsoft.com/office/drawing/2014/main" id="{36B057D7-79DA-0C58-153C-2DE03E91F3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0775" y="3079750"/>
              <a:ext cx="114300" cy="115888"/>
            </a:xfrm>
            <a:custGeom>
              <a:avLst/>
              <a:gdLst>
                <a:gd name="T0" fmla="*/ 76 w 152"/>
                <a:gd name="T1" fmla="*/ 152 h 152"/>
                <a:gd name="T2" fmla="*/ 0 w 152"/>
                <a:gd name="T3" fmla="*/ 76 h 152"/>
                <a:gd name="T4" fmla="*/ 76 w 152"/>
                <a:gd name="T5" fmla="*/ 0 h 152"/>
                <a:gd name="T6" fmla="*/ 76 w 152"/>
                <a:gd name="T7" fmla="*/ 0 h 152"/>
                <a:gd name="T8" fmla="*/ 130 w 152"/>
                <a:gd name="T9" fmla="*/ 22 h 152"/>
                <a:gd name="T10" fmla="*/ 152 w 152"/>
                <a:gd name="T11" fmla="*/ 76 h 152"/>
                <a:gd name="T12" fmla="*/ 152 w 152"/>
                <a:gd name="T13" fmla="*/ 76 h 152"/>
                <a:gd name="T14" fmla="*/ 76 w 152"/>
                <a:gd name="T15" fmla="*/ 152 h 152"/>
                <a:gd name="T16" fmla="*/ 76 w 152"/>
                <a:gd name="T17" fmla="*/ 24 h 152"/>
                <a:gd name="T18" fmla="*/ 76 w 152"/>
                <a:gd name="T19" fmla="*/ 24 h 152"/>
                <a:gd name="T20" fmla="*/ 24 w 152"/>
                <a:gd name="T21" fmla="*/ 76 h 152"/>
                <a:gd name="T22" fmla="*/ 76 w 152"/>
                <a:gd name="T23" fmla="*/ 128 h 152"/>
                <a:gd name="T24" fmla="*/ 128 w 152"/>
                <a:gd name="T25" fmla="*/ 76 h 152"/>
                <a:gd name="T26" fmla="*/ 128 w 152"/>
                <a:gd name="T27" fmla="*/ 76 h 152"/>
                <a:gd name="T28" fmla="*/ 113 w 152"/>
                <a:gd name="T29" fmla="*/ 39 h 152"/>
                <a:gd name="T30" fmla="*/ 76 w 152"/>
                <a:gd name="T31" fmla="*/ 2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2" h="152">
                  <a:moveTo>
                    <a:pt x="76" y="152"/>
                  </a:moveTo>
                  <a:cubicBezTo>
                    <a:pt x="34" y="152"/>
                    <a:pt x="0" y="118"/>
                    <a:pt x="0" y="76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6" y="0"/>
                    <a:pt x="115" y="8"/>
                    <a:pt x="130" y="22"/>
                  </a:cubicBezTo>
                  <a:cubicBezTo>
                    <a:pt x="144" y="37"/>
                    <a:pt x="152" y="56"/>
                    <a:pt x="152" y="76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118"/>
                    <a:pt x="118" y="152"/>
                    <a:pt x="76" y="152"/>
                  </a:cubicBezTo>
                  <a:close/>
                  <a:moveTo>
                    <a:pt x="76" y="24"/>
                  </a:moveTo>
                  <a:cubicBezTo>
                    <a:pt x="76" y="24"/>
                    <a:pt x="76" y="24"/>
                    <a:pt x="76" y="24"/>
                  </a:cubicBezTo>
                  <a:cubicBezTo>
                    <a:pt x="47" y="24"/>
                    <a:pt x="24" y="47"/>
                    <a:pt x="24" y="76"/>
                  </a:cubicBezTo>
                  <a:cubicBezTo>
                    <a:pt x="24" y="104"/>
                    <a:pt x="47" y="128"/>
                    <a:pt x="76" y="128"/>
                  </a:cubicBezTo>
                  <a:cubicBezTo>
                    <a:pt x="104" y="128"/>
                    <a:pt x="128" y="104"/>
                    <a:pt x="128" y="76"/>
                  </a:cubicBezTo>
                  <a:cubicBezTo>
                    <a:pt x="128" y="76"/>
                    <a:pt x="128" y="76"/>
                    <a:pt x="128" y="76"/>
                  </a:cubicBezTo>
                  <a:cubicBezTo>
                    <a:pt x="128" y="62"/>
                    <a:pt x="122" y="49"/>
                    <a:pt x="113" y="39"/>
                  </a:cubicBezTo>
                  <a:cubicBezTo>
                    <a:pt x="103" y="29"/>
                    <a:pt x="90" y="24"/>
                    <a:pt x="76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Freeform 57">
              <a:extLst>
                <a:ext uri="{FF2B5EF4-FFF2-40B4-BE49-F238E27FC236}">
                  <a16:creationId xmlns:a16="http://schemas.microsoft.com/office/drawing/2014/main" id="{286D44F4-1BCB-596B-2332-A7417B5301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9575" y="3232150"/>
              <a:ext cx="361950" cy="514350"/>
            </a:xfrm>
            <a:custGeom>
              <a:avLst/>
              <a:gdLst>
                <a:gd name="T0" fmla="*/ 240 w 480"/>
                <a:gd name="T1" fmla="*/ 681 h 681"/>
                <a:gd name="T2" fmla="*/ 208 w 480"/>
                <a:gd name="T3" fmla="*/ 663 h 681"/>
                <a:gd name="T4" fmla="*/ 16 w 480"/>
                <a:gd name="T5" fmla="*/ 270 h 681"/>
                <a:gd name="T6" fmla="*/ 61 w 480"/>
                <a:gd name="T7" fmla="*/ 80 h 681"/>
                <a:gd name="T8" fmla="*/ 240 w 480"/>
                <a:gd name="T9" fmla="*/ 5 h 681"/>
                <a:gd name="T10" fmla="*/ 419 w 480"/>
                <a:gd name="T11" fmla="*/ 80 h 681"/>
                <a:gd name="T12" fmla="*/ 465 w 480"/>
                <a:gd name="T13" fmla="*/ 270 h 681"/>
                <a:gd name="T14" fmla="*/ 272 w 480"/>
                <a:gd name="T15" fmla="*/ 663 h 681"/>
                <a:gd name="T16" fmla="*/ 240 w 480"/>
                <a:gd name="T17" fmla="*/ 681 h 681"/>
                <a:gd name="T18" fmla="*/ 240 w 480"/>
                <a:gd name="T19" fmla="*/ 681 h 681"/>
                <a:gd name="T20" fmla="*/ 226 w 480"/>
                <a:gd name="T21" fmla="*/ 28 h 681"/>
                <a:gd name="T22" fmla="*/ 80 w 480"/>
                <a:gd name="T23" fmla="*/ 96 h 681"/>
                <a:gd name="T24" fmla="*/ 39 w 480"/>
                <a:gd name="T25" fmla="*/ 264 h 681"/>
                <a:gd name="T26" fmla="*/ 39 w 480"/>
                <a:gd name="T27" fmla="*/ 265 h 681"/>
                <a:gd name="T28" fmla="*/ 228 w 480"/>
                <a:gd name="T29" fmla="*/ 650 h 681"/>
                <a:gd name="T30" fmla="*/ 240 w 480"/>
                <a:gd name="T31" fmla="*/ 657 h 681"/>
                <a:gd name="T32" fmla="*/ 240 w 480"/>
                <a:gd name="T33" fmla="*/ 657 h 681"/>
                <a:gd name="T34" fmla="*/ 252 w 480"/>
                <a:gd name="T35" fmla="*/ 650 h 681"/>
                <a:gd name="T36" fmla="*/ 441 w 480"/>
                <a:gd name="T37" fmla="*/ 265 h 681"/>
                <a:gd name="T38" fmla="*/ 441 w 480"/>
                <a:gd name="T39" fmla="*/ 264 h 681"/>
                <a:gd name="T40" fmla="*/ 401 w 480"/>
                <a:gd name="T41" fmla="*/ 96 h 681"/>
                <a:gd name="T42" fmla="*/ 241 w 480"/>
                <a:gd name="T43" fmla="*/ 29 h 681"/>
                <a:gd name="T44" fmla="*/ 240 w 480"/>
                <a:gd name="T45" fmla="*/ 29 h 681"/>
                <a:gd name="T46" fmla="*/ 239 w 480"/>
                <a:gd name="T47" fmla="*/ 29 h 681"/>
                <a:gd name="T48" fmla="*/ 226 w 480"/>
                <a:gd name="T49" fmla="*/ 28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0" h="681">
                  <a:moveTo>
                    <a:pt x="240" y="681"/>
                  </a:moveTo>
                  <a:cubicBezTo>
                    <a:pt x="227" y="681"/>
                    <a:pt x="214" y="674"/>
                    <a:pt x="208" y="663"/>
                  </a:cubicBezTo>
                  <a:cubicBezTo>
                    <a:pt x="156" y="580"/>
                    <a:pt x="35" y="376"/>
                    <a:pt x="16" y="270"/>
                  </a:cubicBezTo>
                  <a:cubicBezTo>
                    <a:pt x="0" y="203"/>
                    <a:pt x="17" y="132"/>
                    <a:pt x="61" y="80"/>
                  </a:cubicBezTo>
                  <a:cubicBezTo>
                    <a:pt x="105" y="28"/>
                    <a:pt x="172" y="0"/>
                    <a:pt x="240" y="5"/>
                  </a:cubicBezTo>
                  <a:cubicBezTo>
                    <a:pt x="308" y="0"/>
                    <a:pt x="375" y="28"/>
                    <a:pt x="419" y="80"/>
                  </a:cubicBezTo>
                  <a:cubicBezTo>
                    <a:pt x="464" y="132"/>
                    <a:pt x="480" y="203"/>
                    <a:pt x="465" y="270"/>
                  </a:cubicBezTo>
                  <a:cubicBezTo>
                    <a:pt x="449" y="362"/>
                    <a:pt x="325" y="575"/>
                    <a:pt x="272" y="663"/>
                  </a:cubicBezTo>
                  <a:cubicBezTo>
                    <a:pt x="266" y="674"/>
                    <a:pt x="253" y="681"/>
                    <a:pt x="240" y="681"/>
                  </a:cubicBezTo>
                  <a:cubicBezTo>
                    <a:pt x="240" y="681"/>
                    <a:pt x="240" y="681"/>
                    <a:pt x="240" y="681"/>
                  </a:cubicBezTo>
                  <a:close/>
                  <a:moveTo>
                    <a:pt x="226" y="28"/>
                  </a:moveTo>
                  <a:cubicBezTo>
                    <a:pt x="170" y="28"/>
                    <a:pt x="116" y="53"/>
                    <a:pt x="80" y="96"/>
                  </a:cubicBezTo>
                  <a:cubicBezTo>
                    <a:pt x="40" y="142"/>
                    <a:pt x="25" y="205"/>
                    <a:pt x="39" y="264"/>
                  </a:cubicBezTo>
                  <a:cubicBezTo>
                    <a:pt x="39" y="265"/>
                    <a:pt x="39" y="265"/>
                    <a:pt x="39" y="265"/>
                  </a:cubicBezTo>
                  <a:cubicBezTo>
                    <a:pt x="58" y="368"/>
                    <a:pt x="178" y="569"/>
                    <a:pt x="228" y="650"/>
                  </a:cubicBezTo>
                  <a:cubicBezTo>
                    <a:pt x="231" y="655"/>
                    <a:pt x="235" y="657"/>
                    <a:pt x="240" y="657"/>
                  </a:cubicBezTo>
                  <a:cubicBezTo>
                    <a:pt x="240" y="657"/>
                    <a:pt x="240" y="657"/>
                    <a:pt x="240" y="657"/>
                  </a:cubicBezTo>
                  <a:cubicBezTo>
                    <a:pt x="245" y="657"/>
                    <a:pt x="249" y="655"/>
                    <a:pt x="252" y="650"/>
                  </a:cubicBezTo>
                  <a:cubicBezTo>
                    <a:pt x="304" y="564"/>
                    <a:pt x="426" y="353"/>
                    <a:pt x="441" y="265"/>
                  </a:cubicBezTo>
                  <a:cubicBezTo>
                    <a:pt x="441" y="264"/>
                    <a:pt x="441" y="264"/>
                    <a:pt x="441" y="264"/>
                  </a:cubicBezTo>
                  <a:cubicBezTo>
                    <a:pt x="455" y="205"/>
                    <a:pt x="440" y="142"/>
                    <a:pt x="401" y="96"/>
                  </a:cubicBezTo>
                  <a:cubicBezTo>
                    <a:pt x="362" y="49"/>
                    <a:pt x="302" y="24"/>
                    <a:pt x="241" y="29"/>
                  </a:cubicBezTo>
                  <a:cubicBezTo>
                    <a:pt x="240" y="29"/>
                    <a:pt x="240" y="29"/>
                    <a:pt x="240" y="29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35" y="28"/>
                    <a:pt x="230" y="28"/>
                    <a:pt x="226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Freeform 58">
              <a:extLst>
                <a:ext uri="{FF2B5EF4-FFF2-40B4-BE49-F238E27FC236}">
                  <a16:creationId xmlns:a16="http://schemas.microsoft.com/office/drawing/2014/main" id="{FD82791C-590C-49D3-7B06-5C2E0B8240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1650" y="3314700"/>
              <a:ext cx="171450" cy="165100"/>
            </a:xfrm>
            <a:custGeom>
              <a:avLst/>
              <a:gdLst>
                <a:gd name="T0" fmla="*/ 118 w 228"/>
                <a:gd name="T1" fmla="*/ 219 h 219"/>
                <a:gd name="T2" fmla="*/ 41 w 228"/>
                <a:gd name="T3" fmla="*/ 187 h 219"/>
                <a:gd name="T4" fmla="*/ 17 w 228"/>
                <a:gd name="T5" fmla="*/ 68 h 219"/>
                <a:gd name="T6" fmla="*/ 118 w 228"/>
                <a:gd name="T7" fmla="*/ 0 h 219"/>
                <a:gd name="T8" fmla="*/ 228 w 228"/>
                <a:gd name="T9" fmla="*/ 110 h 219"/>
                <a:gd name="T10" fmla="*/ 228 w 228"/>
                <a:gd name="T11" fmla="*/ 110 h 219"/>
                <a:gd name="T12" fmla="*/ 160 w 228"/>
                <a:gd name="T13" fmla="*/ 211 h 219"/>
                <a:gd name="T14" fmla="*/ 118 w 228"/>
                <a:gd name="T15" fmla="*/ 219 h 219"/>
                <a:gd name="T16" fmla="*/ 118 w 228"/>
                <a:gd name="T17" fmla="*/ 24 h 219"/>
                <a:gd name="T18" fmla="*/ 39 w 228"/>
                <a:gd name="T19" fmla="*/ 77 h 219"/>
                <a:gd name="T20" fmla="*/ 58 w 228"/>
                <a:gd name="T21" fmla="*/ 170 h 219"/>
                <a:gd name="T22" fmla="*/ 151 w 228"/>
                <a:gd name="T23" fmla="*/ 189 h 219"/>
                <a:gd name="T24" fmla="*/ 204 w 228"/>
                <a:gd name="T25" fmla="*/ 110 h 219"/>
                <a:gd name="T26" fmla="*/ 204 w 228"/>
                <a:gd name="T27" fmla="*/ 110 h 219"/>
                <a:gd name="T28" fmla="*/ 118 w 228"/>
                <a:gd name="T29" fmla="*/ 24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19">
                  <a:moveTo>
                    <a:pt x="118" y="219"/>
                  </a:moveTo>
                  <a:cubicBezTo>
                    <a:pt x="90" y="219"/>
                    <a:pt x="62" y="208"/>
                    <a:pt x="41" y="187"/>
                  </a:cubicBezTo>
                  <a:cubicBezTo>
                    <a:pt x="9" y="156"/>
                    <a:pt x="0" y="109"/>
                    <a:pt x="17" y="68"/>
                  </a:cubicBezTo>
                  <a:cubicBezTo>
                    <a:pt x="34" y="27"/>
                    <a:pt x="74" y="0"/>
                    <a:pt x="118" y="0"/>
                  </a:cubicBezTo>
                  <a:cubicBezTo>
                    <a:pt x="179" y="0"/>
                    <a:pt x="228" y="49"/>
                    <a:pt x="228" y="110"/>
                  </a:cubicBezTo>
                  <a:cubicBezTo>
                    <a:pt x="228" y="110"/>
                    <a:pt x="228" y="110"/>
                    <a:pt x="228" y="110"/>
                  </a:cubicBezTo>
                  <a:cubicBezTo>
                    <a:pt x="228" y="154"/>
                    <a:pt x="201" y="194"/>
                    <a:pt x="160" y="211"/>
                  </a:cubicBezTo>
                  <a:cubicBezTo>
                    <a:pt x="147" y="217"/>
                    <a:pt x="132" y="219"/>
                    <a:pt x="118" y="219"/>
                  </a:cubicBezTo>
                  <a:close/>
                  <a:moveTo>
                    <a:pt x="118" y="24"/>
                  </a:moveTo>
                  <a:cubicBezTo>
                    <a:pt x="84" y="24"/>
                    <a:pt x="53" y="45"/>
                    <a:pt x="39" y="77"/>
                  </a:cubicBezTo>
                  <a:cubicBezTo>
                    <a:pt x="26" y="109"/>
                    <a:pt x="33" y="146"/>
                    <a:pt x="58" y="170"/>
                  </a:cubicBezTo>
                  <a:cubicBezTo>
                    <a:pt x="82" y="195"/>
                    <a:pt x="119" y="202"/>
                    <a:pt x="151" y="189"/>
                  </a:cubicBezTo>
                  <a:cubicBezTo>
                    <a:pt x="183" y="175"/>
                    <a:pt x="204" y="144"/>
                    <a:pt x="204" y="110"/>
                  </a:cubicBezTo>
                  <a:cubicBezTo>
                    <a:pt x="204" y="110"/>
                    <a:pt x="204" y="110"/>
                    <a:pt x="204" y="110"/>
                  </a:cubicBezTo>
                  <a:cubicBezTo>
                    <a:pt x="204" y="63"/>
                    <a:pt x="165" y="24"/>
                    <a:pt x="118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Freeform 59">
              <a:extLst>
                <a:ext uri="{FF2B5EF4-FFF2-40B4-BE49-F238E27FC236}">
                  <a16:creationId xmlns:a16="http://schemas.microsoft.com/office/drawing/2014/main" id="{AB0B83C5-FFE3-EFBE-934D-EC515A0A8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913" y="3411538"/>
              <a:ext cx="471488" cy="312738"/>
            </a:xfrm>
            <a:custGeom>
              <a:avLst/>
              <a:gdLst>
                <a:gd name="T0" fmla="*/ 14 w 626"/>
                <a:gd name="T1" fmla="*/ 415 h 415"/>
                <a:gd name="T2" fmla="*/ 4 w 626"/>
                <a:gd name="T3" fmla="*/ 410 h 415"/>
                <a:gd name="T4" fmla="*/ 7 w 626"/>
                <a:gd name="T5" fmla="*/ 393 h 415"/>
                <a:gd name="T6" fmla="*/ 605 w 626"/>
                <a:gd name="T7" fmla="*/ 3 h 415"/>
                <a:gd name="T8" fmla="*/ 622 w 626"/>
                <a:gd name="T9" fmla="*/ 7 h 415"/>
                <a:gd name="T10" fmla="*/ 618 w 626"/>
                <a:gd name="T11" fmla="*/ 24 h 415"/>
                <a:gd name="T12" fmla="*/ 21 w 626"/>
                <a:gd name="T13" fmla="*/ 414 h 415"/>
                <a:gd name="T14" fmla="*/ 14 w 626"/>
                <a:gd name="T15" fmla="*/ 41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6" h="415">
                  <a:moveTo>
                    <a:pt x="14" y="415"/>
                  </a:moveTo>
                  <a:cubicBezTo>
                    <a:pt x="10" y="415"/>
                    <a:pt x="6" y="414"/>
                    <a:pt x="4" y="410"/>
                  </a:cubicBezTo>
                  <a:cubicBezTo>
                    <a:pt x="0" y="405"/>
                    <a:pt x="2" y="397"/>
                    <a:pt x="7" y="393"/>
                  </a:cubicBezTo>
                  <a:cubicBezTo>
                    <a:pt x="605" y="3"/>
                    <a:pt x="605" y="3"/>
                    <a:pt x="605" y="3"/>
                  </a:cubicBezTo>
                  <a:cubicBezTo>
                    <a:pt x="611" y="0"/>
                    <a:pt x="618" y="1"/>
                    <a:pt x="622" y="7"/>
                  </a:cubicBezTo>
                  <a:cubicBezTo>
                    <a:pt x="626" y="13"/>
                    <a:pt x="624" y="20"/>
                    <a:pt x="618" y="24"/>
                  </a:cubicBezTo>
                  <a:cubicBezTo>
                    <a:pt x="21" y="414"/>
                    <a:pt x="21" y="414"/>
                    <a:pt x="21" y="414"/>
                  </a:cubicBezTo>
                  <a:cubicBezTo>
                    <a:pt x="19" y="415"/>
                    <a:pt x="16" y="415"/>
                    <a:pt x="14" y="4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8" name="Title 27">
            <a:extLst>
              <a:ext uri="{FF2B5EF4-FFF2-40B4-BE49-F238E27FC236}">
                <a16:creationId xmlns:a16="http://schemas.microsoft.com/office/drawing/2014/main" id="{B9975562-43F2-F84E-CD3B-837377000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PAM Best Practices </a:t>
            </a:r>
          </a:p>
        </p:txBody>
      </p:sp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9163DC21-031E-16FA-B35F-DE1F38EF09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596A53-7E72-777F-3C21-6050F6A9FB5C}"/>
              </a:ext>
            </a:extLst>
          </p:cNvPr>
          <p:cNvSpPr txBox="1"/>
          <p:nvPr/>
        </p:nvSpPr>
        <p:spPr>
          <a:xfrm>
            <a:off x="333021" y="844609"/>
            <a:ext cx="710691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dirty="0">
                <a:solidFill>
                  <a:srgbClr val="4E84C4"/>
                </a:solidFill>
                <a:effectLst/>
                <a:latin typeface="+mj-lt"/>
                <a:ea typeface="Times New Roman" panose="02020603050405020304" pitchFamily="18" charset="0"/>
                <a:cs typeface="Aptos" panose="020B0004020202020204" pitchFamily="34" charset="0"/>
              </a:rPr>
              <a:t>Governance and Strategy</a:t>
            </a:r>
            <a:endParaRPr lang="en-GB" sz="1600" dirty="0">
              <a:solidFill>
                <a:srgbClr val="4E84C4"/>
              </a:solidFill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Aptos" panose="020B0004020202020204" pitchFamily="34" charset="0"/>
              </a:rPr>
              <a:t>Privileged access policy documentation</a:t>
            </a:r>
            <a:endParaRPr lang="en-GB" sz="1600" dirty="0"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Aptos" panose="020B0004020202020204" pitchFamily="34" charset="0"/>
              </a:rPr>
              <a:t>Role-based access control (RBAC) matrix</a:t>
            </a:r>
            <a:endParaRPr lang="en-GB" sz="1600" dirty="0"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Aptos" panose="020B0004020202020204" pitchFamily="34" charset="0"/>
              </a:rPr>
              <a:t>Password management standards</a:t>
            </a:r>
            <a:endParaRPr lang="en-GB" sz="1600" dirty="0"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Aptos" panose="020B0004020202020204" pitchFamily="34" charset="0"/>
              </a:rPr>
              <a:t>Emergency access procedures</a:t>
            </a:r>
          </a:p>
          <a:p>
            <a:endParaRPr lang="en-GB" sz="1600" dirty="0">
              <a:solidFill>
                <a:srgbClr val="000000"/>
              </a:solidFill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rgbClr val="4E84C4"/>
                </a:solidFill>
                <a:effectLst/>
                <a:latin typeface="+mj-lt"/>
                <a:ea typeface="Times New Roman" panose="02020603050405020304" pitchFamily="18" charset="0"/>
                <a:cs typeface="Aptos" panose="020B0004020202020204" pitchFamily="34" charset="0"/>
              </a:rPr>
              <a:t>Principle of Least Privilege</a:t>
            </a:r>
            <a:endParaRPr lang="en-GB" sz="1600" dirty="0">
              <a:solidFill>
                <a:srgbClr val="4E84C4"/>
              </a:solidFill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Aptos" panose="020B0004020202020204" pitchFamily="34" charset="0"/>
              </a:rPr>
              <a:t>Zero Standing Privileges: Remove permanent administrative access</a:t>
            </a:r>
            <a:endParaRPr lang="en-GB" sz="1600" dirty="0"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Aptos" panose="020B0004020202020204" pitchFamily="34" charset="0"/>
              </a:rPr>
              <a:t>Just-in-Time Access: Provide temporary, purpose-specific access</a:t>
            </a:r>
            <a:endParaRPr lang="en-GB" sz="1600" dirty="0"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Aptos" panose="020B0004020202020204" pitchFamily="34" charset="0"/>
              </a:rPr>
              <a:t>Role-Based Permissions: Assign minimum required permissions</a:t>
            </a:r>
            <a:endParaRPr lang="en-GB" sz="1600" dirty="0"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Aptos" panose="020B0004020202020204" pitchFamily="34" charset="0"/>
              </a:rPr>
              <a:t>Regular Access Reviews: Quarterly privilege certification</a:t>
            </a:r>
            <a:endParaRPr lang="en-GB" sz="1600" dirty="0"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71450" indent="-171450">
              <a:buFontTx/>
              <a:buChar char="-"/>
            </a:pPr>
            <a:endParaRPr lang="en-GB" sz="1600" dirty="0"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7896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199BE-D54A-2ABC-ED20-B318A0CE2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FA818288-85B4-0887-D7A9-31DB49E06DC0}"/>
              </a:ext>
            </a:extLst>
          </p:cNvPr>
          <p:cNvGrpSpPr/>
          <p:nvPr/>
        </p:nvGrpSpPr>
        <p:grpSpPr>
          <a:xfrm>
            <a:off x="1646076" y="4029452"/>
            <a:ext cx="570912" cy="419326"/>
            <a:chOff x="6759575" y="3000375"/>
            <a:chExt cx="906463" cy="746125"/>
          </a:xfrm>
          <a:solidFill>
            <a:srgbClr val="F4F3F9"/>
          </a:solidFill>
        </p:grpSpPr>
        <p:sp>
          <p:nvSpPr>
            <p:cNvPr id="50" name="Freeform 55">
              <a:extLst>
                <a:ext uri="{FF2B5EF4-FFF2-40B4-BE49-F238E27FC236}">
                  <a16:creationId xmlns:a16="http://schemas.microsoft.com/office/drawing/2014/main" id="{FBB2EB89-2B90-2C43-AF5F-E0AF1EEE94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1400" y="3000375"/>
              <a:ext cx="274638" cy="358775"/>
            </a:xfrm>
            <a:custGeom>
              <a:avLst/>
              <a:gdLst>
                <a:gd name="T0" fmla="*/ 182 w 364"/>
                <a:gd name="T1" fmla="*/ 476 h 476"/>
                <a:gd name="T2" fmla="*/ 152 w 364"/>
                <a:gd name="T3" fmla="*/ 462 h 476"/>
                <a:gd name="T4" fmla="*/ 0 w 364"/>
                <a:gd name="T5" fmla="*/ 182 h 476"/>
                <a:gd name="T6" fmla="*/ 53 w 364"/>
                <a:gd name="T7" fmla="*/ 53 h 476"/>
                <a:gd name="T8" fmla="*/ 182 w 364"/>
                <a:gd name="T9" fmla="*/ 0 h 476"/>
                <a:gd name="T10" fmla="*/ 182 w 364"/>
                <a:gd name="T11" fmla="*/ 0 h 476"/>
                <a:gd name="T12" fmla="*/ 364 w 364"/>
                <a:gd name="T13" fmla="*/ 182 h 476"/>
                <a:gd name="T14" fmla="*/ 212 w 364"/>
                <a:gd name="T15" fmla="*/ 462 h 476"/>
                <a:gd name="T16" fmla="*/ 182 w 364"/>
                <a:gd name="T17" fmla="*/ 476 h 476"/>
                <a:gd name="T18" fmla="*/ 182 w 364"/>
                <a:gd name="T19" fmla="*/ 24 h 476"/>
                <a:gd name="T20" fmla="*/ 70 w 364"/>
                <a:gd name="T21" fmla="*/ 70 h 476"/>
                <a:gd name="T22" fmla="*/ 24 w 364"/>
                <a:gd name="T23" fmla="*/ 182 h 476"/>
                <a:gd name="T24" fmla="*/ 171 w 364"/>
                <a:gd name="T25" fmla="*/ 447 h 476"/>
                <a:gd name="T26" fmla="*/ 182 w 364"/>
                <a:gd name="T27" fmla="*/ 452 h 476"/>
                <a:gd name="T28" fmla="*/ 193 w 364"/>
                <a:gd name="T29" fmla="*/ 447 h 476"/>
                <a:gd name="T30" fmla="*/ 340 w 364"/>
                <a:gd name="T31" fmla="*/ 182 h 476"/>
                <a:gd name="T32" fmla="*/ 182 w 364"/>
                <a:gd name="T33" fmla="*/ 24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4" h="476">
                  <a:moveTo>
                    <a:pt x="182" y="476"/>
                  </a:moveTo>
                  <a:cubicBezTo>
                    <a:pt x="170" y="476"/>
                    <a:pt x="159" y="471"/>
                    <a:pt x="152" y="462"/>
                  </a:cubicBezTo>
                  <a:cubicBezTo>
                    <a:pt x="95" y="389"/>
                    <a:pt x="0" y="257"/>
                    <a:pt x="0" y="182"/>
                  </a:cubicBezTo>
                  <a:cubicBezTo>
                    <a:pt x="0" y="133"/>
                    <a:pt x="19" y="87"/>
                    <a:pt x="53" y="53"/>
                  </a:cubicBezTo>
                  <a:cubicBezTo>
                    <a:pt x="87" y="19"/>
                    <a:pt x="133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282" y="0"/>
                    <a:pt x="364" y="81"/>
                    <a:pt x="364" y="182"/>
                  </a:cubicBezTo>
                  <a:cubicBezTo>
                    <a:pt x="364" y="257"/>
                    <a:pt x="269" y="389"/>
                    <a:pt x="212" y="462"/>
                  </a:cubicBezTo>
                  <a:cubicBezTo>
                    <a:pt x="205" y="471"/>
                    <a:pt x="194" y="476"/>
                    <a:pt x="182" y="476"/>
                  </a:cubicBezTo>
                  <a:close/>
                  <a:moveTo>
                    <a:pt x="182" y="24"/>
                  </a:moveTo>
                  <a:cubicBezTo>
                    <a:pt x="140" y="24"/>
                    <a:pt x="100" y="40"/>
                    <a:pt x="70" y="70"/>
                  </a:cubicBezTo>
                  <a:cubicBezTo>
                    <a:pt x="40" y="100"/>
                    <a:pt x="24" y="140"/>
                    <a:pt x="24" y="182"/>
                  </a:cubicBezTo>
                  <a:cubicBezTo>
                    <a:pt x="24" y="254"/>
                    <a:pt x="136" y="403"/>
                    <a:pt x="171" y="447"/>
                  </a:cubicBezTo>
                  <a:cubicBezTo>
                    <a:pt x="174" y="450"/>
                    <a:pt x="178" y="452"/>
                    <a:pt x="182" y="452"/>
                  </a:cubicBezTo>
                  <a:cubicBezTo>
                    <a:pt x="186" y="452"/>
                    <a:pt x="190" y="450"/>
                    <a:pt x="193" y="447"/>
                  </a:cubicBezTo>
                  <a:cubicBezTo>
                    <a:pt x="285" y="329"/>
                    <a:pt x="340" y="230"/>
                    <a:pt x="340" y="182"/>
                  </a:cubicBezTo>
                  <a:cubicBezTo>
                    <a:pt x="340" y="95"/>
                    <a:pt x="269" y="24"/>
                    <a:pt x="18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Freeform 56">
              <a:extLst>
                <a:ext uri="{FF2B5EF4-FFF2-40B4-BE49-F238E27FC236}">
                  <a16:creationId xmlns:a16="http://schemas.microsoft.com/office/drawing/2014/main" id="{CC0DCE26-7672-8E45-27AB-3883E7D0A9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0775" y="3079750"/>
              <a:ext cx="114300" cy="115888"/>
            </a:xfrm>
            <a:custGeom>
              <a:avLst/>
              <a:gdLst>
                <a:gd name="T0" fmla="*/ 76 w 152"/>
                <a:gd name="T1" fmla="*/ 152 h 152"/>
                <a:gd name="T2" fmla="*/ 0 w 152"/>
                <a:gd name="T3" fmla="*/ 76 h 152"/>
                <a:gd name="T4" fmla="*/ 76 w 152"/>
                <a:gd name="T5" fmla="*/ 0 h 152"/>
                <a:gd name="T6" fmla="*/ 76 w 152"/>
                <a:gd name="T7" fmla="*/ 0 h 152"/>
                <a:gd name="T8" fmla="*/ 130 w 152"/>
                <a:gd name="T9" fmla="*/ 22 h 152"/>
                <a:gd name="T10" fmla="*/ 152 w 152"/>
                <a:gd name="T11" fmla="*/ 76 h 152"/>
                <a:gd name="T12" fmla="*/ 152 w 152"/>
                <a:gd name="T13" fmla="*/ 76 h 152"/>
                <a:gd name="T14" fmla="*/ 76 w 152"/>
                <a:gd name="T15" fmla="*/ 152 h 152"/>
                <a:gd name="T16" fmla="*/ 76 w 152"/>
                <a:gd name="T17" fmla="*/ 24 h 152"/>
                <a:gd name="T18" fmla="*/ 76 w 152"/>
                <a:gd name="T19" fmla="*/ 24 h 152"/>
                <a:gd name="T20" fmla="*/ 24 w 152"/>
                <a:gd name="T21" fmla="*/ 76 h 152"/>
                <a:gd name="T22" fmla="*/ 76 w 152"/>
                <a:gd name="T23" fmla="*/ 128 h 152"/>
                <a:gd name="T24" fmla="*/ 128 w 152"/>
                <a:gd name="T25" fmla="*/ 76 h 152"/>
                <a:gd name="T26" fmla="*/ 128 w 152"/>
                <a:gd name="T27" fmla="*/ 76 h 152"/>
                <a:gd name="T28" fmla="*/ 113 w 152"/>
                <a:gd name="T29" fmla="*/ 39 h 152"/>
                <a:gd name="T30" fmla="*/ 76 w 152"/>
                <a:gd name="T31" fmla="*/ 2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2" h="152">
                  <a:moveTo>
                    <a:pt x="76" y="152"/>
                  </a:moveTo>
                  <a:cubicBezTo>
                    <a:pt x="34" y="152"/>
                    <a:pt x="0" y="118"/>
                    <a:pt x="0" y="76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6" y="0"/>
                    <a:pt x="115" y="8"/>
                    <a:pt x="130" y="22"/>
                  </a:cubicBezTo>
                  <a:cubicBezTo>
                    <a:pt x="144" y="37"/>
                    <a:pt x="152" y="56"/>
                    <a:pt x="152" y="76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118"/>
                    <a:pt x="118" y="152"/>
                    <a:pt x="76" y="152"/>
                  </a:cubicBezTo>
                  <a:close/>
                  <a:moveTo>
                    <a:pt x="76" y="24"/>
                  </a:moveTo>
                  <a:cubicBezTo>
                    <a:pt x="76" y="24"/>
                    <a:pt x="76" y="24"/>
                    <a:pt x="76" y="24"/>
                  </a:cubicBezTo>
                  <a:cubicBezTo>
                    <a:pt x="47" y="24"/>
                    <a:pt x="24" y="47"/>
                    <a:pt x="24" y="76"/>
                  </a:cubicBezTo>
                  <a:cubicBezTo>
                    <a:pt x="24" y="104"/>
                    <a:pt x="47" y="128"/>
                    <a:pt x="76" y="128"/>
                  </a:cubicBezTo>
                  <a:cubicBezTo>
                    <a:pt x="104" y="128"/>
                    <a:pt x="128" y="104"/>
                    <a:pt x="128" y="76"/>
                  </a:cubicBezTo>
                  <a:cubicBezTo>
                    <a:pt x="128" y="76"/>
                    <a:pt x="128" y="76"/>
                    <a:pt x="128" y="76"/>
                  </a:cubicBezTo>
                  <a:cubicBezTo>
                    <a:pt x="128" y="62"/>
                    <a:pt x="122" y="49"/>
                    <a:pt x="113" y="39"/>
                  </a:cubicBezTo>
                  <a:cubicBezTo>
                    <a:pt x="103" y="29"/>
                    <a:pt x="90" y="24"/>
                    <a:pt x="76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Freeform 57">
              <a:extLst>
                <a:ext uri="{FF2B5EF4-FFF2-40B4-BE49-F238E27FC236}">
                  <a16:creationId xmlns:a16="http://schemas.microsoft.com/office/drawing/2014/main" id="{885AA9DB-42D7-D6F4-99CC-CE2B72BE6F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9575" y="3232150"/>
              <a:ext cx="361950" cy="514350"/>
            </a:xfrm>
            <a:custGeom>
              <a:avLst/>
              <a:gdLst>
                <a:gd name="T0" fmla="*/ 240 w 480"/>
                <a:gd name="T1" fmla="*/ 681 h 681"/>
                <a:gd name="T2" fmla="*/ 208 w 480"/>
                <a:gd name="T3" fmla="*/ 663 h 681"/>
                <a:gd name="T4" fmla="*/ 16 w 480"/>
                <a:gd name="T5" fmla="*/ 270 h 681"/>
                <a:gd name="T6" fmla="*/ 61 w 480"/>
                <a:gd name="T7" fmla="*/ 80 h 681"/>
                <a:gd name="T8" fmla="*/ 240 w 480"/>
                <a:gd name="T9" fmla="*/ 5 h 681"/>
                <a:gd name="T10" fmla="*/ 419 w 480"/>
                <a:gd name="T11" fmla="*/ 80 h 681"/>
                <a:gd name="T12" fmla="*/ 465 w 480"/>
                <a:gd name="T13" fmla="*/ 270 h 681"/>
                <a:gd name="T14" fmla="*/ 272 w 480"/>
                <a:gd name="T15" fmla="*/ 663 h 681"/>
                <a:gd name="T16" fmla="*/ 240 w 480"/>
                <a:gd name="T17" fmla="*/ 681 h 681"/>
                <a:gd name="T18" fmla="*/ 240 w 480"/>
                <a:gd name="T19" fmla="*/ 681 h 681"/>
                <a:gd name="T20" fmla="*/ 226 w 480"/>
                <a:gd name="T21" fmla="*/ 28 h 681"/>
                <a:gd name="T22" fmla="*/ 80 w 480"/>
                <a:gd name="T23" fmla="*/ 96 h 681"/>
                <a:gd name="T24" fmla="*/ 39 w 480"/>
                <a:gd name="T25" fmla="*/ 264 h 681"/>
                <a:gd name="T26" fmla="*/ 39 w 480"/>
                <a:gd name="T27" fmla="*/ 265 h 681"/>
                <a:gd name="T28" fmla="*/ 228 w 480"/>
                <a:gd name="T29" fmla="*/ 650 h 681"/>
                <a:gd name="T30" fmla="*/ 240 w 480"/>
                <a:gd name="T31" fmla="*/ 657 h 681"/>
                <a:gd name="T32" fmla="*/ 240 w 480"/>
                <a:gd name="T33" fmla="*/ 657 h 681"/>
                <a:gd name="T34" fmla="*/ 252 w 480"/>
                <a:gd name="T35" fmla="*/ 650 h 681"/>
                <a:gd name="T36" fmla="*/ 441 w 480"/>
                <a:gd name="T37" fmla="*/ 265 h 681"/>
                <a:gd name="T38" fmla="*/ 441 w 480"/>
                <a:gd name="T39" fmla="*/ 264 h 681"/>
                <a:gd name="T40" fmla="*/ 401 w 480"/>
                <a:gd name="T41" fmla="*/ 96 h 681"/>
                <a:gd name="T42" fmla="*/ 241 w 480"/>
                <a:gd name="T43" fmla="*/ 29 h 681"/>
                <a:gd name="T44" fmla="*/ 240 w 480"/>
                <a:gd name="T45" fmla="*/ 29 h 681"/>
                <a:gd name="T46" fmla="*/ 239 w 480"/>
                <a:gd name="T47" fmla="*/ 29 h 681"/>
                <a:gd name="T48" fmla="*/ 226 w 480"/>
                <a:gd name="T49" fmla="*/ 28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0" h="681">
                  <a:moveTo>
                    <a:pt x="240" y="681"/>
                  </a:moveTo>
                  <a:cubicBezTo>
                    <a:pt x="227" y="681"/>
                    <a:pt x="214" y="674"/>
                    <a:pt x="208" y="663"/>
                  </a:cubicBezTo>
                  <a:cubicBezTo>
                    <a:pt x="156" y="580"/>
                    <a:pt x="35" y="376"/>
                    <a:pt x="16" y="270"/>
                  </a:cubicBezTo>
                  <a:cubicBezTo>
                    <a:pt x="0" y="203"/>
                    <a:pt x="17" y="132"/>
                    <a:pt x="61" y="80"/>
                  </a:cubicBezTo>
                  <a:cubicBezTo>
                    <a:pt x="105" y="28"/>
                    <a:pt x="172" y="0"/>
                    <a:pt x="240" y="5"/>
                  </a:cubicBezTo>
                  <a:cubicBezTo>
                    <a:pt x="308" y="0"/>
                    <a:pt x="375" y="28"/>
                    <a:pt x="419" y="80"/>
                  </a:cubicBezTo>
                  <a:cubicBezTo>
                    <a:pt x="464" y="132"/>
                    <a:pt x="480" y="203"/>
                    <a:pt x="465" y="270"/>
                  </a:cubicBezTo>
                  <a:cubicBezTo>
                    <a:pt x="449" y="362"/>
                    <a:pt x="325" y="575"/>
                    <a:pt x="272" y="663"/>
                  </a:cubicBezTo>
                  <a:cubicBezTo>
                    <a:pt x="266" y="674"/>
                    <a:pt x="253" y="681"/>
                    <a:pt x="240" y="681"/>
                  </a:cubicBezTo>
                  <a:cubicBezTo>
                    <a:pt x="240" y="681"/>
                    <a:pt x="240" y="681"/>
                    <a:pt x="240" y="681"/>
                  </a:cubicBezTo>
                  <a:close/>
                  <a:moveTo>
                    <a:pt x="226" y="28"/>
                  </a:moveTo>
                  <a:cubicBezTo>
                    <a:pt x="170" y="28"/>
                    <a:pt x="116" y="53"/>
                    <a:pt x="80" y="96"/>
                  </a:cubicBezTo>
                  <a:cubicBezTo>
                    <a:pt x="40" y="142"/>
                    <a:pt x="25" y="205"/>
                    <a:pt x="39" y="264"/>
                  </a:cubicBezTo>
                  <a:cubicBezTo>
                    <a:pt x="39" y="265"/>
                    <a:pt x="39" y="265"/>
                    <a:pt x="39" y="265"/>
                  </a:cubicBezTo>
                  <a:cubicBezTo>
                    <a:pt x="58" y="368"/>
                    <a:pt x="178" y="569"/>
                    <a:pt x="228" y="650"/>
                  </a:cubicBezTo>
                  <a:cubicBezTo>
                    <a:pt x="231" y="655"/>
                    <a:pt x="235" y="657"/>
                    <a:pt x="240" y="657"/>
                  </a:cubicBezTo>
                  <a:cubicBezTo>
                    <a:pt x="240" y="657"/>
                    <a:pt x="240" y="657"/>
                    <a:pt x="240" y="657"/>
                  </a:cubicBezTo>
                  <a:cubicBezTo>
                    <a:pt x="245" y="657"/>
                    <a:pt x="249" y="655"/>
                    <a:pt x="252" y="650"/>
                  </a:cubicBezTo>
                  <a:cubicBezTo>
                    <a:pt x="304" y="564"/>
                    <a:pt x="426" y="353"/>
                    <a:pt x="441" y="265"/>
                  </a:cubicBezTo>
                  <a:cubicBezTo>
                    <a:pt x="441" y="264"/>
                    <a:pt x="441" y="264"/>
                    <a:pt x="441" y="264"/>
                  </a:cubicBezTo>
                  <a:cubicBezTo>
                    <a:pt x="455" y="205"/>
                    <a:pt x="440" y="142"/>
                    <a:pt x="401" y="96"/>
                  </a:cubicBezTo>
                  <a:cubicBezTo>
                    <a:pt x="362" y="49"/>
                    <a:pt x="302" y="24"/>
                    <a:pt x="241" y="29"/>
                  </a:cubicBezTo>
                  <a:cubicBezTo>
                    <a:pt x="240" y="29"/>
                    <a:pt x="240" y="29"/>
                    <a:pt x="240" y="29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35" y="28"/>
                    <a:pt x="230" y="28"/>
                    <a:pt x="226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Freeform 58">
              <a:extLst>
                <a:ext uri="{FF2B5EF4-FFF2-40B4-BE49-F238E27FC236}">
                  <a16:creationId xmlns:a16="http://schemas.microsoft.com/office/drawing/2014/main" id="{617F246A-6F7E-6B00-35B0-728DDC285C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1650" y="3314700"/>
              <a:ext cx="171450" cy="165100"/>
            </a:xfrm>
            <a:custGeom>
              <a:avLst/>
              <a:gdLst>
                <a:gd name="T0" fmla="*/ 118 w 228"/>
                <a:gd name="T1" fmla="*/ 219 h 219"/>
                <a:gd name="T2" fmla="*/ 41 w 228"/>
                <a:gd name="T3" fmla="*/ 187 h 219"/>
                <a:gd name="T4" fmla="*/ 17 w 228"/>
                <a:gd name="T5" fmla="*/ 68 h 219"/>
                <a:gd name="T6" fmla="*/ 118 w 228"/>
                <a:gd name="T7" fmla="*/ 0 h 219"/>
                <a:gd name="T8" fmla="*/ 228 w 228"/>
                <a:gd name="T9" fmla="*/ 110 h 219"/>
                <a:gd name="T10" fmla="*/ 228 w 228"/>
                <a:gd name="T11" fmla="*/ 110 h 219"/>
                <a:gd name="T12" fmla="*/ 160 w 228"/>
                <a:gd name="T13" fmla="*/ 211 h 219"/>
                <a:gd name="T14" fmla="*/ 118 w 228"/>
                <a:gd name="T15" fmla="*/ 219 h 219"/>
                <a:gd name="T16" fmla="*/ 118 w 228"/>
                <a:gd name="T17" fmla="*/ 24 h 219"/>
                <a:gd name="T18" fmla="*/ 39 w 228"/>
                <a:gd name="T19" fmla="*/ 77 h 219"/>
                <a:gd name="T20" fmla="*/ 58 w 228"/>
                <a:gd name="T21" fmla="*/ 170 h 219"/>
                <a:gd name="T22" fmla="*/ 151 w 228"/>
                <a:gd name="T23" fmla="*/ 189 h 219"/>
                <a:gd name="T24" fmla="*/ 204 w 228"/>
                <a:gd name="T25" fmla="*/ 110 h 219"/>
                <a:gd name="T26" fmla="*/ 204 w 228"/>
                <a:gd name="T27" fmla="*/ 110 h 219"/>
                <a:gd name="T28" fmla="*/ 118 w 228"/>
                <a:gd name="T29" fmla="*/ 24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19">
                  <a:moveTo>
                    <a:pt x="118" y="219"/>
                  </a:moveTo>
                  <a:cubicBezTo>
                    <a:pt x="90" y="219"/>
                    <a:pt x="62" y="208"/>
                    <a:pt x="41" y="187"/>
                  </a:cubicBezTo>
                  <a:cubicBezTo>
                    <a:pt x="9" y="156"/>
                    <a:pt x="0" y="109"/>
                    <a:pt x="17" y="68"/>
                  </a:cubicBezTo>
                  <a:cubicBezTo>
                    <a:pt x="34" y="27"/>
                    <a:pt x="74" y="0"/>
                    <a:pt x="118" y="0"/>
                  </a:cubicBezTo>
                  <a:cubicBezTo>
                    <a:pt x="179" y="0"/>
                    <a:pt x="228" y="49"/>
                    <a:pt x="228" y="110"/>
                  </a:cubicBezTo>
                  <a:cubicBezTo>
                    <a:pt x="228" y="110"/>
                    <a:pt x="228" y="110"/>
                    <a:pt x="228" y="110"/>
                  </a:cubicBezTo>
                  <a:cubicBezTo>
                    <a:pt x="228" y="154"/>
                    <a:pt x="201" y="194"/>
                    <a:pt x="160" y="211"/>
                  </a:cubicBezTo>
                  <a:cubicBezTo>
                    <a:pt x="147" y="217"/>
                    <a:pt x="132" y="219"/>
                    <a:pt x="118" y="219"/>
                  </a:cubicBezTo>
                  <a:close/>
                  <a:moveTo>
                    <a:pt x="118" y="24"/>
                  </a:moveTo>
                  <a:cubicBezTo>
                    <a:pt x="84" y="24"/>
                    <a:pt x="53" y="45"/>
                    <a:pt x="39" y="77"/>
                  </a:cubicBezTo>
                  <a:cubicBezTo>
                    <a:pt x="26" y="109"/>
                    <a:pt x="33" y="146"/>
                    <a:pt x="58" y="170"/>
                  </a:cubicBezTo>
                  <a:cubicBezTo>
                    <a:pt x="82" y="195"/>
                    <a:pt x="119" y="202"/>
                    <a:pt x="151" y="189"/>
                  </a:cubicBezTo>
                  <a:cubicBezTo>
                    <a:pt x="183" y="175"/>
                    <a:pt x="204" y="144"/>
                    <a:pt x="204" y="110"/>
                  </a:cubicBezTo>
                  <a:cubicBezTo>
                    <a:pt x="204" y="110"/>
                    <a:pt x="204" y="110"/>
                    <a:pt x="204" y="110"/>
                  </a:cubicBezTo>
                  <a:cubicBezTo>
                    <a:pt x="204" y="63"/>
                    <a:pt x="165" y="24"/>
                    <a:pt x="118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Freeform 59">
              <a:extLst>
                <a:ext uri="{FF2B5EF4-FFF2-40B4-BE49-F238E27FC236}">
                  <a16:creationId xmlns:a16="http://schemas.microsoft.com/office/drawing/2014/main" id="{2A3F53EB-0F26-2636-97B7-03C0F590E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913" y="3411538"/>
              <a:ext cx="471488" cy="312738"/>
            </a:xfrm>
            <a:custGeom>
              <a:avLst/>
              <a:gdLst>
                <a:gd name="T0" fmla="*/ 14 w 626"/>
                <a:gd name="T1" fmla="*/ 415 h 415"/>
                <a:gd name="T2" fmla="*/ 4 w 626"/>
                <a:gd name="T3" fmla="*/ 410 h 415"/>
                <a:gd name="T4" fmla="*/ 7 w 626"/>
                <a:gd name="T5" fmla="*/ 393 h 415"/>
                <a:gd name="T6" fmla="*/ 605 w 626"/>
                <a:gd name="T7" fmla="*/ 3 h 415"/>
                <a:gd name="T8" fmla="*/ 622 w 626"/>
                <a:gd name="T9" fmla="*/ 7 h 415"/>
                <a:gd name="T10" fmla="*/ 618 w 626"/>
                <a:gd name="T11" fmla="*/ 24 h 415"/>
                <a:gd name="T12" fmla="*/ 21 w 626"/>
                <a:gd name="T13" fmla="*/ 414 h 415"/>
                <a:gd name="T14" fmla="*/ 14 w 626"/>
                <a:gd name="T15" fmla="*/ 41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6" h="415">
                  <a:moveTo>
                    <a:pt x="14" y="415"/>
                  </a:moveTo>
                  <a:cubicBezTo>
                    <a:pt x="10" y="415"/>
                    <a:pt x="6" y="414"/>
                    <a:pt x="4" y="410"/>
                  </a:cubicBezTo>
                  <a:cubicBezTo>
                    <a:pt x="0" y="405"/>
                    <a:pt x="2" y="397"/>
                    <a:pt x="7" y="393"/>
                  </a:cubicBezTo>
                  <a:cubicBezTo>
                    <a:pt x="605" y="3"/>
                    <a:pt x="605" y="3"/>
                    <a:pt x="605" y="3"/>
                  </a:cubicBezTo>
                  <a:cubicBezTo>
                    <a:pt x="611" y="0"/>
                    <a:pt x="618" y="1"/>
                    <a:pt x="622" y="7"/>
                  </a:cubicBezTo>
                  <a:cubicBezTo>
                    <a:pt x="626" y="13"/>
                    <a:pt x="624" y="20"/>
                    <a:pt x="618" y="24"/>
                  </a:cubicBezTo>
                  <a:cubicBezTo>
                    <a:pt x="21" y="414"/>
                    <a:pt x="21" y="414"/>
                    <a:pt x="21" y="414"/>
                  </a:cubicBezTo>
                  <a:cubicBezTo>
                    <a:pt x="19" y="415"/>
                    <a:pt x="16" y="415"/>
                    <a:pt x="14" y="4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8" name="Title 27">
            <a:extLst>
              <a:ext uri="{FF2B5EF4-FFF2-40B4-BE49-F238E27FC236}">
                <a16:creationId xmlns:a16="http://schemas.microsoft.com/office/drawing/2014/main" id="{70E7FBD0-08C0-CFC4-409A-213F59A03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PAM Best Practices </a:t>
            </a:r>
          </a:p>
        </p:txBody>
      </p:sp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7C4D7546-EF17-3421-8168-55E15FFA5C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8196C7-E061-2C61-DD1D-E3707BBC6559}"/>
              </a:ext>
            </a:extLst>
          </p:cNvPr>
          <p:cNvSpPr txBox="1"/>
          <p:nvPr/>
        </p:nvSpPr>
        <p:spPr>
          <a:xfrm>
            <a:off x="582633" y="462214"/>
            <a:ext cx="7106911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dirty="0">
                <a:solidFill>
                  <a:srgbClr val="4E84C4"/>
                </a:solidFill>
                <a:effectLst/>
                <a:latin typeface="+mj-lt"/>
                <a:ea typeface="Times New Roman" panose="02020603050405020304" pitchFamily="18" charset="0"/>
                <a:cs typeface="Aptos" panose="020B0004020202020204" pitchFamily="34" charset="0"/>
              </a:rPr>
              <a:t>Governance and Strategy</a:t>
            </a:r>
            <a:endParaRPr lang="en-GB" sz="1600" dirty="0">
              <a:solidFill>
                <a:srgbClr val="4E84C4"/>
              </a:solidFill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Aptos" panose="020B0004020202020204" pitchFamily="34" charset="0"/>
              </a:rPr>
              <a:t>Privileged access policy documentation</a:t>
            </a:r>
            <a:endParaRPr lang="en-GB" sz="1600" dirty="0"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Aptos" panose="020B0004020202020204" pitchFamily="34" charset="0"/>
              </a:rPr>
              <a:t>Role-based access control (RBAC) matrix</a:t>
            </a:r>
            <a:endParaRPr lang="en-GB" sz="1600" dirty="0"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Aptos" panose="020B0004020202020204" pitchFamily="34" charset="0"/>
              </a:rPr>
              <a:t>Password management standards</a:t>
            </a:r>
            <a:endParaRPr lang="en-GB" sz="1600" dirty="0"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Aptos" panose="020B0004020202020204" pitchFamily="34" charset="0"/>
              </a:rPr>
              <a:t>Emergency access procedures</a:t>
            </a:r>
          </a:p>
          <a:p>
            <a:pPr marL="171450" indent="-171450">
              <a:buFontTx/>
              <a:buChar char="-"/>
            </a:pPr>
            <a:endParaRPr lang="en-GB" sz="1600" dirty="0">
              <a:solidFill>
                <a:srgbClr val="000000"/>
              </a:solidFill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rgbClr val="4E84C4"/>
                </a:solidFill>
                <a:effectLst/>
                <a:latin typeface="+mj-lt"/>
                <a:ea typeface="Times New Roman" panose="02020603050405020304" pitchFamily="18" charset="0"/>
                <a:cs typeface="Aptos" panose="020B0004020202020204" pitchFamily="34" charset="0"/>
              </a:rPr>
              <a:t>Principle of Least Privilege</a:t>
            </a:r>
            <a:endParaRPr lang="en-GB" sz="1600" dirty="0">
              <a:solidFill>
                <a:srgbClr val="4E84C4"/>
              </a:solidFill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Aptos" panose="020B0004020202020204" pitchFamily="34" charset="0"/>
              </a:rPr>
              <a:t>Zero Standing Privileges: Remove permanent administrative access</a:t>
            </a:r>
            <a:endParaRPr lang="en-GB" sz="1600" dirty="0"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Aptos" panose="020B0004020202020204" pitchFamily="34" charset="0"/>
              </a:rPr>
              <a:t>Just-in-Time Access: Provide temporary, purpose-specific access</a:t>
            </a:r>
            <a:endParaRPr lang="en-GB" sz="1600" dirty="0"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Aptos" panose="020B0004020202020204" pitchFamily="34" charset="0"/>
              </a:rPr>
              <a:t>Role-Based Permissions: Assign minimum required permissions</a:t>
            </a:r>
            <a:endParaRPr lang="en-GB" sz="1600" dirty="0"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Aptos" panose="020B0004020202020204" pitchFamily="34" charset="0"/>
              </a:rPr>
              <a:t>Regular Access Reviews: Quarterly privilege certification</a:t>
            </a:r>
          </a:p>
          <a:p>
            <a:endParaRPr lang="en-GB" sz="1600" dirty="0">
              <a:solidFill>
                <a:srgbClr val="000000"/>
              </a:solidFill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  <a:p>
            <a:r>
              <a:rPr lang="en-GB" sz="1600" dirty="0">
                <a:solidFill>
                  <a:srgbClr val="4E84C4"/>
                </a:solidFill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Password Policy Standards: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Complexity: Minimum 14 characters, mixed case, numbers, symbols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Rotation: Automatic rotation every 30-90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Uniqueness: No password reuse across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Storage: Encrypted vault with AES-256 encryption</a:t>
            </a:r>
          </a:p>
          <a:p>
            <a:endParaRPr lang="en-GB" sz="1600" dirty="0"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71450" indent="-171450">
              <a:buFontTx/>
              <a:buChar char="-"/>
            </a:pPr>
            <a:endParaRPr lang="en-GB" sz="1600" dirty="0"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pic>
        <p:nvPicPr>
          <p:cNvPr id="15362" name="Picture 2" descr="Best Practice&quot; Images – Browse 25,969 ...">
            <a:extLst>
              <a:ext uri="{FF2B5EF4-FFF2-40B4-BE49-F238E27FC236}">
                <a16:creationId xmlns:a16="http://schemas.microsoft.com/office/drawing/2014/main" id="{A32A9978-A923-DB39-A5FA-6E9825E6E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8146" y="2482322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219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A159D-75FC-4423-7F49-81D9F4AE0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D7419218-0E6E-7612-C2D6-8A1CE461B517}"/>
              </a:ext>
            </a:extLst>
          </p:cNvPr>
          <p:cNvGrpSpPr/>
          <p:nvPr/>
        </p:nvGrpSpPr>
        <p:grpSpPr>
          <a:xfrm>
            <a:off x="1646076" y="4029452"/>
            <a:ext cx="570912" cy="419326"/>
            <a:chOff x="6759575" y="3000375"/>
            <a:chExt cx="906463" cy="746125"/>
          </a:xfrm>
          <a:solidFill>
            <a:srgbClr val="F4F3F9"/>
          </a:solidFill>
        </p:grpSpPr>
        <p:sp>
          <p:nvSpPr>
            <p:cNvPr id="50" name="Freeform 55">
              <a:extLst>
                <a:ext uri="{FF2B5EF4-FFF2-40B4-BE49-F238E27FC236}">
                  <a16:creationId xmlns:a16="http://schemas.microsoft.com/office/drawing/2014/main" id="{EC048E3B-6A7C-2ABA-0511-0094D14C79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1400" y="3000375"/>
              <a:ext cx="274638" cy="358775"/>
            </a:xfrm>
            <a:custGeom>
              <a:avLst/>
              <a:gdLst>
                <a:gd name="T0" fmla="*/ 182 w 364"/>
                <a:gd name="T1" fmla="*/ 476 h 476"/>
                <a:gd name="T2" fmla="*/ 152 w 364"/>
                <a:gd name="T3" fmla="*/ 462 h 476"/>
                <a:gd name="T4" fmla="*/ 0 w 364"/>
                <a:gd name="T5" fmla="*/ 182 h 476"/>
                <a:gd name="T6" fmla="*/ 53 w 364"/>
                <a:gd name="T7" fmla="*/ 53 h 476"/>
                <a:gd name="T8" fmla="*/ 182 w 364"/>
                <a:gd name="T9" fmla="*/ 0 h 476"/>
                <a:gd name="T10" fmla="*/ 182 w 364"/>
                <a:gd name="T11" fmla="*/ 0 h 476"/>
                <a:gd name="T12" fmla="*/ 364 w 364"/>
                <a:gd name="T13" fmla="*/ 182 h 476"/>
                <a:gd name="T14" fmla="*/ 212 w 364"/>
                <a:gd name="T15" fmla="*/ 462 h 476"/>
                <a:gd name="T16" fmla="*/ 182 w 364"/>
                <a:gd name="T17" fmla="*/ 476 h 476"/>
                <a:gd name="T18" fmla="*/ 182 w 364"/>
                <a:gd name="T19" fmla="*/ 24 h 476"/>
                <a:gd name="T20" fmla="*/ 70 w 364"/>
                <a:gd name="T21" fmla="*/ 70 h 476"/>
                <a:gd name="T22" fmla="*/ 24 w 364"/>
                <a:gd name="T23" fmla="*/ 182 h 476"/>
                <a:gd name="T24" fmla="*/ 171 w 364"/>
                <a:gd name="T25" fmla="*/ 447 h 476"/>
                <a:gd name="T26" fmla="*/ 182 w 364"/>
                <a:gd name="T27" fmla="*/ 452 h 476"/>
                <a:gd name="T28" fmla="*/ 193 w 364"/>
                <a:gd name="T29" fmla="*/ 447 h 476"/>
                <a:gd name="T30" fmla="*/ 340 w 364"/>
                <a:gd name="T31" fmla="*/ 182 h 476"/>
                <a:gd name="T32" fmla="*/ 182 w 364"/>
                <a:gd name="T33" fmla="*/ 24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4" h="476">
                  <a:moveTo>
                    <a:pt x="182" y="476"/>
                  </a:moveTo>
                  <a:cubicBezTo>
                    <a:pt x="170" y="476"/>
                    <a:pt x="159" y="471"/>
                    <a:pt x="152" y="462"/>
                  </a:cubicBezTo>
                  <a:cubicBezTo>
                    <a:pt x="95" y="389"/>
                    <a:pt x="0" y="257"/>
                    <a:pt x="0" y="182"/>
                  </a:cubicBezTo>
                  <a:cubicBezTo>
                    <a:pt x="0" y="133"/>
                    <a:pt x="19" y="87"/>
                    <a:pt x="53" y="53"/>
                  </a:cubicBezTo>
                  <a:cubicBezTo>
                    <a:pt x="87" y="19"/>
                    <a:pt x="133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282" y="0"/>
                    <a:pt x="364" y="81"/>
                    <a:pt x="364" y="182"/>
                  </a:cubicBezTo>
                  <a:cubicBezTo>
                    <a:pt x="364" y="257"/>
                    <a:pt x="269" y="389"/>
                    <a:pt x="212" y="462"/>
                  </a:cubicBezTo>
                  <a:cubicBezTo>
                    <a:pt x="205" y="471"/>
                    <a:pt x="194" y="476"/>
                    <a:pt x="182" y="476"/>
                  </a:cubicBezTo>
                  <a:close/>
                  <a:moveTo>
                    <a:pt x="182" y="24"/>
                  </a:moveTo>
                  <a:cubicBezTo>
                    <a:pt x="140" y="24"/>
                    <a:pt x="100" y="40"/>
                    <a:pt x="70" y="70"/>
                  </a:cubicBezTo>
                  <a:cubicBezTo>
                    <a:pt x="40" y="100"/>
                    <a:pt x="24" y="140"/>
                    <a:pt x="24" y="182"/>
                  </a:cubicBezTo>
                  <a:cubicBezTo>
                    <a:pt x="24" y="254"/>
                    <a:pt x="136" y="403"/>
                    <a:pt x="171" y="447"/>
                  </a:cubicBezTo>
                  <a:cubicBezTo>
                    <a:pt x="174" y="450"/>
                    <a:pt x="178" y="452"/>
                    <a:pt x="182" y="452"/>
                  </a:cubicBezTo>
                  <a:cubicBezTo>
                    <a:pt x="186" y="452"/>
                    <a:pt x="190" y="450"/>
                    <a:pt x="193" y="447"/>
                  </a:cubicBezTo>
                  <a:cubicBezTo>
                    <a:pt x="285" y="329"/>
                    <a:pt x="340" y="230"/>
                    <a:pt x="340" y="182"/>
                  </a:cubicBezTo>
                  <a:cubicBezTo>
                    <a:pt x="340" y="95"/>
                    <a:pt x="269" y="24"/>
                    <a:pt x="18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Freeform 56">
              <a:extLst>
                <a:ext uri="{FF2B5EF4-FFF2-40B4-BE49-F238E27FC236}">
                  <a16:creationId xmlns:a16="http://schemas.microsoft.com/office/drawing/2014/main" id="{D18EA6CA-2C27-29B4-B47B-4E42C8229B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0775" y="3079750"/>
              <a:ext cx="114300" cy="115888"/>
            </a:xfrm>
            <a:custGeom>
              <a:avLst/>
              <a:gdLst>
                <a:gd name="T0" fmla="*/ 76 w 152"/>
                <a:gd name="T1" fmla="*/ 152 h 152"/>
                <a:gd name="T2" fmla="*/ 0 w 152"/>
                <a:gd name="T3" fmla="*/ 76 h 152"/>
                <a:gd name="T4" fmla="*/ 76 w 152"/>
                <a:gd name="T5" fmla="*/ 0 h 152"/>
                <a:gd name="T6" fmla="*/ 76 w 152"/>
                <a:gd name="T7" fmla="*/ 0 h 152"/>
                <a:gd name="T8" fmla="*/ 130 w 152"/>
                <a:gd name="T9" fmla="*/ 22 h 152"/>
                <a:gd name="T10" fmla="*/ 152 w 152"/>
                <a:gd name="T11" fmla="*/ 76 h 152"/>
                <a:gd name="T12" fmla="*/ 152 w 152"/>
                <a:gd name="T13" fmla="*/ 76 h 152"/>
                <a:gd name="T14" fmla="*/ 76 w 152"/>
                <a:gd name="T15" fmla="*/ 152 h 152"/>
                <a:gd name="T16" fmla="*/ 76 w 152"/>
                <a:gd name="T17" fmla="*/ 24 h 152"/>
                <a:gd name="T18" fmla="*/ 76 w 152"/>
                <a:gd name="T19" fmla="*/ 24 h 152"/>
                <a:gd name="T20" fmla="*/ 24 w 152"/>
                <a:gd name="T21" fmla="*/ 76 h 152"/>
                <a:gd name="T22" fmla="*/ 76 w 152"/>
                <a:gd name="T23" fmla="*/ 128 h 152"/>
                <a:gd name="T24" fmla="*/ 128 w 152"/>
                <a:gd name="T25" fmla="*/ 76 h 152"/>
                <a:gd name="T26" fmla="*/ 128 w 152"/>
                <a:gd name="T27" fmla="*/ 76 h 152"/>
                <a:gd name="T28" fmla="*/ 113 w 152"/>
                <a:gd name="T29" fmla="*/ 39 h 152"/>
                <a:gd name="T30" fmla="*/ 76 w 152"/>
                <a:gd name="T31" fmla="*/ 2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2" h="152">
                  <a:moveTo>
                    <a:pt x="76" y="152"/>
                  </a:moveTo>
                  <a:cubicBezTo>
                    <a:pt x="34" y="152"/>
                    <a:pt x="0" y="118"/>
                    <a:pt x="0" y="76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6" y="0"/>
                    <a:pt x="115" y="8"/>
                    <a:pt x="130" y="22"/>
                  </a:cubicBezTo>
                  <a:cubicBezTo>
                    <a:pt x="144" y="37"/>
                    <a:pt x="152" y="56"/>
                    <a:pt x="152" y="76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118"/>
                    <a:pt x="118" y="152"/>
                    <a:pt x="76" y="152"/>
                  </a:cubicBezTo>
                  <a:close/>
                  <a:moveTo>
                    <a:pt x="76" y="24"/>
                  </a:moveTo>
                  <a:cubicBezTo>
                    <a:pt x="76" y="24"/>
                    <a:pt x="76" y="24"/>
                    <a:pt x="76" y="24"/>
                  </a:cubicBezTo>
                  <a:cubicBezTo>
                    <a:pt x="47" y="24"/>
                    <a:pt x="24" y="47"/>
                    <a:pt x="24" y="76"/>
                  </a:cubicBezTo>
                  <a:cubicBezTo>
                    <a:pt x="24" y="104"/>
                    <a:pt x="47" y="128"/>
                    <a:pt x="76" y="128"/>
                  </a:cubicBezTo>
                  <a:cubicBezTo>
                    <a:pt x="104" y="128"/>
                    <a:pt x="128" y="104"/>
                    <a:pt x="128" y="76"/>
                  </a:cubicBezTo>
                  <a:cubicBezTo>
                    <a:pt x="128" y="76"/>
                    <a:pt x="128" y="76"/>
                    <a:pt x="128" y="76"/>
                  </a:cubicBezTo>
                  <a:cubicBezTo>
                    <a:pt x="128" y="62"/>
                    <a:pt x="122" y="49"/>
                    <a:pt x="113" y="39"/>
                  </a:cubicBezTo>
                  <a:cubicBezTo>
                    <a:pt x="103" y="29"/>
                    <a:pt x="90" y="24"/>
                    <a:pt x="76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Freeform 57">
              <a:extLst>
                <a:ext uri="{FF2B5EF4-FFF2-40B4-BE49-F238E27FC236}">
                  <a16:creationId xmlns:a16="http://schemas.microsoft.com/office/drawing/2014/main" id="{2E659B90-8F61-4614-357F-328651C0E1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9575" y="3232150"/>
              <a:ext cx="361950" cy="514350"/>
            </a:xfrm>
            <a:custGeom>
              <a:avLst/>
              <a:gdLst>
                <a:gd name="T0" fmla="*/ 240 w 480"/>
                <a:gd name="T1" fmla="*/ 681 h 681"/>
                <a:gd name="T2" fmla="*/ 208 w 480"/>
                <a:gd name="T3" fmla="*/ 663 h 681"/>
                <a:gd name="T4" fmla="*/ 16 w 480"/>
                <a:gd name="T5" fmla="*/ 270 h 681"/>
                <a:gd name="T6" fmla="*/ 61 w 480"/>
                <a:gd name="T7" fmla="*/ 80 h 681"/>
                <a:gd name="T8" fmla="*/ 240 w 480"/>
                <a:gd name="T9" fmla="*/ 5 h 681"/>
                <a:gd name="T10" fmla="*/ 419 w 480"/>
                <a:gd name="T11" fmla="*/ 80 h 681"/>
                <a:gd name="T12" fmla="*/ 465 w 480"/>
                <a:gd name="T13" fmla="*/ 270 h 681"/>
                <a:gd name="T14" fmla="*/ 272 w 480"/>
                <a:gd name="T15" fmla="*/ 663 h 681"/>
                <a:gd name="T16" fmla="*/ 240 w 480"/>
                <a:gd name="T17" fmla="*/ 681 h 681"/>
                <a:gd name="T18" fmla="*/ 240 w 480"/>
                <a:gd name="T19" fmla="*/ 681 h 681"/>
                <a:gd name="T20" fmla="*/ 226 w 480"/>
                <a:gd name="T21" fmla="*/ 28 h 681"/>
                <a:gd name="T22" fmla="*/ 80 w 480"/>
                <a:gd name="T23" fmla="*/ 96 h 681"/>
                <a:gd name="T24" fmla="*/ 39 w 480"/>
                <a:gd name="T25" fmla="*/ 264 h 681"/>
                <a:gd name="T26" fmla="*/ 39 w 480"/>
                <a:gd name="T27" fmla="*/ 265 h 681"/>
                <a:gd name="T28" fmla="*/ 228 w 480"/>
                <a:gd name="T29" fmla="*/ 650 h 681"/>
                <a:gd name="T30" fmla="*/ 240 w 480"/>
                <a:gd name="T31" fmla="*/ 657 h 681"/>
                <a:gd name="T32" fmla="*/ 240 w 480"/>
                <a:gd name="T33" fmla="*/ 657 h 681"/>
                <a:gd name="T34" fmla="*/ 252 w 480"/>
                <a:gd name="T35" fmla="*/ 650 h 681"/>
                <a:gd name="T36" fmla="*/ 441 w 480"/>
                <a:gd name="T37" fmla="*/ 265 h 681"/>
                <a:gd name="T38" fmla="*/ 441 w 480"/>
                <a:gd name="T39" fmla="*/ 264 h 681"/>
                <a:gd name="T40" fmla="*/ 401 w 480"/>
                <a:gd name="T41" fmla="*/ 96 h 681"/>
                <a:gd name="T42" fmla="*/ 241 w 480"/>
                <a:gd name="T43" fmla="*/ 29 h 681"/>
                <a:gd name="T44" fmla="*/ 240 w 480"/>
                <a:gd name="T45" fmla="*/ 29 h 681"/>
                <a:gd name="T46" fmla="*/ 239 w 480"/>
                <a:gd name="T47" fmla="*/ 29 h 681"/>
                <a:gd name="T48" fmla="*/ 226 w 480"/>
                <a:gd name="T49" fmla="*/ 28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0" h="681">
                  <a:moveTo>
                    <a:pt x="240" y="681"/>
                  </a:moveTo>
                  <a:cubicBezTo>
                    <a:pt x="227" y="681"/>
                    <a:pt x="214" y="674"/>
                    <a:pt x="208" y="663"/>
                  </a:cubicBezTo>
                  <a:cubicBezTo>
                    <a:pt x="156" y="580"/>
                    <a:pt x="35" y="376"/>
                    <a:pt x="16" y="270"/>
                  </a:cubicBezTo>
                  <a:cubicBezTo>
                    <a:pt x="0" y="203"/>
                    <a:pt x="17" y="132"/>
                    <a:pt x="61" y="80"/>
                  </a:cubicBezTo>
                  <a:cubicBezTo>
                    <a:pt x="105" y="28"/>
                    <a:pt x="172" y="0"/>
                    <a:pt x="240" y="5"/>
                  </a:cubicBezTo>
                  <a:cubicBezTo>
                    <a:pt x="308" y="0"/>
                    <a:pt x="375" y="28"/>
                    <a:pt x="419" y="80"/>
                  </a:cubicBezTo>
                  <a:cubicBezTo>
                    <a:pt x="464" y="132"/>
                    <a:pt x="480" y="203"/>
                    <a:pt x="465" y="270"/>
                  </a:cubicBezTo>
                  <a:cubicBezTo>
                    <a:pt x="449" y="362"/>
                    <a:pt x="325" y="575"/>
                    <a:pt x="272" y="663"/>
                  </a:cubicBezTo>
                  <a:cubicBezTo>
                    <a:pt x="266" y="674"/>
                    <a:pt x="253" y="681"/>
                    <a:pt x="240" y="681"/>
                  </a:cubicBezTo>
                  <a:cubicBezTo>
                    <a:pt x="240" y="681"/>
                    <a:pt x="240" y="681"/>
                    <a:pt x="240" y="681"/>
                  </a:cubicBezTo>
                  <a:close/>
                  <a:moveTo>
                    <a:pt x="226" y="28"/>
                  </a:moveTo>
                  <a:cubicBezTo>
                    <a:pt x="170" y="28"/>
                    <a:pt x="116" y="53"/>
                    <a:pt x="80" y="96"/>
                  </a:cubicBezTo>
                  <a:cubicBezTo>
                    <a:pt x="40" y="142"/>
                    <a:pt x="25" y="205"/>
                    <a:pt x="39" y="264"/>
                  </a:cubicBezTo>
                  <a:cubicBezTo>
                    <a:pt x="39" y="265"/>
                    <a:pt x="39" y="265"/>
                    <a:pt x="39" y="265"/>
                  </a:cubicBezTo>
                  <a:cubicBezTo>
                    <a:pt x="58" y="368"/>
                    <a:pt x="178" y="569"/>
                    <a:pt x="228" y="650"/>
                  </a:cubicBezTo>
                  <a:cubicBezTo>
                    <a:pt x="231" y="655"/>
                    <a:pt x="235" y="657"/>
                    <a:pt x="240" y="657"/>
                  </a:cubicBezTo>
                  <a:cubicBezTo>
                    <a:pt x="240" y="657"/>
                    <a:pt x="240" y="657"/>
                    <a:pt x="240" y="657"/>
                  </a:cubicBezTo>
                  <a:cubicBezTo>
                    <a:pt x="245" y="657"/>
                    <a:pt x="249" y="655"/>
                    <a:pt x="252" y="650"/>
                  </a:cubicBezTo>
                  <a:cubicBezTo>
                    <a:pt x="304" y="564"/>
                    <a:pt x="426" y="353"/>
                    <a:pt x="441" y="265"/>
                  </a:cubicBezTo>
                  <a:cubicBezTo>
                    <a:pt x="441" y="264"/>
                    <a:pt x="441" y="264"/>
                    <a:pt x="441" y="264"/>
                  </a:cubicBezTo>
                  <a:cubicBezTo>
                    <a:pt x="455" y="205"/>
                    <a:pt x="440" y="142"/>
                    <a:pt x="401" y="96"/>
                  </a:cubicBezTo>
                  <a:cubicBezTo>
                    <a:pt x="362" y="49"/>
                    <a:pt x="302" y="24"/>
                    <a:pt x="241" y="29"/>
                  </a:cubicBezTo>
                  <a:cubicBezTo>
                    <a:pt x="240" y="29"/>
                    <a:pt x="240" y="29"/>
                    <a:pt x="240" y="29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35" y="28"/>
                    <a:pt x="230" y="28"/>
                    <a:pt x="226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Freeform 58">
              <a:extLst>
                <a:ext uri="{FF2B5EF4-FFF2-40B4-BE49-F238E27FC236}">
                  <a16:creationId xmlns:a16="http://schemas.microsoft.com/office/drawing/2014/main" id="{24B7D4DC-48D6-DA57-09FB-9C12EC60CD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1650" y="3314700"/>
              <a:ext cx="171450" cy="165100"/>
            </a:xfrm>
            <a:custGeom>
              <a:avLst/>
              <a:gdLst>
                <a:gd name="T0" fmla="*/ 118 w 228"/>
                <a:gd name="T1" fmla="*/ 219 h 219"/>
                <a:gd name="T2" fmla="*/ 41 w 228"/>
                <a:gd name="T3" fmla="*/ 187 h 219"/>
                <a:gd name="T4" fmla="*/ 17 w 228"/>
                <a:gd name="T5" fmla="*/ 68 h 219"/>
                <a:gd name="T6" fmla="*/ 118 w 228"/>
                <a:gd name="T7" fmla="*/ 0 h 219"/>
                <a:gd name="T8" fmla="*/ 228 w 228"/>
                <a:gd name="T9" fmla="*/ 110 h 219"/>
                <a:gd name="T10" fmla="*/ 228 w 228"/>
                <a:gd name="T11" fmla="*/ 110 h 219"/>
                <a:gd name="T12" fmla="*/ 160 w 228"/>
                <a:gd name="T13" fmla="*/ 211 h 219"/>
                <a:gd name="T14" fmla="*/ 118 w 228"/>
                <a:gd name="T15" fmla="*/ 219 h 219"/>
                <a:gd name="T16" fmla="*/ 118 w 228"/>
                <a:gd name="T17" fmla="*/ 24 h 219"/>
                <a:gd name="T18" fmla="*/ 39 w 228"/>
                <a:gd name="T19" fmla="*/ 77 h 219"/>
                <a:gd name="T20" fmla="*/ 58 w 228"/>
                <a:gd name="T21" fmla="*/ 170 h 219"/>
                <a:gd name="T22" fmla="*/ 151 w 228"/>
                <a:gd name="T23" fmla="*/ 189 h 219"/>
                <a:gd name="T24" fmla="*/ 204 w 228"/>
                <a:gd name="T25" fmla="*/ 110 h 219"/>
                <a:gd name="T26" fmla="*/ 204 w 228"/>
                <a:gd name="T27" fmla="*/ 110 h 219"/>
                <a:gd name="T28" fmla="*/ 118 w 228"/>
                <a:gd name="T29" fmla="*/ 24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19">
                  <a:moveTo>
                    <a:pt x="118" y="219"/>
                  </a:moveTo>
                  <a:cubicBezTo>
                    <a:pt x="90" y="219"/>
                    <a:pt x="62" y="208"/>
                    <a:pt x="41" y="187"/>
                  </a:cubicBezTo>
                  <a:cubicBezTo>
                    <a:pt x="9" y="156"/>
                    <a:pt x="0" y="109"/>
                    <a:pt x="17" y="68"/>
                  </a:cubicBezTo>
                  <a:cubicBezTo>
                    <a:pt x="34" y="27"/>
                    <a:pt x="74" y="0"/>
                    <a:pt x="118" y="0"/>
                  </a:cubicBezTo>
                  <a:cubicBezTo>
                    <a:pt x="179" y="0"/>
                    <a:pt x="228" y="49"/>
                    <a:pt x="228" y="110"/>
                  </a:cubicBezTo>
                  <a:cubicBezTo>
                    <a:pt x="228" y="110"/>
                    <a:pt x="228" y="110"/>
                    <a:pt x="228" y="110"/>
                  </a:cubicBezTo>
                  <a:cubicBezTo>
                    <a:pt x="228" y="154"/>
                    <a:pt x="201" y="194"/>
                    <a:pt x="160" y="211"/>
                  </a:cubicBezTo>
                  <a:cubicBezTo>
                    <a:pt x="147" y="217"/>
                    <a:pt x="132" y="219"/>
                    <a:pt x="118" y="219"/>
                  </a:cubicBezTo>
                  <a:close/>
                  <a:moveTo>
                    <a:pt x="118" y="24"/>
                  </a:moveTo>
                  <a:cubicBezTo>
                    <a:pt x="84" y="24"/>
                    <a:pt x="53" y="45"/>
                    <a:pt x="39" y="77"/>
                  </a:cubicBezTo>
                  <a:cubicBezTo>
                    <a:pt x="26" y="109"/>
                    <a:pt x="33" y="146"/>
                    <a:pt x="58" y="170"/>
                  </a:cubicBezTo>
                  <a:cubicBezTo>
                    <a:pt x="82" y="195"/>
                    <a:pt x="119" y="202"/>
                    <a:pt x="151" y="189"/>
                  </a:cubicBezTo>
                  <a:cubicBezTo>
                    <a:pt x="183" y="175"/>
                    <a:pt x="204" y="144"/>
                    <a:pt x="204" y="110"/>
                  </a:cubicBezTo>
                  <a:cubicBezTo>
                    <a:pt x="204" y="110"/>
                    <a:pt x="204" y="110"/>
                    <a:pt x="204" y="110"/>
                  </a:cubicBezTo>
                  <a:cubicBezTo>
                    <a:pt x="204" y="63"/>
                    <a:pt x="165" y="24"/>
                    <a:pt x="118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Freeform 59">
              <a:extLst>
                <a:ext uri="{FF2B5EF4-FFF2-40B4-BE49-F238E27FC236}">
                  <a16:creationId xmlns:a16="http://schemas.microsoft.com/office/drawing/2014/main" id="{C861668D-8D11-8983-9976-15EE16566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913" y="3411538"/>
              <a:ext cx="471488" cy="312738"/>
            </a:xfrm>
            <a:custGeom>
              <a:avLst/>
              <a:gdLst>
                <a:gd name="T0" fmla="*/ 14 w 626"/>
                <a:gd name="T1" fmla="*/ 415 h 415"/>
                <a:gd name="T2" fmla="*/ 4 w 626"/>
                <a:gd name="T3" fmla="*/ 410 h 415"/>
                <a:gd name="T4" fmla="*/ 7 w 626"/>
                <a:gd name="T5" fmla="*/ 393 h 415"/>
                <a:gd name="T6" fmla="*/ 605 w 626"/>
                <a:gd name="T7" fmla="*/ 3 h 415"/>
                <a:gd name="T8" fmla="*/ 622 w 626"/>
                <a:gd name="T9" fmla="*/ 7 h 415"/>
                <a:gd name="T10" fmla="*/ 618 w 626"/>
                <a:gd name="T11" fmla="*/ 24 h 415"/>
                <a:gd name="T12" fmla="*/ 21 w 626"/>
                <a:gd name="T13" fmla="*/ 414 h 415"/>
                <a:gd name="T14" fmla="*/ 14 w 626"/>
                <a:gd name="T15" fmla="*/ 41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6" h="415">
                  <a:moveTo>
                    <a:pt x="14" y="415"/>
                  </a:moveTo>
                  <a:cubicBezTo>
                    <a:pt x="10" y="415"/>
                    <a:pt x="6" y="414"/>
                    <a:pt x="4" y="410"/>
                  </a:cubicBezTo>
                  <a:cubicBezTo>
                    <a:pt x="0" y="405"/>
                    <a:pt x="2" y="397"/>
                    <a:pt x="7" y="393"/>
                  </a:cubicBezTo>
                  <a:cubicBezTo>
                    <a:pt x="605" y="3"/>
                    <a:pt x="605" y="3"/>
                    <a:pt x="605" y="3"/>
                  </a:cubicBezTo>
                  <a:cubicBezTo>
                    <a:pt x="611" y="0"/>
                    <a:pt x="618" y="1"/>
                    <a:pt x="622" y="7"/>
                  </a:cubicBezTo>
                  <a:cubicBezTo>
                    <a:pt x="626" y="13"/>
                    <a:pt x="624" y="20"/>
                    <a:pt x="618" y="24"/>
                  </a:cubicBezTo>
                  <a:cubicBezTo>
                    <a:pt x="21" y="414"/>
                    <a:pt x="21" y="414"/>
                    <a:pt x="21" y="414"/>
                  </a:cubicBezTo>
                  <a:cubicBezTo>
                    <a:pt x="19" y="415"/>
                    <a:pt x="16" y="415"/>
                    <a:pt x="14" y="4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CDE57F75-9533-9908-C7AC-A431B57C2A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5BA518-B4C1-356E-C972-7B2E56FDD311}"/>
              </a:ext>
            </a:extLst>
          </p:cNvPr>
          <p:cNvSpPr txBox="1"/>
          <p:nvPr/>
        </p:nvSpPr>
        <p:spPr>
          <a:xfrm>
            <a:off x="677937" y="537965"/>
            <a:ext cx="7807173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dirty="0">
                <a:solidFill>
                  <a:srgbClr val="4E84C4"/>
                </a:solidFill>
                <a:effectLst/>
                <a:latin typeface="+mj-lt"/>
                <a:ea typeface="Times New Roman" panose="02020603050405020304" pitchFamily="18" charset="0"/>
                <a:cs typeface="Aptos" panose="020B0004020202020204" pitchFamily="34" charset="0"/>
              </a:rPr>
              <a:t>Session Management</a:t>
            </a:r>
            <a:endParaRPr lang="en-GB" sz="1600" dirty="0">
              <a:solidFill>
                <a:srgbClr val="4E84C4"/>
              </a:solidFill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Aptos" panose="020B0004020202020204" pitchFamily="34" charset="0"/>
              </a:rPr>
              <a:t> Session Recording: 100% of privileged sessions recorded</a:t>
            </a:r>
            <a:endParaRPr lang="en-GB" sz="1600" dirty="0"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Aptos" panose="020B0004020202020204" pitchFamily="34" charset="0"/>
              </a:rPr>
              <a:t>Real-time Monitoring: Active session surveillance</a:t>
            </a:r>
            <a:endParaRPr lang="en-GB" sz="1600" dirty="0"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Aptos" panose="020B0004020202020204" pitchFamily="34" charset="0"/>
              </a:rPr>
              <a:t>Session Timeout: Maximum 4-hour sessions</a:t>
            </a:r>
            <a:endParaRPr lang="en-GB" sz="1600" dirty="0">
              <a:latin typeface="+mj-lt"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Aptos" panose="020B0004020202020204" pitchFamily="34" charset="0"/>
              </a:rPr>
              <a:t>Multi-factor Authentication: Required for all privileged access</a:t>
            </a:r>
          </a:p>
          <a:p>
            <a:endParaRPr lang="en-GB" sz="1600" dirty="0">
              <a:solidFill>
                <a:srgbClr val="000000"/>
              </a:solidFill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  <a:p>
            <a:r>
              <a:rPr lang="en-US" sz="1600" dirty="0">
                <a:solidFill>
                  <a:srgbClr val="4E84C4"/>
                </a:solidFill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Change</a:t>
            </a:r>
            <a:r>
              <a:rPr lang="en-US" sz="1600" dirty="0"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600" dirty="0">
                <a:solidFill>
                  <a:srgbClr val="4E84C4"/>
                </a:solidFill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Change Request: Formal documentation 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I</a:t>
            </a:r>
            <a:r>
              <a:rPr lang="en-US" sz="1600" dirty="0"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mpact Assessment: Risk and business impact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Implementation: Controlled deployment with rollback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Validation: Post-change verification and testing</a:t>
            </a:r>
          </a:p>
          <a:p>
            <a:endParaRPr lang="en-US" sz="1600" dirty="0"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  <a:p>
            <a:r>
              <a:rPr lang="en-US" sz="1600" dirty="0">
                <a:solidFill>
                  <a:srgbClr val="4E84C4"/>
                </a:solidFill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Monitoring and Alerting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Failed authentication attempts (threshold: 5 failures/hour)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Unusual access patterns (off-hours, location anomalies)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Privileged account creation/modification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Password policy violations</a:t>
            </a:r>
          </a:p>
          <a:p>
            <a:pPr marL="171450" indent="-171450">
              <a:buFontTx/>
              <a:buChar char="-"/>
            </a:pPr>
            <a:endParaRPr lang="en-US" sz="1600" dirty="0"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71450" indent="-171450">
              <a:buFontTx/>
              <a:buChar char="-"/>
            </a:pPr>
            <a:endParaRPr lang="en-GB" sz="1600" dirty="0"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4" name="Title 27">
            <a:extLst>
              <a:ext uri="{FF2B5EF4-FFF2-40B4-BE49-F238E27FC236}">
                <a16:creationId xmlns:a16="http://schemas.microsoft.com/office/drawing/2014/main" id="{7DEB4303-F834-7F7F-67AE-9D39356485B6}"/>
              </a:ext>
            </a:extLst>
          </p:cNvPr>
          <p:cNvSpPr txBox="1">
            <a:spLocks/>
          </p:cNvSpPr>
          <p:nvPr/>
        </p:nvSpPr>
        <p:spPr>
          <a:xfrm>
            <a:off x="265289" y="169983"/>
            <a:ext cx="7886195" cy="5530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3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100" b="0" kern="0" baseline="0" dirty="0">
                <a:solidFill>
                  <a:srgbClr val="4E84C4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PAM Best Practices </a:t>
            </a:r>
          </a:p>
        </p:txBody>
      </p:sp>
      <p:pic>
        <p:nvPicPr>
          <p:cNvPr id="16386" name="Picture 2" descr="Best Practice&quot; Images – Browse 25,969 ...">
            <a:extLst>
              <a:ext uri="{FF2B5EF4-FFF2-40B4-BE49-F238E27FC236}">
                <a16:creationId xmlns:a16="http://schemas.microsoft.com/office/drawing/2014/main" id="{5EDEE522-CEE1-71BD-6C97-CE7EFACDA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7949" y="2843410"/>
            <a:ext cx="2590800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02266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41981-ADB3-9E15-345E-4F9850A4D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38EEF5C2-E74D-6F99-70C8-E2C2FAA22C8B}"/>
              </a:ext>
            </a:extLst>
          </p:cNvPr>
          <p:cNvGrpSpPr/>
          <p:nvPr/>
        </p:nvGrpSpPr>
        <p:grpSpPr>
          <a:xfrm>
            <a:off x="1646076" y="4029452"/>
            <a:ext cx="570912" cy="419326"/>
            <a:chOff x="6759575" y="3000375"/>
            <a:chExt cx="906463" cy="746125"/>
          </a:xfrm>
          <a:solidFill>
            <a:srgbClr val="F4F3F9"/>
          </a:solidFill>
        </p:grpSpPr>
        <p:sp>
          <p:nvSpPr>
            <p:cNvPr id="50" name="Freeform 55">
              <a:extLst>
                <a:ext uri="{FF2B5EF4-FFF2-40B4-BE49-F238E27FC236}">
                  <a16:creationId xmlns:a16="http://schemas.microsoft.com/office/drawing/2014/main" id="{B70D8701-A9D0-00AA-8522-5E55256D9D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1400" y="3000375"/>
              <a:ext cx="274638" cy="358775"/>
            </a:xfrm>
            <a:custGeom>
              <a:avLst/>
              <a:gdLst>
                <a:gd name="T0" fmla="*/ 182 w 364"/>
                <a:gd name="T1" fmla="*/ 476 h 476"/>
                <a:gd name="T2" fmla="*/ 152 w 364"/>
                <a:gd name="T3" fmla="*/ 462 h 476"/>
                <a:gd name="T4" fmla="*/ 0 w 364"/>
                <a:gd name="T5" fmla="*/ 182 h 476"/>
                <a:gd name="T6" fmla="*/ 53 w 364"/>
                <a:gd name="T7" fmla="*/ 53 h 476"/>
                <a:gd name="T8" fmla="*/ 182 w 364"/>
                <a:gd name="T9" fmla="*/ 0 h 476"/>
                <a:gd name="T10" fmla="*/ 182 w 364"/>
                <a:gd name="T11" fmla="*/ 0 h 476"/>
                <a:gd name="T12" fmla="*/ 364 w 364"/>
                <a:gd name="T13" fmla="*/ 182 h 476"/>
                <a:gd name="T14" fmla="*/ 212 w 364"/>
                <a:gd name="T15" fmla="*/ 462 h 476"/>
                <a:gd name="T16" fmla="*/ 182 w 364"/>
                <a:gd name="T17" fmla="*/ 476 h 476"/>
                <a:gd name="T18" fmla="*/ 182 w 364"/>
                <a:gd name="T19" fmla="*/ 24 h 476"/>
                <a:gd name="T20" fmla="*/ 70 w 364"/>
                <a:gd name="T21" fmla="*/ 70 h 476"/>
                <a:gd name="T22" fmla="*/ 24 w 364"/>
                <a:gd name="T23" fmla="*/ 182 h 476"/>
                <a:gd name="T24" fmla="*/ 171 w 364"/>
                <a:gd name="T25" fmla="*/ 447 h 476"/>
                <a:gd name="T26" fmla="*/ 182 w 364"/>
                <a:gd name="T27" fmla="*/ 452 h 476"/>
                <a:gd name="T28" fmla="*/ 193 w 364"/>
                <a:gd name="T29" fmla="*/ 447 h 476"/>
                <a:gd name="T30" fmla="*/ 340 w 364"/>
                <a:gd name="T31" fmla="*/ 182 h 476"/>
                <a:gd name="T32" fmla="*/ 182 w 364"/>
                <a:gd name="T33" fmla="*/ 24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4" h="476">
                  <a:moveTo>
                    <a:pt x="182" y="476"/>
                  </a:moveTo>
                  <a:cubicBezTo>
                    <a:pt x="170" y="476"/>
                    <a:pt x="159" y="471"/>
                    <a:pt x="152" y="462"/>
                  </a:cubicBezTo>
                  <a:cubicBezTo>
                    <a:pt x="95" y="389"/>
                    <a:pt x="0" y="257"/>
                    <a:pt x="0" y="182"/>
                  </a:cubicBezTo>
                  <a:cubicBezTo>
                    <a:pt x="0" y="133"/>
                    <a:pt x="19" y="87"/>
                    <a:pt x="53" y="53"/>
                  </a:cubicBezTo>
                  <a:cubicBezTo>
                    <a:pt x="87" y="19"/>
                    <a:pt x="133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282" y="0"/>
                    <a:pt x="364" y="81"/>
                    <a:pt x="364" y="182"/>
                  </a:cubicBezTo>
                  <a:cubicBezTo>
                    <a:pt x="364" y="257"/>
                    <a:pt x="269" y="389"/>
                    <a:pt x="212" y="462"/>
                  </a:cubicBezTo>
                  <a:cubicBezTo>
                    <a:pt x="205" y="471"/>
                    <a:pt x="194" y="476"/>
                    <a:pt x="182" y="476"/>
                  </a:cubicBezTo>
                  <a:close/>
                  <a:moveTo>
                    <a:pt x="182" y="24"/>
                  </a:moveTo>
                  <a:cubicBezTo>
                    <a:pt x="140" y="24"/>
                    <a:pt x="100" y="40"/>
                    <a:pt x="70" y="70"/>
                  </a:cubicBezTo>
                  <a:cubicBezTo>
                    <a:pt x="40" y="100"/>
                    <a:pt x="24" y="140"/>
                    <a:pt x="24" y="182"/>
                  </a:cubicBezTo>
                  <a:cubicBezTo>
                    <a:pt x="24" y="254"/>
                    <a:pt x="136" y="403"/>
                    <a:pt x="171" y="447"/>
                  </a:cubicBezTo>
                  <a:cubicBezTo>
                    <a:pt x="174" y="450"/>
                    <a:pt x="178" y="452"/>
                    <a:pt x="182" y="452"/>
                  </a:cubicBezTo>
                  <a:cubicBezTo>
                    <a:pt x="186" y="452"/>
                    <a:pt x="190" y="450"/>
                    <a:pt x="193" y="447"/>
                  </a:cubicBezTo>
                  <a:cubicBezTo>
                    <a:pt x="285" y="329"/>
                    <a:pt x="340" y="230"/>
                    <a:pt x="340" y="182"/>
                  </a:cubicBezTo>
                  <a:cubicBezTo>
                    <a:pt x="340" y="95"/>
                    <a:pt x="269" y="24"/>
                    <a:pt x="18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Freeform 56">
              <a:extLst>
                <a:ext uri="{FF2B5EF4-FFF2-40B4-BE49-F238E27FC236}">
                  <a16:creationId xmlns:a16="http://schemas.microsoft.com/office/drawing/2014/main" id="{C8A656EB-27DF-01CE-A2AA-ADAC26E186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0775" y="3079750"/>
              <a:ext cx="114300" cy="115888"/>
            </a:xfrm>
            <a:custGeom>
              <a:avLst/>
              <a:gdLst>
                <a:gd name="T0" fmla="*/ 76 w 152"/>
                <a:gd name="T1" fmla="*/ 152 h 152"/>
                <a:gd name="T2" fmla="*/ 0 w 152"/>
                <a:gd name="T3" fmla="*/ 76 h 152"/>
                <a:gd name="T4" fmla="*/ 76 w 152"/>
                <a:gd name="T5" fmla="*/ 0 h 152"/>
                <a:gd name="T6" fmla="*/ 76 w 152"/>
                <a:gd name="T7" fmla="*/ 0 h 152"/>
                <a:gd name="T8" fmla="*/ 130 w 152"/>
                <a:gd name="T9" fmla="*/ 22 h 152"/>
                <a:gd name="T10" fmla="*/ 152 w 152"/>
                <a:gd name="T11" fmla="*/ 76 h 152"/>
                <a:gd name="T12" fmla="*/ 152 w 152"/>
                <a:gd name="T13" fmla="*/ 76 h 152"/>
                <a:gd name="T14" fmla="*/ 76 w 152"/>
                <a:gd name="T15" fmla="*/ 152 h 152"/>
                <a:gd name="T16" fmla="*/ 76 w 152"/>
                <a:gd name="T17" fmla="*/ 24 h 152"/>
                <a:gd name="T18" fmla="*/ 76 w 152"/>
                <a:gd name="T19" fmla="*/ 24 h 152"/>
                <a:gd name="T20" fmla="*/ 24 w 152"/>
                <a:gd name="T21" fmla="*/ 76 h 152"/>
                <a:gd name="T22" fmla="*/ 76 w 152"/>
                <a:gd name="T23" fmla="*/ 128 h 152"/>
                <a:gd name="T24" fmla="*/ 128 w 152"/>
                <a:gd name="T25" fmla="*/ 76 h 152"/>
                <a:gd name="T26" fmla="*/ 128 w 152"/>
                <a:gd name="T27" fmla="*/ 76 h 152"/>
                <a:gd name="T28" fmla="*/ 113 w 152"/>
                <a:gd name="T29" fmla="*/ 39 h 152"/>
                <a:gd name="T30" fmla="*/ 76 w 152"/>
                <a:gd name="T31" fmla="*/ 2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2" h="152">
                  <a:moveTo>
                    <a:pt x="76" y="152"/>
                  </a:moveTo>
                  <a:cubicBezTo>
                    <a:pt x="34" y="152"/>
                    <a:pt x="0" y="118"/>
                    <a:pt x="0" y="76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6" y="0"/>
                    <a:pt x="115" y="8"/>
                    <a:pt x="130" y="22"/>
                  </a:cubicBezTo>
                  <a:cubicBezTo>
                    <a:pt x="144" y="37"/>
                    <a:pt x="152" y="56"/>
                    <a:pt x="152" y="76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118"/>
                    <a:pt x="118" y="152"/>
                    <a:pt x="76" y="152"/>
                  </a:cubicBezTo>
                  <a:close/>
                  <a:moveTo>
                    <a:pt x="76" y="24"/>
                  </a:moveTo>
                  <a:cubicBezTo>
                    <a:pt x="76" y="24"/>
                    <a:pt x="76" y="24"/>
                    <a:pt x="76" y="24"/>
                  </a:cubicBezTo>
                  <a:cubicBezTo>
                    <a:pt x="47" y="24"/>
                    <a:pt x="24" y="47"/>
                    <a:pt x="24" y="76"/>
                  </a:cubicBezTo>
                  <a:cubicBezTo>
                    <a:pt x="24" y="104"/>
                    <a:pt x="47" y="128"/>
                    <a:pt x="76" y="128"/>
                  </a:cubicBezTo>
                  <a:cubicBezTo>
                    <a:pt x="104" y="128"/>
                    <a:pt x="128" y="104"/>
                    <a:pt x="128" y="76"/>
                  </a:cubicBezTo>
                  <a:cubicBezTo>
                    <a:pt x="128" y="76"/>
                    <a:pt x="128" y="76"/>
                    <a:pt x="128" y="76"/>
                  </a:cubicBezTo>
                  <a:cubicBezTo>
                    <a:pt x="128" y="62"/>
                    <a:pt x="122" y="49"/>
                    <a:pt x="113" y="39"/>
                  </a:cubicBezTo>
                  <a:cubicBezTo>
                    <a:pt x="103" y="29"/>
                    <a:pt x="90" y="24"/>
                    <a:pt x="76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Freeform 57">
              <a:extLst>
                <a:ext uri="{FF2B5EF4-FFF2-40B4-BE49-F238E27FC236}">
                  <a16:creationId xmlns:a16="http://schemas.microsoft.com/office/drawing/2014/main" id="{8F350E3F-6E05-920B-AAF4-FADBF30E59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9575" y="3232150"/>
              <a:ext cx="361950" cy="514350"/>
            </a:xfrm>
            <a:custGeom>
              <a:avLst/>
              <a:gdLst>
                <a:gd name="T0" fmla="*/ 240 w 480"/>
                <a:gd name="T1" fmla="*/ 681 h 681"/>
                <a:gd name="T2" fmla="*/ 208 w 480"/>
                <a:gd name="T3" fmla="*/ 663 h 681"/>
                <a:gd name="T4" fmla="*/ 16 w 480"/>
                <a:gd name="T5" fmla="*/ 270 h 681"/>
                <a:gd name="T6" fmla="*/ 61 w 480"/>
                <a:gd name="T7" fmla="*/ 80 h 681"/>
                <a:gd name="T8" fmla="*/ 240 w 480"/>
                <a:gd name="T9" fmla="*/ 5 h 681"/>
                <a:gd name="T10" fmla="*/ 419 w 480"/>
                <a:gd name="T11" fmla="*/ 80 h 681"/>
                <a:gd name="T12" fmla="*/ 465 w 480"/>
                <a:gd name="T13" fmla="*/ 270 h 681"/>
                <a:gd name="T14" fmla="*/ 272 w 480"/>
                <a:gd name="T15" fmla="*/ 663 h 681"/>
                <a:gd name="T16" fmla="*/ 240 w 480"/>
                <a:gd name="T17" fmla="*/ 681 h 681"/>
                <a:gd name="T18" fmla="*/ 240 w 480"/>
                <a:gd name="T19" fmla="*/ 681 h 681"/>
                <a:gd name="T20" fmla="*/ 226 w 480"/>
                <a:gd name="T21" fmla="*/ 28 h 681"/>
                <a:gd name="T22" fmla="*/ 80 w 480"/>
                <a:gd name="T23" fmla="*/ 96 h 681"/>
                <a:gd name="T24" fmla="*/ 39 w 480"/>
                <a:gd name="T25" fmla="*/ 264 h 681"/>
                <a:gd name="T26" fmla="*/ 39 w 480"/>
                <a:gd name="T27" fmla="*/ 265 h 681"/>
                <a:gd name="T28" fmla="*/ 228 w 480"/>
                <a:gd name="T29" fmla="*/ 650 h 681"/>
                <a:gd name="T30" fmla="*/ 240 w 480"/>
                <a:gd name="T31" fmla="*/ 657 h 681"/>
                <a:gd name="T32" fmla="*/ 240 w 480"/>
                <a:gd name="T33" fmla="*/ 657 h 681"/>
                <a:gd name="T34" fmla="*/ 252 w 480"/>
                <a:gd name="T35" fmla="*/ 650 h 681"/>
                <a:gd name="T36" fmla="*/ 441 w 480"/>
                <a:gd name="T37" fmla="*/ 265 h 681"/>
                <a:gd name="T38" fmla="*/ 441 w 480"/>
                <a:gd name="T39" fmla="*/ 264 h 681"/>
                <a:gd name="T40" fmla="*/ 401 w 480"/>
                <a:gd name="T41" fmla="*/ 96 h 681"/>
                <a:gd name="T42" fmla="*/ 241 w 480"/>
                <a:gd name="T43" fmla="*/ 29 h 681"/>
                <a:gd name="T44" fmla="*/ 240 w 480"/>
                <a:gd name="T45" fmla="*/ 29 h 681"/>
                <a:gd name="T46" fmla="*/ 239 w 480"/>
                <a:gd name="T47" fmla="*/ 29 h 681"/>
                <a:gd name="T48" fmla="*/ 226 w 480"/>
                <a:gd name="T49" fmla="*/ 28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0" h="681">
                  <a:moveTo>
                    <a:pt x="240" y="681"/>
                  </a:moveTo>
                  <a:cubicBezTo>
                    <a:pt x="227" y="681"/>
                    <a:pt x="214" y="674"/>
                    <a:pt x="208" y="663"/>
                  </a:cubicBezTo>
                  <a:cubicBezTo>
                    <a:pt x="156" y="580"/>
                    <a:pt x="35" y="376"/>
                    <a:pt x="16" y="270"/>
                  </a:cubicBezTo>
                  <a:cubicBezTo>
                    <a:pt x="0" y="203"/>
                    <a:pt x="17" y="132"/>
                    <a:pt x="61" y="80"/>
                  </a:cubicBezTo>
                  <a:cubicBezTo>
                    <a:pt x="105" y="28"/>
                    <a:pt x="172" y="0"/>
                    <a:pt x="240" y="5"/>
                  </a:cubicBezTo>
                  <a:cubicBezTo>
                    <a:pt x="308" y="0"/>
                    <a:pt x="375" y="28"/>
                    <a:pt x="419" y="80"/>
                  </a:cubicBezTo>
                  <a:cubicBezTo>
                    <a:pt x="464" y="132"/>
                    <a:pt x="480" y="203"/>
                    <a:pt x="465" y="270"/>
                  </a:cubicBezTo>
                  <a:cubicBezTo>
                    <a:pt x="449" y="362"/>
                    <a:pt x="325" y="575"/>
                    <a:pt x="272" y="663"/>
                  </a:cubicBezTo>
                  <a:cubicBezTo>
                    <a:pt x="266" y="674"/>
                    <a:pt x="253" y="681"/>
                    <a:pt x="240" y="681"/>
                  </a:cubicBezTo>
                  <a:cubicBezTo>
                    <a:pt x="240" y="681"/>
                    <a:pt x="240" y="681"/>
                    <a:pt x="240" y="681"/>
                  </a:cubicBezTo>
                  <a:close/>
                  <a:moveTo>
                    <a:pt x="226" y="28"/>
                  </a:moveTo>
                  <a:cubicBezTo>
                    <a:pt x="170" y="28"/>
                    <a:pt x="116" y="53"/>
                    <a:pt x="80" y="96"/>
                  </a:cubicBezTo>
                  <a:cubicBezTo>
                    <a:pt x="40" y="142"/>
                    <a:pt x="25" y="205"/>
                    <a:pt x="39" y="264"/>
                  </a:cubicBezTo>
                  <a:cubicBezTo>
                    <a:pt x="39" y="265"/>
                    <a:pt x="39" y="265"/>
                    <a:pt x="39" y="265"/>
                  </a:cubicBezTo>
                  <a:cubicBezTo>
                    <a:pt x="58" y="368"/>
                    <a:pt x="178" y="569"/>
                    <a:pt x="228" y="650"/>
                  </a:cubicBezTo>
                  <a:cubicBezTo>
                    <a:pt x="231" y="655"/>
                    <a:pt x="235" y="657"/>
                    <a:pt x="240" y="657"/>
                  </a:cubicBezTo>
                  <a:cubicBezTo>
                    <a:pt x="240" y="657"/>
                    <a:pt x="240" y="657"/>
                    <a:pt x="240" y="657"/>
                  </a:cubicBezTo>
                  <a:cubicBezTo>
                    <a:pt x="245" y="657"/>
                    <a:pt x="249" y="655"/>
                    <a:pt x="252" y="650"/>
                  </a:cubicBezTo>
                  <a:cubicBezTo>
                    <a:pt x="304" y="564"/>
                    <a:pt x="426" y="353"/>
                    <a:pt x="441" y="265"/>
                  </a:cubicBezTo>
                  <a:cubicBezTo>
                    <a:pt x="441" y="264"/>
                    <a:pt x="441" y="264"/>
                    <a:pt x="441" y="264"/>
                  </a:cubicBezTo>
                  <a:cubicBezTo>
                    <a:pt x="455" y="205"/>
                    <a:pt x="440" y="142"/>
                    <a:pt x="401" y="96"/>
                  </a:cubicBezTo>
                  <a:cubicBezTo>
                    <a:pt x="362" y="49"/>
                    <a:pt x="302" y="24"/>
                    <a:pt x="241" y="29"/>
                  </a:cubicBezTo>
                  <a:cubicBezTo>
                    <a:pt x="240" y="29"/>
                    <a:pt x="240" y="29"/>
                    <a:pt x="240" y="29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35" y="28"/>
                    <a:pt x="230" y="28"/>
                    <a:pt x="226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Freeform 58">
              <a:extLst>
                <a:ext uri="{FF2B5EF4-FFF2-40B4-BE49-F238E27FC236}">
                  <a16:creationId xmlns:a16="http://schemas.microsoft.com/office/drawing/2014/main" id="{E4E7BC98-BDFD-7831-D257-EF82C1C415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1650" y="3314700"/>
              <a:ext cx="171450" cy="165100"/>
            </a:xfrm>
            <a:custGeom>
              <a:avLst/>
              <a:gdLst>
                <a:gd name="T0" fmla="*/ 118 w 228"/>
                <a:gd name="T1" fmla="*/ 219 h 219"/>
                <a:gd name="T2" fmla="*/ 41 w 228"/>
                <a:gd name="T3" fmla="*/ 187 h 219"/>
                <a:gd name="T4" fmla="*/ 17 w 228"/>
                <a:gd name="T5" fmla="*/ 68 h 219"/>
                <a:gd name="T6" fmla="*/ 118 w 228"/>
                <a:gd name="T7" fmla="*/ 0 h 219"/>
                <a:gd name="T8" fmla="*/ 228 w 228"/>
                <a:gd name="T9" fmla="*/ 110 h 219"/>
                <a:gd name="T10" fmla="*/ 228 w 228"/>
                <a:gd name="T11" fmla="*/ 110 h 219"/>
                <a:gd name="T12" fmla="*/ 160 w 228"/>
                <a:gd name="T13" fmla="*/ 211 h 219"/>
                <a:gd name="T14" fmla="*/ 118 w 228"/>
                <a:gd name="T15" fmla="*/ 219 h 219"/>
                <a:gd name="T16" fmla="*/ 118 w 228"/>
                <a:gd name="T17" fmla="*/ 24 h 219"/>
                <a:gd name="T18" fmla="*/ 39 w 228"/>
                <a:gd name="T19" fmla="*/ 77 h 219"/>
                <a:gd name="T20" fmla="*/ 58 w 228"/>
                <a:gd name="T21" fmla="*/ 170 h 219"/>
                <a:gd name="T22" fmla="*/ 151 w 228"/>
                <a:gd name="T23" fmla="*/ 189 h 219"/>
                <a:gd name="T24" fmla="*/ 204 w 228"/>
                <a:gd name="T25" fmla="*/ 110 h 219"/>
                <a:gd name="T26" fmla="*/ 204 w 228"/>
                <a:gd name="T27" fmla="*/ 110 h 219"/>
                <a:gd name="T28" fmla="*/ 118 w 228"/>
                <a:gd name="T29" fmla="*/ 24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19">
                  <a:moveTo>
                    <a:pt x="118" y="219"/>
                  </a:moveTo>
                  <a:cubicBezTo>
                    <a:pt x="90" y="219"/>
                    <a:pt x="62" y="208"/>
                    <a:pt x="41" y="187"/>
                  </a:cubicBezTo>
                  <a:cubicBezTo>
                    <a:pt x="9" y="156"/>
                    <a:pt x="0" y="109"/>
                    <a:pt x="17" y="68"/>
                  </a:cubicBezTo>
                  <a:cubicBezTo>
                    <a:pt x="34" y="27"/>
                    <a:pt x="74" y="0"/>
                    <a:pt x="118" y="0"/>
                  </a:cubicBezTo>
                  <a:cubicBezTo>
                    <a:pt x="179" y="0"/>
                    <a:pt x="228" y="49"/>
                    <a:pt x="228" y="110"/>
                  </a:cubicBezTo>
                  <a:cubicBezTo>
                    <a:pt x="228" y="110"/>
                    <a:pt x="228" y="110"/>
                    <a:pt x="228" y="110"/>
                  </a:cubicBezTo>
                  <a:cubicBezTo>
                    <a:pt x="228" y="154"/>
                    <a:pt x="201" y="194"/>
                    <a:pt x="160" y="211"/>
                  </a:cubicBezTo>
                  <a:cubicBezTo>
                    <a:pt x="147" y="217"/>
                    <a:pt x="132" y="219"/>
                    <a:pt x="118" y="219"/>
                  </a:cubicBezTo>
                  <a:close/>
                  <a:moveTo>
                    <a:pt x="118" y="24"/>
                  </a:moveTo>
                  <a:cubicBezTo>
                    <a:pt x="84" y="24"/>
                    <a:pt x="53" y="45"/>
                    <a:pt x="39" y="77"/>
                  </a:cubicBezTo>
                  <a:cubicBezTo>
                    <a:pt x="26" y="109"/>
                    <a:pt x="33" y="146"/>
                    <a:pt x="58" y="170"/>
                  </a:cubicBezTo>
                  <a:cubicBezTo>
                    <a:pt x="82" y="195"/>
                    <a:pt x="119" y="202"/>
                    <a:pt x="151" y="189"/>
                  </a:cubicBezTo>
                  <a:cubicBezTo>
                    <a:pt x="183" y="175"/>
                    <a:pt x="204" y="144"/>
                    <a:pt x="204" y="110"/>
                  </a:cubicBezTo>
                  <a:cubicBezTo>
                    <a:pt x="204" y="110"/>
                    <a:pt x="204" y="110"/>
                    <a:pt x="204" y="110"/>
                  </a:cubicBezTo>
                  <a:cubicBezTo>
                    <a:pt x="204" y="63"/>
                    <a:pt x="165" y="24"/>
                    <a:pt x="118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Freeform 59">
              <a:extLst>
                <a:ext uri="{FF2B5EF4-FFF2-40B4-BE49-F238E27FC236}">
                  <a16:creationId xmlns:a16="http://schemas.microsoft.com/office/drawing/2014/main" id="{C4EFDADE-05AE-3E7B-CFBF-FCCE7489EC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913" y="3411538"/>
              <a:ext cx="471488" cy="312738"/>
            </a:xfrm>
            <a:custGeom>
              <a:avLst/>
              <a:gdLst>
                <a:gd name="T0" fmla="*/ 14 w 626"/>
                <a:gd name="T1" fmla="*/ 415 h 415"/>
                <a:gd name="T2" fmla="*/ 4 w 626"/>
                <a:gd name="T3" fmla="*/ 410 h 415"/>
                <a:gd name="T4" fmla="*/ 7 w 626"/>
                <a:gd name="T5" fmla="*/ 393 h 415"/>
                <a:gd name="T6" fmla="*/ 605 w 626"/>
                <a:gd name="T7" fmla="*/ 3 h 415"/>
                <a:gd name="T8" fmla="*/ 622 w 626"/>
                <a:gd name="T9" fmla="*/ 7 h 415"/>
                <a:gd name="T10" fmla="*/ 618 w 626"/>
                <a:gd name="T11" fmla="*/ 24 h 415"/>
                <a:gd name="T12" fmla="*/ 21 w 626"/>
                <a:gd name="T13" fmla="*/ 414 h 415"/>
                <a:gd name="T14" fmla="*/ 14 w 626"/>
                <a:gd name="T15" fmla="*/ 41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6" h="415">
                  <a:moveTo>
                    <a:pt x="14" y="415"/>
                  </a:moveTo>
                  <a:cubicBezTo>
                    <a:pt x="10" y="415"/>
                    <a:pt x="6" y="414"/>
                    <a:pt x="4" y="410"/>
                  </a:cubicBezTo>
                  <a:cubicBezTo>
                    <a:pt x="0" y="405"/>
                    <a:pt x="2" y="397"/>
                    <a:pt x="7" y="393"/>
                  </a:cubicBezTo>
                  <a:cubicBezTo>
                    <a:pt x="605" y="3"/>
                    <a:pt x="605" y="3"/>
                    <a:pt x="605" y="3"/>
                  </a:cubicBezTo>
                  <a:cubicBezTo>
                    <a:pt x="611" y="0"/>
                    <a:pt x="618" y="1"/>
                    <a:pt x="622" y="7"/>
                  </a:cubicBezTo>
                  <a:cubicBezTo>
                    <a:pt x="626" y="13"/>
                    <a:pt x="624" y="20"/>
                    <a:pt x="618" y="24"/>
                  </a:cubicBezTo>
                  <a:cubicBezTo>
                    <a:pt x="21" y="414"/>
                    <a:pt x="21" y="414"/>
                    <a:pt x="21" y="414"/>
                  </a:cubicBezTo>
                  <a:cubicBezTo>
                    <a:pt x="19" y="415"/>
                    <a:pt x="16" y="415"/>
                    <a:pt x="14" y="4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8" name="Title 27">
            <a:extLst>
              <a:ext uri="{FF2B5EF4-FFF2-40B4-BE49-F238E27FC236}">
                <a16:creationId xmlns:a16="http://schemas.microsoft.com/office/drawing/2014/main" id="{F6614840-3E3D-5995-408F-58A8D6FEB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CyberArk PAM Certification Path</a:t>
            </a:r>
          </a:p>
        </p:txBody>
      </p:sp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4CB937AF-C62B-43F8-545D-D77939BB04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9204DA-A369-9572-BB63-914F81E6A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95" y="1445539"/>
            <a:ext cx="2513160" cy="20521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1C4D59-F9C1-AE39-2C84-68EBEDFF8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3321" y="1438551"/>
            <a:ext cx="2513160" cy="20521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DD739F-E647-2696-9C5E-10FBEB89F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027" y="1445539"/>
            <a:ext cx="2513160" cy="2045134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D848EB6E-5369-A411-60C4-9B7833456597}"/>
              </a:ext>
            </a:extLst>
          </p:cNvPr>
          <p:cNvSpPr/>
          <p:nvPr/>
        </p:nvSpPr>
        <p:spPr>
          <a:xfrm>
            <a:off x="2822222" y="2571750"/>
            <a:ext cx="361245" cy="295628"/>
          </a:xfrm>
          <a:prstGeom prst="righ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0168302-203A-A1EF-EAD6-7A35602BAA03}"/>
              </a:ext>
            </a:extLst>
          </p:cNvPr>
          <p:cNvSpPr/>
          <p:nvPr/>
        </p:nvSpPr>
        <p:spPr>
          <a:xfrm>
            <a:off x="5999631" y="2569855"/>
            <a:ext cx="361245" cy="295628"/>
          </a:xfrm>
          <a:prstGeom prst="righ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11375414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119F2-A618-2682-EA40-DF808BD1A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80E38504-1A6C-C185-3B03-AE9C5751FF5D}"/>
              </a:ext>
            </a:extLst>
          </p:cNvPr>
          <p:cNvGrpSpPr/>
          <p:nvPr/>
        </p:nvGrpSpPr>
        <p:grpSpPr>
          <a:xfrm>
            <a:off x="1646076" y="4029452"/>
            <a:ext cx="570912" cy="419326"/>
            <a:chOff x="6759575" y="3000375"/>
            <a:chExt cx="906463" cy="746125"/>
          </a:xfrm>
          <a:solidFill>
            <a:srgbClr val="F4F3F9"/>
          </a:solidFill>
        </p:grpSpPr>
        <p:sp>
          <p:nvSpPr>
            <p:cNvPr id="50" name="Freeform 55">
              <a:extLst>
                <a:ext uri="{FF2B5EF4-FFF2-40B4-BE49-F238E27FC236}">
                  <a16:creationId xmlns:a16="http://schemas.microsoft.com/office/drawing/2014/main" id="{22B8A24E-F750-12E0-3CAE-3ED6997945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1400" y="3000375"/>
              <a:ext cx="274638" cy="358775"/>
            </a:xfrm>
            <a:custGeom>
              <a:avLst/>
              <a:gdLst>
                <a:gd name="T0" fmla="*/ 182 w 364"/>
                <a:gd name="T1" fmla="*/ 476 h 476"/>
                <a:gd name="T2" fmla="*/ 152 w 364"/>
                <a:gd name="T3" fmla="*/ 462 h 476"/>
                <a:gd name="T4" fmla="*/ 0 w 364"/>
                <a:gd name="T5" fmla="*/ 182 h 476"/>
                <a:gd name="T6" fmla="*/ 53 w 364"/>
                <a:gd name="T7" fmla="*/ 53 h 476"/>
                <a:gd name="T8" fmla="*/ 182 w 364"/>
                <a:gd name="T9" fmla="*/ 0 h 476"/>
                <a:gd name="T10" fmla="*/ 182 w 364"/>
                <a:gd name="T11" fmla="*/ 0 h 476"/>
                <a:gd name="T12" fmla="*/ 364 w 364"/>
                <a:gd name="T13" fmla="*/ 182 h 476"/>
                <a:gd name="T14" fmla="*/ 212 w 364"/>
                <a:gd name="T15" fmla="*/ 462 h 476"/>
                <a:gd name="T16" fmla="*/ 182 w 364"/>
                <a:gd name="T17" fmla="*/ 476 h 476"/>
                <a:gd name="T18" fmla="*/ 182 w 364"/>
                <a:gd name="T19" fmla="*/ 24 h 476"/>
                <a:gd name="T20" fmla="*/ 70 w 364"/>
                <a:gd name="T21" fmla="*/ 70 h 476"/>
                <a:gd name="T22" fmla="*/ 24 w 364"/>
                <a:gd name="T23" fmla="*/ 182 h 476"/>
                <a:gd name="T24" fmla="*/ 171 w 364"/>
                <a:gd name="T25" fmla="*/ 447 h 476"/>
                <a:gd name="T26" fmla="*/ 182 w 364"/>
                <a:gd name="T27" fmla="*/ 452 h 476"/>
                <a:gd name="T28" fmla="*/ 193 w 364"/>
                <a:gd name="T29" fmla="*/ 447 h 476"/>
                <a:gd name="T30" fmla="*/ 340 w 364"/>
                <a:gd name="T31" fmla="*/ 182 h 476"/>
                <a:gd name="T32" fmla="*/ 182 w 364"/>
                <a:gd name="T33" fmla="*/ 24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4" h="476">
                  <a:moveTo>
                    <a:pt x="182" y="476"/>
                  </a:moveTo>
                  <a:cubicBezTo>
                    <a:pt x="170" y="476"/>
                    <a:pt x="159" y="471"/>
                    <a:pt x="152" y="462"/>
                  </a:cubicBezTo>
                  <a:cubicBezTo>
                    <a:pt x="95" y="389"/>
                    <a:pt x="0" y="257"/>
                    <a:pt x="0" y="182"/>
                  </a:cubicBezTo>
                  <a:cubicBezTo>
                    <a:pt x="0" y="133"/>
                    <a:pt x="19" y="87"/>
                    <a:pt x="53" y="53"/>
                  </a:cubicBezTo>
                  <a:cubicBezTo>
                    <a:pt x="87" y="19"/>
                    <a:pt x="133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282" y="0"/>
                    <a:pt x="364" y="81"/>
                    <a:pt x="364" y="182"/>
                  </a:cubicBezTo>
                  <a:cubicBezTo>
                    <a:pt x="364" y="257"/>
                    <a:pt x="269" y="389"/>
                    <a:pt x="212" y="462"/>
                  </a:cubicBezTo>
                  <a:cubicBezTo>
                    <a:pt x="205" y="471"/>
                    <a:pt x="194" y="476"/>
                    <a:pt x="182" y="476"/>
                  </a:cubicBezTo>
                  <a:close/>
                  <a:moveTo>
                    <a:pt x="182" y="24"/>
                  </a:moveTo>
                  <a:cubicBezTo>
                    <a:pt x="140" y="24"/>
                    <a:pt x="100" y="40"/>
                    <a:pt x="70" y="70"/>
                  </a:cubicBezTo>
                  <a:cubicBezTo>
                    <a:pt x="40" y="100"/>
                    <a:pt x="24" y="140"/>
                    <a:pt x="24" y="182"/>
                  </a:cubicBezTo>
                  <a:cubicBezTo>
                    <a:pt x="24" y="254"/>
                    <a:pt x="136" y="403"/>
                    <a:pt x="171" y="447"/>
                  </a:cubicBezTo>
                  <a:cubicBezTo>
                    <a:pt x="174" y="450"/>
                    <a:pt x="178" y="452"/>
                    <a:pt x="182" y="452"/>
                  </a:cubicBezTo>
                  <a:cubicBezTo>
                    <a:pt x="186" y="452"/>
                    <a:pt x="190" y="450"/>
                    <a:pt x="193" y="447"/>
                  </a:cubicBezTo>
                  <a:cubicBezTo>
                    <a:pt x="285" y="329"/>
                    <a:pt x="340" y="230"/>
                    <a:pt x="340" y="182"/>
                  </a:cubicBezTo>
                  <a:cubicBezTo>
                    <a:pt x="340" y="95"/>
                    <a:pt x="269" y="24"/>
                    <a:pt x="18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Freeform 56">
              <a:extLst>
                <a:ext uri="{FF2B5EF4-FFF2-40B4-BE49-F238E27FC236}">
                  <a16:creationId xmlns:a16="http://schemas.microsoft.com/office/drawing/2014/main" id="{022E24B4-3D11-F421-04FE-704E37D7FF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0775" y="3079750"/>
              <a:ext cx="114300" cy="115888"/>
            </a:xfrm>
            <a:custGeom>
              <a:avLst/>
              <a:gdLst>
                <a:gd name="T0" fmla="*/ 76 w 152"/>
                <a:gd name="T1" fmla="*/ 152 h 152"/>
                <a:gd name="T2" fmla="*/ 0 w 152"/>
                <a:gd name="T3" fmla="*/ 76 h 152"/>
                <a:gd name="T4" fmla="*/ 76 w 152"/>
                <a:gd name="T5" fmla="*/ 0 h 152"/>
                <a:gd name="T6" fmla="*/ 76 w 152"/>
                <a:gd name="T7" fmla="*/ 0 h 152"/>
                <a:gd name="T8" fmla="*/ 130 w 152"/>
                <a:gd name="T9" fmla="*/ 22 h 152"/>
                <a:gd name="T10" fmla="*/ 152 w 152"/>
                <a:gd name="T11" fmla="*/ 76 h 152"/>
                <a:gd name="T12" fmla="*/ 152 w 152"/>
                <a:gd name="T13" fmla="*/ 76 h 152"/>
                <a:gd name="T14" fmla="*/ 76 w 152"/>
                <a:gd name="T15" fmla="*/ 152 h 152"/>
                <a:gd name="T16" fmla="*/ 76 w 152"/>
                <a:gd name="T17" fmla="*/ 24 h 152"/>
                <a:gd name="T18" fmla="*/ 76 w 152"/>
                <a:gd name="T19" fmla="*/ 24 h 152"/>
                <a:gd name="T20" fmla="*/ 24 w 152"/>
                <a:gd name="T21" fmla="*/ 76 h 152"/>
                <a:gd name="T22" fmla="*/ 76 w 152"/>
                <a:gd name="T23" fmla="*/ 128 h 152"/>
                <a:gd name="T24" fmla="*/ 128 w 152"/>
                <a:gd name="T25" fmla="*/ 76 h 152"/>
                <a:gd name="T26" fmla="*/ 128 w 152"/>
                <a:gd name="T27" fmla="*/ 76 h 152"/>
                <a:gd name="T28" fmla="*/ 113 w 152"/>
                <a:gd name="T29" fmla="*/ 39 h 152"/>
                <a:gd name="T30" fmla="*/ 76 w 152"/>
                <a:gd name="T31" fmla="*/ 2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2" h="152">
                  <a:moveTo>
                    <a:pt x="76" y="152"/>
                  </a:moveTo>
                  <a:cubicBezTo>
                    <a:pt x="34" y="152"/>
                    <a:pt x="0" y="118"/>
                    <a:pt x="0" y="76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6" y="0"/>
                    <a:pt x="115" y="8"/>
                    <a:pt x="130" y="22"/>
                  </a:cubicBezTo>
                  <a:cubicBezTo>
                    <a:pt x="144" y="37"/>
                    <a:pt x="152" y="56"/>
                    <a:pt x="152" y="76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118"/>
                    <a:pt x="118" y="152"/>
                    <a:pt x="76" y="152"/>
                  </a:cubicBezTo>
                  <a:close/>
                  <a:moveTo>
                    <a:pt x="76" y="24"/>
                  </a:moveTo>
                  <a:cubicBezTo>
                    <a:pt x="76" y="24"/>
                    <a:pt x="76" y="24"/>
                    <a:pt x="76" y="24"/>
                  </a:cubicBezTo>
                  <a:cubicBezTo>
                    <a:pt x="47" y="24"/>
                    <a:pt x="24" y="47"/>
                    <a:pt x="24" y="76"/>
                  </a:cubicBezTo>
                  <a:cubicBezTo>
                    <a:pt x="24" y="104"/>
                    <a:pt x="47" y="128"/>
                    <a:pt x="76" y="128"/>
                  </a:cubicBezTo>
                  <a:cubicBezTo>
                    <a:pt x="104" y="128"/>
                    <a:pt x="128" y="104"/>
                    <a:pt x="128" y="76"/>
                  </a:cubicBezTo>
                  <a:cubicBezTo>
                    <a:pt x="128" y="76"/>
                    <a:pt x="128" y="76"/>
                    <a:pt x="128" y="76"/>
                  </a:cubicBezTo>
                  <a:cubicBezTo>
                    <a:pt x="128" y="62"/>
                    <a:pt x="122" y="49"/>
                    <a:pt x="113" y="39"/>
                  </a:cubicBezTo>
                  <a:cubicBezTo>
                    <a:pt x="103" y="29"/>
                    <a:pt x="90" y="24"/>
                    <a:pt x="76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Freeform 57">
              <a:extLst>
                <a:ext uri="{FF2B5EF4-FFF2-40B4-BE49-F238E27FC236}">
                  <a16:creationId xmlns:a16="http://schemas.microsoft.com/office/drawing/2014/main" id="{D74F29D5-1E46-C91C-DB01-0957973774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9575" y="3232150"/>
              <a:ext cx="361950" cy="514350"/>
            </a:xfrm>
            <a:custGeom>
              <a:avLst/>
              <a:gdLst>
                <a:gd name="T0" fmla="*/ 240 w 480"/>
                <a:gd name="T1" fmla="*/ 681 h 681"/>
                <a:gd name="T2" fmla="*/ 208 w 480"/>
                <a:gd name="T3" fmla="*/ 663 h 681"/>
                <a:gd name="T4" fmla="*/ 16 w 480"/>
                <a:gd name="T5" fmla="*/ 270 h 681"/>
                <a:gd name="T6" fmla="*/ 61 w 480"/>
                <a:gd name="T7" fmla="*/ 80 h 681"/>
                <a:gd name="T8" fmla="*/ 240 w 480"/>
                <a:gd name="T9" fmla="*/ 5 h 681"/>
                <a:gd name="T10" fmla="*/ 419 w 480"/>
                <a:gd name="T11" fmla="*/ 80 h 681"/>
                <a:gd name="T12" fmla="*/ 465 w 480"/>
                <a:gd name="T13" fmla="*/ 270 h 681"/>
                <a:gd name="T14" fmla="*/ 272 w 480"/>
                <a:gd name="T15" fmla="*/ 663 h 681"/>
                <a:gd name="T16" fmla="*/ 240 w 480"/>
                <a:gd name="T17" fmla="*/ 681 h 681"/>
                <a:gd name="T18" fmla="*/ 240 w 480"/>
                <a:gd name="T19" fmla="*/ 681 h 681"/>
                <a:gd name="T20" fmla="*/ 226 w 480"/>
                <a:gd name="T21" fmla="*/ 28 h 681"/>
                <a:gd name="T22" fmla="*/ 80 w 480"/>
                <a:gd name="T23" fmla="*/ 96 h 681"/>
                <a:gd name="T24" fmla="*/ 39 w 480"/>
                <a:gd name="T25" fmla="*/ 264 h 681"/>
                <a:gd name="T26" fmla="*/ 39 w 480"/>
                <a:gd name="T27" fmla="*/ 265 h 681"/>
                <a:gd name="T28" fmla="*/ 228 w 480"/>
                <a:gd name="T29" fmla="*/ 650 h 681"/>
                <a:gd name="T30" fmla="*/ 240 w 480"/>
                <a:gd name="T31" fmla="*/ 657 h 681"/>
                <a:gd name="T32" fmla="*/ 240 w 480"/>
                <a:gd name="T33" fmla="*/ 657 h 681"/>
                <a:gd name="T34" fmla="*/ 252 w 480"/>
                <a:gd name="T35" fmla="*/ 650 h 681"/>
                <a:gd name="T36" fmla="*/ 441 w 480"/>
                <a:gd name="T37" fmla="*/ 265 h 681"/>
                <a:gd name="T38" fmla="*/ 441 w 480"/>
                <a:gd name="T39" fmla="*/ 264 h 681"/>
                <a:gd name="T40" fmla="*/ 401 w 480"/>
                <a:gd name="T41" fmla="*/ 96 h 681"/>
                <a:gd name="T42" fmla="*/ 241 w 480"/>
                <a:gd name="T43" fmla="*/ 29 h 681"/>
                <a:gd name="T44" fmla="*/ 240 w 480"/>
                <a:gd name="T45" fmla="*/ 29 h 681"/>
                <a:gd name="T46" fmla="*/ 239 w 480"/>
                <a:gd name="T47" fmla="*/ 29 h 681"/>
                <a:gd name="T48" fmla="*/ 226 w 480"/>
                <a:gd name="T49" fmla="*/ 28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0" h="681">
                  <a:moveTo>
                    <a:pt x="240" y="681"/>
                  </a:moveTo>
                  <a:cubicBezTo>
                    <a:pt x="227" y="681"/>
                    <a:pt x="214" y="674"/>
                    <a:pt x="208" y="663"/>
                  </a:cubicBezTo>
                  <a:cubicBezTo>
                    <a:pt x="156" y="580"/>
                    <a:pt x="35" y="376"/>
                    <a:pt x="16" y="270"/>
                  </a:cubicBezTo>
                  <a:cubicBezTo>
                    <a:pt x="0" y="203"/>
                    <a:pt x="17" y="132"/>
                    <a:pt x="61" y="80"/>
                  </a:cubicBezTo>
                  <a:cubicBezTo>
                    <a:pt x="105" y="28"/>
                    <a:pt x="172" y="0"/>
                    <a:pt x="240" y="5"/>
                  </a:cubicBezTo>
                  <a:cubicBezTo>
                    <a:pt x="308" y="0"/>
                    <a:pt x="375" y="28"/>
                    <a:pt x="419" y="80"/>
                  </a:cubicBezTo>
                  <a:cubicBezTo>
                    <a:pt x="464" y="132"/>
                    <a:pt x="480" y="203"/>
                    <a:pt x="465" y="270"/>
                  </a:cubicBezTo>
                  <a:cubicBezTo>
                    <a:pt x="449" y="362"/>
                    <a:pt x="325" y="575"/>
                    <a:pt x="272" y="663"/>
                  </a:cubicBezTo>
                  <a:cubicBezTo>
                    <a:pt x="266" y="674"/>
                    <a:pt x="253" y="681"/>
                    <a:pt x="240" y="681"/>
                  </a:cubicBezTo>
                  <a:cubicBezTo>
                    <a:pt x="240" y="681"/>
                    <a:pt x="240" y="681"/>
                    <a:pt x="240" y="681"/>
                  </a:cubicBezTo>
                  <a:close/>
                  <a:moveTo>
                    <a:pt x="226" y="28"/>
                  </a:moveTo>
                  <a:cubicBezTo>
                    <a:pt x="170" y="28"/>
                    <a:pt x="116" y="53"/>
                    <a:pt x="80" y="96"/>
                  </a:cubicBezTo>
                  <a:cubicBezTo>
                    <a:pt x="40" y="142"/>
                    <a:pt x="25" y="205"/>
                    <a:pt x="39" y="264"/>
                  </a:cubicBezTo>
                  <a:cubicBezTo>
                    <a:pt x="39" y="265"/>
                    <a:pt x="39" y="265"/>
                    <a:pt x="39" y="265"/>
                  </a:cubicBezTo>
                  <a:cubicBezTo>
                    <a:pt x="58" y="368"/>
                    <a:pt x="178" y="569"/>
                    <a:pt x="228" y="650"/>
                  </a:cubicBezTo>
                  <a:cubicBezTo>
                    <a:pt x="231" y="655"/>
                    <a:pt x="235" y="657"/>
                    <a:pt x="240" y="657"/>
                  </a:cubicBezTo>
                  <a:cubicBezTo>
                    <a:pt x="240" y="657"/>
                    <a:pt x="240" y="657"/>
                    <a:pt x="240" y="657"/>
                  </a:cubicBezTo>
                  <a:cubicBezTo>
                    <a:pt x="245" y="657"/>
                    <a:pt x="249" y="655"/>
                    <a:pt x="252" y="650"/>
                  </a:cubicBezTo>
                  <a:cubicBezTo>
                    <a:pt x="304" y="564"/>
                    <a:pt x="426" y="353"/>
                    <a:pt x="441" y="265"/>
                  </a:cubicBezTo>
                  <a:cubicBezTo>
                    <a:pt x="441" y="264"/>
                    <a:pt x="441" y="264"/>
                    <a:pt x="441" y="264"/>
                  </a:cubicBezTo>
                  <a:cubicBezTo>
                    <a:pt x="455" y="205"/>
                    <a:pt x="440" y="142"/>
                    <a:pt x="401" y="96"/>
                  </a:cubicBezTo>
                  <a:cubicBezTo>
                    <a:pt x="362" y="49"/>
                    <a:pt x="302" y="24"/>
                    <a:pt x="241" y="29"/>
                  </a:cubicBezTo>
                  <a:cubicBezTo>
                    <a:pt x="240" y="29"/>
                    <a:pt x="240" y="29"/>
                    <a:pt x="240" y="29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35" y="28"/>
                    <a:pt x="230" y="28"/>
                    <a:pt x="226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Freeform 58">
              <a:extLst>
                <a:ext uri="{FF2B5EF4-FFF2-40B4-BE49-F238E27FC236}">
                  <a16:creationId xmlns:a16="http://schemas.microsoft.com/office/drawing/2014/main" id="{EFE694EC-B895-EA38-BDC6-708DB5D5C4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1650" y="3314700"/>
              <a:ext cx="171450" cy="165100"/>
            </a:xfrm>
            <a:custGeom>
              <a:avLst/>
              <a:gdLst>
                <a:gd name="T0" fmla="*/ 118 w 228"/>
                <a:gd name="T1" fmla="*/ 219 h 219"/>
                <a:gd name="T2" fmla="*/ 41 w 228"/>
                <a:gd name="T3" fmla="*/ 187 h 219"/>
                <a:gd name="T4" fmla="*/ 17 w 228"/>
                <a:gd name="T5" fmla="*/ 68 h 219"/>
                <a:gd name="T6" fmla="*/ 118 w 228"/>
                <a:gd name="T7" fmla="*/ 0 h 219"/>
                <a:gd name="T8" fmla="*/ 228 w 228"/>
                <a:gd name="T9" fmla="*/ 110 h 219"/>
                <a:gd name="T10" fmla="*/ 228 w 228"/>
                <a:gd name="T11" fmla="*/ 110 h 219"/>
                <a:gd name="T12" fmla="*/ 160 w 228"/>
                <a:gd name="T13" fmla="*/ 211 h 219"/>
                <a:gd name="T14" fmla="*/ 118 w 228"/>
                <a:gd name="T15" fmla="*/ 219 h 219"/>
                <a:gd name="T16" fmla="*/ 118 w 228"/>
                <a:gd name="T17" fmla="*/ 24 h 219"/>
                <a:gd name="T18" fmla="*/ 39 w 228"/>
                <a:gd name="T19" fmla="*/ 77 h 219"/>
                <a:gd name="T20" fmla="*/ 58 w 228"/>
                <a:gd name="T21" fmla="*/ 170 h 219"/>
                <a:gd name="T22" fmla="*/ 151 w 228"/>
                <a:gd name="T23" fmla="*/ 189 h 219"/>
                <a:gd name="T24" fmla="*/ 204 w 228"/>
                <a:gd name="T25" fmla="*/ 110 h 219"/>
                <a:gd name="T26" fmla="*/ 204 w 228"/>
                <a:gd name="T27" fmla="*/ 110 h 219"/>
                <a:gd name="T28" fmla="*/ 118 w 228"/>
                <a:gd name="T29" fmla="*/ 24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19">
                  <a:moveTo>
                    <a:pt x="118" y="219"/>
                  </a:moveTo>
                  <a:cubicBezTo>
                    <a:pt x="90" y="219"/>
                    <a:pt x="62" y="208"/>
                    <a:pt x="41" y="187"/>
                  </a:cubicBezTo>
                  <a:cubicBezTo>
                    <a:pt x="9" y="156"/>
                    <a:pt x="0" y="109"/>
                    <a:pt x="17" y="68"/>
                  </a:cubicBezTo>
                  <a:cubicBezTo>
                    <a:pt x="34" y="27"/>
                    <a:pt x="74" y="0"/>
                    <a:pt x="118" y="0"/>
                  </a:cubicBezTo>
                  <a:cubicBezTo>
                    <a:pt x="179" y="0"/>
                    <a:pt x="228" y="49"/>
                    <a:pt x="228" y="110"/>
                  </a:cubicBezTo>
                  <a:cubicBezTo>
                    <a:pt x="228" y="110"/>
                    <a:pt x="228" y="110"/>
                    <a:pt x="228" y="110"/>
                  </a:cubicBezTo>
                  <a:cubicBezTo>
                    <a:pt x="228" y="154"/>
                    <a:pt x="201" y="194"/>
                    <a:pt x="160" y="211"/>
                  </a:cubicBezTo>
                  <a:cubicBezTo>
                    <a:pt x="147" y="217"/>
                    <a:pt x="132" y="219"/>
                    <a:pt x="118" y="219"/>
                  </a:cubicBezTo>
                  <a:close/>
                  <a:moveTo>
                    <a:pt x="118" y="24"/>
                  </a:moveTo>
                  <a:cubicBezTo>
                    <a:pt x="84" y="24"/>
                    <a:pt x="53" y="45"/>
                    <a:pt x="39" y="77"/>
                  </a:cubicBezTo>
                  <a:cubicBezTo>
                    <a:pt x="26" y="109"/>
                    <a:pt x="33" y="146"/>
                    <a:pt x="58" y="170"/>
                  </a:cubicBezTo>
                  <a:cubicBezTo>
                    <a:pt x="82" y="195"/>
                    <a:pt x="119" y="202"/>
                    <a:pt x="151" y="189"/>
                  </a:cubicBezTo>
                  <a:cubicBezTo>
                    <a:pt x="183" y="175"/>
                    <a:pt x="204" y="144"/>
                    <a:pt x="204" y="110"/>
                  </a:cubicBezTo>
                  <a:cubicBezTo>
                    <a:pt x="204" y="110"/>
                    <a:pt x="204" y="110"/>
                    <a:pt x="204" y="110"/>
                  </a:cubicBezTo>
                  <a:cubicBezTo>
                    <a:pt x="204" y="63"/>
                    <a:pt x="165" y="24"/>
                    <a:pt x="118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Freeform 59">
              <a:extLst>
                <a:ext uri="{FF2B5EF4-FFF2-40B4-BE49-F238E27FC236}">
                  <a16:creationId xmlns:a16="http://schemas.microsoft.com/office/drawing/2014/main" id="{A4D6AA36-B988-8ED8-40A4-ACFA73824A9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913" y="3411538"/>
              <a:ext cx="471488" cy="312738"/>
            </a:xfrm>
            <a:custGeom>
              <a:avLst/>
              <a:gdLst>
                <a:gd name="T0" fmla="*/ 14 w 626"/>
                <a:gd name="T1" fmla="*/ 415 h 415"/>
                <a:gd name="T2" fmla="*/ 4 w 626"/>
                <a:gd name="T3" fmla="*/ 410 h 415"/>
                <a:gd name="T4" fmla="*/ 7 w 626"/>
                <a:gd name="T5" fmla="*/ 393 h 415"/>
                <a:gd name="T6" fmla="*/ 605 w 626"/>
                <a:gd name="T7" fmla="*/ 3 h 415"/>
                <a:gd name="T8" fmla="*/ 622 w 626"/>
                <a:gd name="T9" fmla="*/ 7 h 415"/>
                <a:gd name="T10" fmla="*/ 618 w 626"/>
                <a:gd name="T11" fmla="*/ 24 h 415"/>
                <a:gd name="T12" fmla="*/ 21 w 626"/>
                <a:gd name="T13" fmla="*/ 414 h 415"/>
                <a:gd name="T14" fmla="*/ 14 w 626"/>
                <a:gd name="T15" fmla="*/ 41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6" h="415">
                  <a:moveTo>
                    <a:pt x="14" y="415"/>
                  </a:moveTo>
                  <a:cubicBezTo>
                    <a:pt x="10" y="415"/>
                    <a:pt x="6" y="414"/>
                    <a:pt x="4" y="410"/>
                  </a:cubicBezTo>
                  <a:cubicBezTo>
                    <a:pt x="0" y="405"/>
                    <a:pt x="2" y="397"/>
                    <a:pt x="7" y="393"/>
                  </a:cubicBezTo>
                  <a:cubicBezTo>
                    <a:pt x="605" y="3"/>
                    <a:pt x="605" y="3"/>
                    <a:pt x="605" y="3"/>
                  </a:cubicBezTo>
                  <a:cubicBezTo>
                    <a:pt x="611" y="0"/>
                    <a:pt x="618" y="1"/>
                    <a:pt x="622" y="7"/>
                  </a:cubicBezTo>
                  <a:cubicBezTo>
                    <a:pt x="626" y="13"/>
                    <a:pt x="624" y="20"/>
                    <a:pt x="618" y="24"/>
                  </a:cubicBezTo>
                  <a:cubicBezTo>
                    <a:pt x="21" y="414"/>
                    <a:pt x="21" y="414"/>
                    <a:pt x="21" y="414"/>
                  </a:cubicBezTo>
                  <a:cubicBezTo>
                    <a:pt x="19" y="415"/>
                    <a:pt x="16" y="415"/>
                    <a:pt x="14" y="4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8" name="Title 27">
            <a:extLst>
              <a:ext uri="{FF2B5EF4-FFF2-40B4-BE49-F238E27FC236}">
                <a16:creationId xmlns:a16="http://schemas.microsoft.com/office/drawing/2014/main" id="{0F314207-0992-0443-6AE7-069CD6DD7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CyberArk PAM Certification Path</a:t>
            </a:r>
          </a:p>
        </p:txBody>
      </p:sp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8168BD7B-F78D-3E05-5332-353B00EC1B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  <p:pic>
        <p:nvPicPr>
          <p:cNvPr id="18434" name="Picture 2" descr="Certified Implementation Engineer Advanced - Password Safe was issued by BeyondTrust to Vikas Sharma.">
            <a:extLst>
              <a:ext uri="{FF2B5EF4-FFF2-40B4-BE49-F238E27FC236}">
                <a16:creationId xmlns:a16="http://schemas.microsoft.com/office/drawing/2014/main" id="{209B04E6-6DCE-BD11-5A00-F95318A69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673095"/>
            <a:ext cx="2952750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 descr="BeyondTrust Certified Implementation ...">
            <a:extLst>
              <a:ext uri="{FF2B5EF4-FFF2-40B4-BE49-F238E27FC236}">
                <a16:creationId xmlns:a16="http://schemas.microsoft.com/office/drawing/2014/main" id="{DA65EB2C-D228-BC35-59A4-8C13ED52B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39" y="1673095"/>
            <a:ext cx="2952750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04F927BA-40A0-021C-EDF2-AA44B6426FBC}"/>
              </a:ext>
            </a:extLst>
          </p:cNvPr>
          <p:cNvSpPr/>
          <p:nvPr/>
        </p:nvSpPr>
        <p:spPr>
          <a:xfrm>
            <a:off x="3526489" y="2314222"/>
            <a:ext cx="1219200" cy="406400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5745595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716CC-B7F6-A457-258B-3A8FE5EAE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EB78734-EF2A-22D2-4A98-4D8E618528B1}"/>
              </a:ext>
            </a:extLst>
          </p:cNvPr>
          <p:cNvGrpSpPr/>
          <p:nvPr/>
        </p:nvGrpSpPr>
        <p:grpSpPr>
          <a:xfrm>
            <a:off x="1646076" y="4029452"/>
            <a:ext cx="570912" cy="419326"/>
            <a:chOff x="6759575" y="3000375"/>
            <a:chExt cx="906463" cy="746125"/>
          </a:xfrm>
          <a:solidFill>
            <a:srgbClr val="F4F3F9"/>
          </a:solidFill>
        </p:grpSpPr>
        <p:sp>
          <p:nvSpPr>
            <p:cNvPr id="50" name="Freeform 55">
              <a:extLst>
                <a:ext uri="{FF2B5EF4-FFF2-40B4-BE49-F238E27FC236}">
                  <a16:creationId xmlns:a16="http://schemas.microsoft.com/office/drawing/2014/main" id="{6BC10E24-45F4-6840-BB5E-63EBFFC3D8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1400" y="3000375"/>
              <a:ext cx="274638" cy="358775"/>
            </a:xfrm>
            <a:custGeom>
              <a:avLst/>
              <a:gdLst>
                <a:gd name="T0" fmla="*/ 182 w 364"/>
                <a:gd name="T1" fmla="*/ 476 h 476"/>
                <a:gd name="T2" fmla="*/ 152 w 364"/>
                <a:gd name="T3" fmla="*/ 462 h 476"/>
                <a:gd name="T4" fmla="*/ 0 w 364"/>
                <a:gd name="T5" fmla="*/ 182 h 476"/>
                <a:gd name="T6" fmla="*/ 53 w 364"/>
                <a:gd name="T7" fmla="*/ 53 h 476"/>
                <a:gd name="T8" fmla="*/ 182 w 364"/>
                <a:gd name="T9" fmla="*/ 0 h 476"/>
                <a:gd name="T10" fmla="*/ 182 w 364"/>
                <a:gd name="T11" fmla="*/ 0 h 476"/>
                <a:gd name="T12" fmla="*/ 364 w 364"/>
                <a:gd name="T13" fmla="*/ 182 h 476"/>
                <a:gd name="T14" fmla="*/ 212 w 364"/>
                <a:gd name="T15" fmla="*/ 462 h 476"/>
                <a:gd name="T16" fmla="*/ 182 w 364"/>
                <a:gd name="T17" fmla="*/ 476 h 476"/>
                <a:gd name="T18" fmla="*/ 182 w 364"/>
                <a:gd name="T19" fmla="*/ 24 h 476"/>
                <a:gd name="T20" fmla="*/ 70 w 364"/>
                <a:gd name="T21" fmla="*/ 70 h 476"/>
                <a:gd name="T22" fmla="*/ 24 w 364"/>
                <a:gd name="T23" fmla="*/ 182 h 476"/>
                <a:gd name="T24" fmla="*/ 171 w 364"/>
                <a:gd name="T25" fmla="*/ 447 h 476"/>
                <a:gd name="T26" fmla="*/ 182 w 364"/>
                <a:gd name="T27" fmla="*/ 452 h 476"/>
                <a:gd name="T28" fmla="*/ 193 w 364"/>
                <a:gd name="T29" fmla="*/ 447 h 476"/>
                <a:gd name="T30" fmla="*/ 340 w 364"/>
                <a:gd name="T31" fmla="*/ 182 h 476"/>
                <a:gd name="T32" fmla="*/ 182 w 364"/>
                <a:gd name="T33" fmla="*/ 24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4" h="476">
                  <a:moveTo>
                    <a:pt x="182" y="476"/>
                  </a:moveTo>
                  <a:cubicBezTo>
                    <a:pt x="170" y="476"/>
                    <a:pt x="159" y="471"/>
                    <a:pt x="152" y="462"/>
                  </a:cubicBezTo>
                  <a:cubicBezTo>
                    <a:pt x="95" y="389"/>
                    <a:pt x="0" y="257"/>
                    <a:pt x="0" y="182"/>
                  </a:cubicBezTo>
                  <a:cubicBezTo>
                    <a:pt x="0" y="133"/>
                    <a:pt x="19" y="87"/>
                    <a:pt x="53" y="53"/>
                  </a:cubicBezTo>
                  <a:cubicBezTo>
                    <a:pt x="87" y="19"/>
                    <a:pt x="133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282" y="0"/>
                    <a:pt x="364" y="81"/>
                    <a:pt x="364" y="182"/>
                  </a:cubicBezTo>
                  <a:cubicBezTo>
                    <a:pt x="364" y="257"/>
                    <a:pt x="269" y="389"/>
                    <a:pt x="212" y="462"/>
                  </a:cubicBezTo>
                  <a:cubicBezTo>
                    <a:pt x="205" y="471"/>
                    <a:pt x="194" y="476"/>
                    <a:pt x="182" y="476"/>
                  </a:cubicBezTo>
                  <a:close/>
                  <a:moveTo>
                    <a:pt x="182" y="24"/>
                  </a:moveTo>
                  <a:cubicBezTo>
                    <a:pt x="140" y="24"/>
                    <a:pt x="100" y="40"/>
                    <a:pt x="70" y="70"/>
                  </a:cubicBezTo>
                  <a:cubicBezTo>
                    <a:pt x="40" y="100"/>
                    <a:pt x="24" y="140"/>
                    <a:pt x="24" y="182"/>
                  </a:cubicBezTo>
                  <a:cubicBezTo>
                    <a:pt x="24" y="254"/>
                    <a:pt x="136" y="403"/>
                    <a:pt x="171" y="447"/>
                  </a:cubicBezTo>
                  <a:cubicBezTo>
                    <a:pt x="174" y="450"/>
                    <a:pt x="178" y="452"/>
                    <a:pt x="182" y="452"/>
                  </a:cubicBezTo>
                  <a:cubicBezTo>
                    <a:pt x="186" y="452"/>
                    <a:pt x="190" y="450"/>
                    <a:pt x="193" y="447"/>
                  </a:cubicBezTo>
                  <a:cubicBezTo>
                    <a:pt x="285" y="329"/>
                    <a:pt x="340" y="230"/>
                    <a:pt x="340" y="182"/>
                  </a:cubicBezTo>
                  <a:cubicBezTo>
                    <a:pt x="340" y="95"/>
                    <a:pt x="269" y="24"/>
                    <a:pt x="18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Freeform 56">
              <a:extLst>
                <a:ext uri="{FF2B5EF4-FFF2-40B4-BE49-F238E27FC236}">
                  <a16:creationId xmlns:a16="http://schemas.microsoft.com/office/drawing/2014/main" id="{D320A6F1-97CA-BDA2-D4EB-1DE45C4A81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0775" y="3079750"/>
              <a:ext cx="114300" cy="115888"/>
            </a:xfrm>
            <a:custGeom>
              <a:avLst/>
              <a:gdLst>
                <a:gd name="T0" fmla="*/ 76 w 152"/>
                <a:gd name="T1" fmla="*/ 152 h 152"/>
                <a:gd name="T2" fmla="*/ 0 w 152"/>
                <a:gd name="T3" fmla="*/ 76 h 152"/>
                <a:gd name="T4" fmla="*/ 76 w 152"/>
                <a:gd name="T5" fmla="*/ 0 h 152"/>
                <a:gd name="T6" fmla="*/ 76 w 152"/>
                <a:gd name="T7" fmla="*/ 0 h 152"/>
                <a:gd name="T8" fmla="*/ 130 w 152"/>
                <a:gd name="T9" fmla="*/ 22 h 152"/>
                <a:gd name="T10" fmla="*/ 152 w 152"/>
                <a:gd name="T11" fmla="*/ 76 h 152"/>
                <a:gd name="T12" fmla="*/ 152 w 152"/>
                <a:gd name="T13" fmla="*/ 76 h 152"/>
                <a:gd name="T14" fmla="*/ 76 w 152"/>
                <a:gd name="T15" fmla="*/ 152 h 152"/>
                <a:gd name="T16" fmla="*/ 76 w 152"/>
                <a:gd name="T17" fmla="*/ 24 h 152"/>
                <a:gd name="T18" fmla="*/ 76 w 152"/>
                <a:gd name="T19" fmla="*/ 24 h 152"/>
                <a:gd name="T20" fmla="*/ 24 w 152"/>
                <a:gd name="T21" fmla="*/ 76 h 152"/>
                <a:gd name="T22" fmla="*/ 76 w 152"/>
                <a:gd name="T23" fmla="*/ 128 h 152"/>
                <a:gd name="T24" fmla="*/ 128 w 152"/>
                <a:gd name="T25" fmla="*/ 76 h 152"/>
                <a:gd name="T26" fmla="*/ 128 w 152"/>
                <a:gd name="T27" fmla="*/ 76 h 152"/>
                <a:gd name="T28" fmla="*/ 113 w 152"/>
                <a:gd name="T29" fmla="*/ 39 h 152"/>
                <a:gd name="T30" fmla="*/ 76 w 152"/>
                <a:gd name="T31" fmla="*/ 2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2" h="152">
                  <a:moveTo>
                    <a:pt x="76" y="152"/>
                  </a:moveTo>
                  <a:cubicBezTo>
                    <a:pt x="34" y="152"/>
                    <a:pt x="0" y="118"/>
                    <a:pt x="0" y="76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6" y="0"/>
                    <a:pt x="115" y="8"/>
                    <a:pt x="130" y="22"/>
                  </a:cubicBezTo>
                  <a:cubicBezTo>
                    <a:pt x="144" y="37"/>
                    <a:pt x="152" y="56"/>
                    <a:pt x="152" y="76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118"/>
                    <a:pt x="118" y="152"/>
                    <a:pt x="76" y="152"/>
                  </a:cubicBezTo>
                  <a:close/>
                  <a:moveTo>
                    <a:pt x="76" y="24"/>
                  </a:moveTo>
                  <a:cubicBezTo>
                    <a:pt x="76" y="24"/>
                    <a:pt x="76" y="24"/>
                    <a:pt x="76" y="24"/>
                  </a:cubicBezTo>
                  <a:cubicBezTo>
                    <a:pt x="47" y="24"/>
                    <a:pt x="24" y="47"/>
                    <a:pt x="24" y="76"/>
                  </a:cubicBezTo>
                  <a:cubicBezTo>
                    <a:pt x="24" y="104"/>
                    <a:pt x="47" y="128"/>
                    <a:pt x="76" y="128"/>
                  </a:cubicBezTo>
                  <a:cubicBezTo>
                    <a:pt x="104" y="128"/>
                    <a:pt x="128" y="104"/>
                    <a:pt x="128" y="76"/>
                  </a:cubicBezTo>
                  <a:cubicBezTo>
                    <a:pt x="128" y="76"/>
                    <a:pt x="128" y="76"/>
                    <a:pt x="128" y="76"/>
                  </a:cubicBezTo>
                  <a:cubicBezTo>
                    <a:pt x="128" y="62"/>
                    <a:pt x="122" y="49"/>
                    <a:pt x="113" y="39"/>
                  </a:cubicBezTo>
                  <a:cubicBezTo>
                    <a:pt x="103" y="29"/>
                    <a:pt x="90" y="24"/>
                    <a:pt x="76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Freeform 57">
              <a:extLst>
                <a:ext uri="{FF2B5EF4-FFF2-40B4-BE49-F238E27FC236}">
                  <a16:creationId xmlns:a16="http://schemas.microsoft.com/office/drawing/2014/main" id="{726EC5E3-C664-8C25-E1B6-A2EF59225C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9575" y="3232150"/>
              <a:ext cx="361950" cy="514350"/>
            </a:xfrm>
            <a:custGeom>
              <a:avLst/>
              <a:gdLst>
                <a:gd name="T0" fmla="*/ 240 w 480"/>
                <a:gd name="T1" fmla="*/ 681 h 681"/>
                <a:gd name="T2" fmla="*/ 208 w 480"/>
                <a:gd name="T3" fmla="*/ 663 h 681"/>
                <a:gd name="T4" fmla="*/ 16 w 480"/>
                <a:gd name="T5" fmla="*/ 270 h 681"/>
                <a:gd name="T6" fmla="*/ 61 w 480"/>
                <a:gd name="T7" fmla="*/ 80 h 681"/>
                <a:gd name="T8" fmla="*/ 240 w 480"/>
                <a:gd name="T9" fmla="*/ 5 h 681"/>
                <a:gd name="T10" fmla="*/ 419 w 480"/>
                <a:gd name="T11" fmla="*/ 80 h 681"/>
                <a:gd name="T12" fmla="*/ 465 w 480"/>
                <a:gd name="T13" fmla="*/ 270 h 681"/>
                <a:gd name="T14" fmla="*/ 272 w 480"/>
                <a:gd name="T15" fmla="*/ 663 h 681"/>
                <a:gd name="T16" fmla="*/ 240 w 480"/>
                <a:gd name="T17" fmla="*/ 681 h 681"/>
                <a:gd name="T18" fmla="*/ 240 w 480"/>
                <a:gd name="T19" fmla="*/ 681 h 681"/>
                <a:gd name="T20" fmla="*/ 226 w 480"/>
                <a:gd name="T21" fmla="*/ 28 h 681"/>
                <a:gd name="T22" fmla="*/ 80 w 480"/>
                <a:gd name="T23" fmla="*/ 96 h 681"/>
                <a:gd name="T24" fmla="*/ 39 w 480"/>
                <a:gd name="T25" fmla="*/ 264 h 681"/>
                <a:gd name="T26" fmla="*/ 39 w 480"/>
                <a:gd name="T27" fmla="*/ 265 h 681"/>
                <a:gd name="T28" fmla="*/ 228 w 480"/>
                <a:gd name="T29" fmla="*/ 650 h 681"/>
                <a:gd name="T30" fmla="*/ 240 w 480"/>
                <a:gd name="T31" fmla="*/ 657 h 681"/>
                <a:gd name="T32" fmla="*/ 240 w 480"/>
                <a:gd name="T33" fmla="*/ 657 h 681"/>
                <a:gd name="T34" fmla="*/ 252 w 480"/>
                <a:gd name="T35" fmla="*/ 650 h 681"/>
                <a:gd name="T36" fmla="*/ 441 w 480"/>
                <a:gd name="T37" fmla="*/ 265 h 681"/>
                <a:gd name="T38" fmla="*/ 441 w 480"/>
                <a:gd name="T39" fmla="*/ 264 h 681"/>
                <a:gd name="T40" fmla="*/ 401 w 480"/>
                <a:gd name="T41" fmla="*/ 96 h 681"/>
                <a:gd name="T42" fmla="*/ 241 w 480"/>
                <a:gd name="T43" fmla="*/ 29 h 681"/>
                <a:gd name="T44" fmla="*/ 240 w 480"/>
                <a:gd name="T45" fmla="*/ 29 h 681"/>
                <a:gd name="T46" fmla="*/ 239 w 480"/>
                <a:gd name="T47" fmla="*/ 29 h 681"/>
                <a:gd name="T48" fmla="*/ 226 w 480"/>
                <a:gd name="T49" fmla="*/ 28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0" h="681">
                  <a:moveTo>
                    <a:pt x="240" y="681"/>
                  </a:moveTo>
                  <a:cubicBezTo>
                    <a:pt x="227" y="681"/>
                    <a:pt x="214" y="674"/>
                    <a:pt x="208" y="663"/>
                  </a:cubicBezTo>
                  <a:cubicBezTo>
                    <a:pt x="156" y="580"/>
                    <a:pt x="35" y="376"/>
                    <a:pt x="16" y="270"/>
                  </a:cubicBezTo>
                  <a:cubicBezTo>
                    <a:pt x="0" y="203"/>
                    <a:pt x="17" y="132"/>
                    <a:pt x="61" y="80"/>
                  </a:cubicBezTo>
                  <a:cubicBezTo>
                    <a:pt x="105" y="28"/>
                    <a:pt x="172" y="0"/>
                    <a:pt x="240" y="5"/>
                  </a:cubicBezTo>
                  <a:cubicBezTo>
                    <a:pt x="308" y="0"/>
                    <a:pt x="375" y="28"/>
                    <a:pt x="419" y="80"/>
                  </a:cubicBezTo>
                  <a:cubicBezTo>
                    <a:pt x="464" y="132"/>
                    <a:pt x="480" y="203"/>
                    <a:pt x="465" y="270"/>
                  </a:cubicBezTo>
                  <a:cubicBezTo>
                    <a:pt x="449" y="362"/>
                    <a:pt x="325" y="575"/>
                    <a:pt x="272" y="663"/>
                  </a:cubicBezTo>
                  <a:cubicBezTo>
                    <a:pt x="266" y="674"/>
                    <a:pt x="253" y="681"/>
                    <a:pt x="240" y="681"/>
                  </a:cubicBezTo>
                  <a:cubicBezTo>
                    <a:pt x="240" y="681"/>
                    <a:pt x="240" y="681"/>
                    <a:pt x="240" y="681"/>
                  </a:cubicBezTo>
                  <a:close/>
                  <a:moveTo>
                    <a:pt x="226" y="28"/>
                  </a:moveTo>
                  <a:cubicBezTo>
                    <a:pt x="170" y="28"/>
                    <a:pt x="116" y="53"/>
                    <a:pt x="80" y="96"/>
                  </a:cubicBezTo>
                  <a:cubicBezTo>
                    <a:pt x="40" y="142"/>
                    <a:pt x="25" y="205"/>
                    <a:pt x="39" y="264"/>
                  </a:cubicBezTo>
                  <a:cubicBezTo>
                    <a:pt x="39" y="265"/>
                    <a:pt x="39" y="265"/>
                    <a:pt x="39" y="265"/>
                  </a:cubicBezTo>
                  <a:cubicBezTo>
                    <a:pt x="58" y="368"/>
                    <a:pt x="178" y="569"/>
                    <a:pt x="228" y="650"/>
                  </a:cubicBezTo>
                  <a:cubicBezTo>
                    <a:pt x="231" y="655"/>
                    <a:pt x="235" y="657"/>
                    <a:pt x="240" y="657"/>
                  </a:cubicBezTo>
                  <a:cubicBezTo>
                    <a:pt x="240" y="657"/>
                    <a:pt x="240" y="657"/>
                    <a:pt x="240" y="657"/>
                  </a:cubicBezTo>
                  <a:cubicBezTo>
                    <a:pt x="245" y="657"/>
                    <a:pt x="249" y="655"/>
                    <a:pt x="252" y="650"/>
                  </a:cubicBezTo>
                  <a:cubicBezTo>
                    <a:pt x="304" y="564"/>
                    <a:pt x="426" y="353"/>
                    <a:pt x="441" y="265"/>
                  </a:cubicBezTo>
                  <a:cubicBezTo>
                    <a:pt x="441" y="264"/>
                    <a:pt x="441" y="264"/>
                    <a:pt x="441" y="264"/>
                  </a:cubicBezTo>
                  <a:cubicBezTo>
                    <a:pt x="455" y="205"/>
                    <a:pt x="440" y="142"/>
                    <a:pt x="401" y="96"/>
                  </a:cubicBezTo>
                  <a:cubicBezTo>
                    <a:pt x="362" y="49"/>
                    <a:pt x="302" y="24"/>
                    <a:pt x="241" y="29"/>
                  </a:cubicBezTo>
                  <a:cubicBezTo>
                    <a:pt x="240" y="29"/>
                    <a:pt x="240" y="29"/>
                    <a:pt x="240" y="29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35" y="28"/>
                    <a:pt x="230" y="28"/>
                    <a:pt x="226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Freeform 58">
              <a:extLst>
                <a:ext uri="{FF2B5EF4-FFF2-40B4-BE49-F238E27FC236}">
                  <a16:creationId xmlns:a16="http://schemas.microsoft.com/office/drawing/2014/main" id="{33575906-116B-6A98-9F39-3FD8FA4D55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1650" y="3314700"/>
              <a:ext cx="171450" cy="165100"/>
            </a:xfrm>
            <a:custGeom>
              <a:avLst/>
              <a:gdLst>
                <a:gd name="T0" fmla="*/ 118 w 228"/>
                <a:gd name="T1" fmla="*/ 219 h 219"/>
                <a:gd name="T2" fmla="*/ 41 w 228"/>
                <a:gd name="T3" fmla="*/ 187 h 219"/>
                <a:gd name="T4" fmla="*/ 17 w 228"/>
                <a:gd name="T5" fmla="*/ 68 h 219"/>
                <a:gd name="T6" fmla="*/ 118 w 228"/>
                <a:gd name="T7" fmla="*/ 0 h 219"/>
                <a:gd name="T8" fmla="*/ 228 w 228"/>
                <a:gd name="T9" fmla="*/ 110 h 219"/>
                <a:gd name="T10" fmla="*/ 228 w 228"/>
                <a:gd name="T11" fmla="*/ 110 h 219"/>
                <a:gd name="T12" fmla="*/ 160 w 228"/>
                <a:gd name="T13" fmla="*/ 211 h 219"/>
                <a:gd name="T14" fmla="*/ 118 w 228"/>
                <a:gd name="T15" fmla="*/ 219 h 219"/>
                <a:gd name="T16" fmla="*/ 118 w 228"/>
                <a:gd name="T17" fmla="*/ 24 h 219"/>
                <a:gd name="T18" fmla="*/ 39 w 228"/>
                <a:gd name="T19" fmla="*/ 77 h 219"/>
                <a:gd name="T20" fmla="*/ 58 w 228"/>
                <a:gd name="T21" fmla="*/ 170 h 219"/>
                <a:gd name="T22" fmla="*/ 151 w 228"/>
                <a:gd name="T23" fmla="*/ 189 h 219"/>
                <a:gd name="T24" fmla="*/ 204 w 228"/>
                <a:gd name="T25" fmla="*/ 110 h 219"/>
                <a:gd name="T26" fmla="*/ 204 w 228"/>
                <a:gd name="T27" fmla="*/ 110 h 219"/>
                <a:gd name="T28" fmla="*/ 118 w 228"/>
                <a:gd name="T29" fmla="*/ 24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19">
                  <a:moveTo>
                    <a:pt x="118" y="219"/>
                  </a:moveTo>
                  <a:cubicBezTo>
                    <a:pt x="90" y="219"/>
                    <a:pt x="62" y="208"/>
                    <a:pt x="41" y="187"/>
                  </a:cubicBezTo>
                  <a:cubicBezTo>
                    <a:pt x="9" y="156"/>
                    <a:pt x="0" y="109"/>
                    <a:pt x="17" y="68"/>
                  </a:cubicBezTo>
                  <a:cubicBezTo>
                    <a:pt x="34" y="27"/>
                    <a:pt x="74" y="0"/>
                    <a:pt x="118" y="0"/>
                  </a:cubicBezTo>
                  <a:cubicBezTo>
                    <a:pt x="179" y="0"/>
                    <a:pt x="228" y="49"/>
                    <a:pt x="228" y="110"/>
                  </a:cubicBezTo>
                  <a:cubicBezTo>
                    <a:pt x="228" y="110"/>
                    <a:pt x="228" y="110"/>
                    <a:pt x="228" y="110"/>
                  </a:cubicBezTo>
                  <a:cubicBezTo>
                    <a:pt x="228" y="154"/>
                    <a:pt x="201" y="194"/>
                    <a:pt x="160" y="211"/>
                  </a:cubicBezTo>
                  <a:cubicBezTo>
                    <a:pt x="147" y="217"/>
                    <a:pt x="132" y="219"/>
                    <a:pt x="118" y="219"/>
                  </a:cubicBezTo>
                  <a:close/>
                  <a:moveTo>
                    <a:pt x="118" y="24"/>
                  </a:moveTo>
                  <a:cubicBezTo>
                    <a:pt x="84" y="24"/>
                    <a:pt x="53" y="45"/>
                    <a:pt x="39" y="77"/>
                  </a:cubicBezTo>
                  <a:cubicBezTo>
                    <a:pt x="26" y="109"/>
                    <a:pt x="33" y="146"/>
                    <a:pt x="58" y="170"/>
                  </a:cubicBezTo>
                  <a:cubicBezTo>
                    <a:pt x="82" y="195"/>
                    <a:pt x="119" y="202"/>
                    <a:pt x="151" y="189"/>
                  </a:cubicBezTo>
                  <a:cubicBezTo>
                    <a:pt x="183" y="175"/>
                    <a:pt x="204" y="144"/>
                    <a:pt x="204" y="110"/>
                  </a:cubicBezTo>
                  <a:cubicBezTo>
                    <a:pt x="204" y="110"/>
                    <a:pt x="204" y="110"/>
                    <a:pt x="204" y="110"/>
                  </a:cubicBezTo>
                  <a:cubicBezTo>
                    <a:pt x="204" y="63"/>
                    <a:pt x="165" y="24"/>
                    <a:pt x="118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Freeform 59">
              <a:extLst>
                <a:ext uri="{FF2B5EF4-FFF2-40B4-BE49-F238E27FC236}">
                  <a16:creationId xmlns:a16="http://schemas.microsoft.com/office/drawing/2014/main" id="{980F0038-AD44-1B58-D827-681D7B557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913" y="3411538"/>
              <a:ext cx="471488" cy="312738"/>
            </a:xfrm>
            <a:custGeom>
              <a:avLst/>
              <a:gdLst>
                <a:gd name="T0" fmla="*/ 14 w 626"/>
                <a:gd name="T1" fmla="*/ 415 h 415"/>
                <a:gd name="T2" fmla="*/ 4 w 626"/>
                <a:gd name="T3" fmla="*/ 410 h 415"/>
                <a:gd name="T4" fmla="*/ 7 w 626"/>
                <a:gd name="T5" fmla="*/ 393 h 415"/>
                <a:gd name="T6" fmla="*/ 605 w 626"/>
                <a:gd name="T7" fmla="*/ 3 h 415"/>
                <a:gd name="T8" fmla="*/ 622 w 626"/>
                <a:gd name="T9" fmla="*/ 7 h 415"/>
                <a:gd name="T10" fmla="*/ 618 w 626"/>
                <a:gd name="T11" fmla="*/ 24 h 415"/>
                <a:gd name="T12" fmla="*/ 21 w 626"/>
                <a:gd name="T13" fmla="*/ 414 h 415"/>
                <a:gd name="T14" fmla="*/ 14 w 626"/>
                <a:gd name="T15" fmla="*/ 41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6" h="415">
                  <a:moveTo>
                    <a:pt x="14" y="415"/>
                  </a:moveTo>
                  <a:cubicBezTo>
                    <a:pt x="10" y="415"/>
                    <a:pt x="6" y="414"/>
                    <a:pt x="4" y="410"/>
                  </a:cubicBezTo>
                  <a:cubicBezTo>
                    <a:pt x="0" y="405"/>
                    <a:pt x="2" y="397"/>
                    <a:pt x="7" y="393"/>
                  </a:cubicBezTo>
                  <a:cubicBezTo>
                    <a:pt x="605" y="3"/>
                    <a:pt x="605" y="3"/>
                    <a:pt x="605" y="3"/>
                  </a:cubicBezTo>
                  <a:cubicBezTo>
                    <a:pt x="611" y="0"/>
                    <a:pt x="618" y="1"/>
                    <a:pt x="622" y="7"/>
                  </a:cubicBezTo>
                  <a:cubicBezTo>
                    <a:pt x="626" y="13"/>
                    <a:pt x="624" y="20"/>
                    <a:pt x="618" y="24"/>
                  </a:cubicBezTo>
                  <a:cubicBezTo>
                    <a:pt x="21" y="414"/>
                    <a:pt x="21" y="414"/>
                    <a:pt x="21" y="414"/>
                  </a:cubicBezTo>
                  <a:cubicBezTo>
                    <a:pt x="19" y="415"/>
                    <a:pt x="16" y="415"/>
                    <a:pt x="14" y="4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4" tIns="45717" rIns="91434" bIns="45717" numCol="1" anchor="t" anchorCtr="0" compatLnSpc="1">
              <a:prstTxWarp prst="textNoShape">
                <a:avLst/>
              </a:prstTxWarp>
            </a:bodyPr>
            <a:lstStyle/>
            <a:p>
              <a:pPr defTabSz="415556">
                <a:defRPr/>
              </a:pPr>
              <a:endParaRPr lang="en-IN" sz="819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8" name="Title 27">
            <a:extLst>
              <a:ext uri="{FF2B5EF4-FFF2-40B4-BE49-F238E27FC236}">
                <a16:creationId xmlns:a16="http://schemas.microsoft.com/office/drawing/2014/main" id="{DC43401B-13D3-7175-9EFE-48559194A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Delinea PAM Certification Path</a:t>
            </a:r>
          </a:p>
        </p:txBody>
      </p:sp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DDDA4D34-E5C2-2B43-2341-85E1FEE63B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B18DD9-FBCE-D01D-8C04-DD11572F3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076" y="844609"/>
            <a:ext cx="5258534" cy="15527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78C059-5B1B-9E64-72A9-34AAB33F1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050" y="2620519"/>
            <a:ext cx="4915586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4769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72C022-3170-2191-E994-7D64B06DBF70}"/>
              </a:ext>
            </a:extLst>
          </p:cNvPr>
          <p:cNvSpPr/>
          <p:nvPr/>
        </p:nvSpPr>
        <p:spPr>
          <a:xfrm>
            <a:off x="72870" y="430794"/>
            <a:ext cx="9014791" cy="259754"/>
          </a:xfrm>
          <a:prstGeom prst="rect">
            <a:avLst/>
          </a:prstGeom>
          <a:solidFill>
            <a:srgbClr val="154B8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4313" indent="-214313" algn="just" defTabSz="685800">
              <a:buFont typeface="Wingdings" panose="05000000000000000000" pitchFamily="2" charset="2"/>
              <a:buChar char="ü"/>
              <a:defRPr/>
            </a:pPr>
            <a:r>
              <a:rPr lang="en-US" sz="1050" spc="-1" dirty="0">
                <a:solidFill>
                  <a:prstClr val="white"/>
                </a:solidFill>
                <a:ea typeface="DejaVu Sans"/>
              </a:rPr>
              <a:t>One of the world’s biggest tire manufacturing company</a:t>
            </a:r>
          </a:p>
        </p:txBody>
      </p:sp>
      <p:sp>
        <p:nvSpPr>
          <p:cNvPr id="7" name="Round Single Corner Rectangle 16">
            <a:extLst>
              <a:ext uri="{FF2B5EF4-FFF2-40B4-BE49-F238E27FC236}">
                <a16:creationId xmlns:a16="http://schemas.microsoft.com/office/drawing/2014/main" id="{3AECFD2F-9997-6CAA-089E-6A1315942734}"/>
              </a:ext>
            </a:extLst>
          </p:cNvPr>
          <p:cNvSpPr/>
          <p:nvPr/>
        </p:nvSpPr>
        <p:spPr>
          <a:xfrm flipH="1">
            <a:off x="72870" y="710320"/>
            <a:ext cx="2535830" cy="237242"/>
          </a:xfrm>
          <a:prstGeom prst="round1Rect">
            <a:avLst>
              <a:gd name="adj" fmla="val 29570"/>
            </a:avLst>
          </a:prstGeom>
          <a:solidFill>
            <a:srgbClr val="154B8C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783">
              <a:defRPr/>
            </a:pPr>
            <a:r>
              <a:rPr lang="en-US" sz="1100" b="1" dirty="0">
                <a:solidFill>
                  <a:prstClr val="white"/>
                </a:solidFill>
              </a:rPr>
              <a:t>Business Drivers</a:t>
            </a:r>
          </a:p>
        </p:txBody>
      </p:sp>
      <p:sp>
        <p:nvSpPr>
          <p:cNvPr id="8" name="Rounded Rectangle 24">
            <a:extLst>
              <a:ext uri="{FF2B5EF4-FFF2-40B4-BE49-F238E27FC236}">
                <a16:creationId xmlns:a16="http://schemas.microsoft.com/office/drawing/2014/main" id="{2230D610-FD92-C940-1E63-1E194D2A853A}"/>
              </a:ext>
            </a:extLst>
          </p:cNvPr>
          <p:cNvSpPr/>
          <p:nvPr/>
        </p:nvSpPr>
        <p:spPr>
          <a:xfrm>
            <a:off x="61204" y="997814"/>
            <a:ext cx="5080767" cy="2567327"/>
          </a:xfrm>
          <a:prstGeom prst="roundRect">
            <a:avLst>
              <a:gd name="adj" fmla="val 7911"/>
            </a:avLst>
          </a:prstGeom>
          <a:solidFill>
            <a:schemeClr val="bg1"/>
          </a:solidFill>
          <a:ln w="9525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4313" indent="-214313">
              <a:buClr>
                <a:schemeClr val="dk1"/>
              </a:buClr>
              <a:buSzPct val="109000"/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schemeClr val="dk1"/>
                </a:solidFill>
              </a:rPr>
              <a:t>Company has experienced a ransomware attack, which rendered their systems unusable via an encryption mechanism.</a:t>
            </a:r>
          </a:p>
          <a:p>
            <a:pPr marL="214313" indent="-214313">
              <a:buClr>
                <a:schemeClr val="dk1"/>
              </a:buClr>
              <a:buSzPct val="109000"/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schemeClr val="dk1"/>
                </a:solidFill>
              </a:rPr>
              <a:t>Company has four business units (US, Japan, Asia, Europe) which </a:t>
            </a:r>
            <a:r>
              <a:rPr lang="en-GB" sz="1050" b="1" dirty="0">
                <a:solidFill>
                  <a:schemeClr val="dk1"/>
                </a:solidFill>
              </a:rPr>
              <a:t>handle their privileged access differently</a:t>
            </a:r>
            <a:r>
              <a:rPr lang="en-GB" sz="1050" dirty="0">
                <a:solidFill>
                  <a:schemeClr val="dk1"/>
                </a:solidFill>
              </a:rPr>
              <a:t> with different definitions of privileged access, policies, and procedures </a:t>
            </a:r>
            <a:r>
              <a:rPr lang="en-GB" sz="1050" b="1" dirty="0">
                <a:solidFill>
                  <a:schemeClr val="dk1"/>
                </a:solidFill>
              </a:rPr>
              <a:t>with varying degrees of maturity. </a:t>
            </a:r>
          </a:p>
          <a:p>
            <a:pPr marL="214313" indent="-214313">
              <a:spcBef>
                <a:spcPts val="300"/>
              </a:spcBef>
              <a:buClr>
                <a:schemeClr val="dk1"/>
              </a:buClr>
              <a:buSzPct val="109000"/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schemeClr val="dk1"/>
                </a:solidFill>
              </a:rPr>
              <a:t>All business units have expressed a </a:t>
            </a:r>
            <a:r>
              <a:rPr lang="en-GB" sz="1050" b="1" dirty="0">
                <a:solidFill>
                  <a:schemeClr val="dk1"/>
                </a:solidFill>
              </a:rPr>
              <a:t>struggle with knowing what their privileged account landscape looks like </a:t>
            </a:r>
            <a:r>
              <a:rPr lang="en-GB" sz="1050" dirty="0">
                <a:solidFill>
                  <a:schemeClr val="dk1"/>
                </a:solidFill>
              </a:rPr>
              <a:t>but acknowledged the risk associated with this gap. </a:t>
            </a:r>
          </a:p>
          <a:p>
            <a:pPr marL="214313" indent="-214313">
              <a:spcBef>
                <a:spcPts val="300"/>
              </a:spcBef>
              <a:buClr>
                <a:schemeClr val="dk1"/>
              </a:buClr>
              <a:buSzPct val="109000"/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schemeClr val="dk1"/>
                </a:solidFill>
              </a:rPr>
              <a:t>Most business units </a:t>
            </a:r>
            <a:r>
              <a:rPr lang="en-GB" sz="1050" b="1" dirty="0">
                <a:solidFill>
                  <a:schemeClr val="dk1"/>
                </a:solidFill>
              </a:rPr>
              <a:t>raised concerns</a:t>
            </a:r>
            <a:r>
              <a:rPr lang="en-GB" sz="1050" dirty="0">
                <a:solidFill>
                  <a:schemeClr val="dk1"/>
                </a:solidFill>
              </a:rPr>
              <a:t> about the </a:t>
            </a:r>
            <a:r>
              <a:rPr lang="en-GB" sz="1050" b="1" dirty="0">
                <a:solidFill>
                  <a:schemeClr val="dk1"/>
                </a:solidFill>
              </a:rPr>
              <a:t>operational support </a:t>
            </a:r>
            <a:r>
              <a:rPr lang="en-GB" sz="1050" dirty="0">
                <a:solidFill>
                  <a:schemeClr val="dk1"/>
                </a:solidFill>
              </a:rPr>
              <a:t>of a global PAM program, questions about how it would </a:t>
            </a:r>
            <a:r>
              <a:rPr lang="en-GB" sz="1050" b="1" dirty="0">
                <a:solidFill>
                  <a:schemeClr val="dk1"/>
                </a:solidFill>
              </a:rPr>
              <a:t>integrate with their existing solutions</a:t>
            </a:r>
            <a:r>
              <a:rPr lang="en-GB" sz="1050" dirty="0">
                <a:solidFill>
                  <a:schemeClr val="dk1"/>
                </a:solidFill>
              </a:rPr>
              <a:t> that handle privileged access, and </a:t>
            </a:r>
            <a:r>
              <a:rPr lang="en-GB" sz="1050" b="1" dirty="0">
                <a:solidFill>
                  <a:schemeClr val="dk1"/>
                </a:solidFill>
              </a:rPr>
              <a:t>how this would be funded.  </a:t>
            </a:r>
          </a:p>
          <a:p>
            <a:pPr marL="214313" indent="-214313">
              <a:spcBef>
                <a:spcPts val="300"/>
              </a:spcBef>
              <a:buClr>
                <a:schemeClr val="dk1"/>
              </a:buClr>
              <a:buSzPct val="109000"/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chemeClr val="dk1"/>
                </a:solidFill>
              </a:rPr>
              <a:t>Region specific regulations </a:t>
            </a:r>
            <a:r>
              <a:rPr lang="en-GB" sz="1050" b="1" i="1" dirty="0">
                <a:solidFill>
                  <a:schemeClr val="dk1"/>
                </a:solidFill>
              </a:rPr>
              <a:t>(GDPR, JSOX, SOX)</a:t>
            </a:r>
            <a:r>
              <a:rPr lang="en-GB" sz="1050" b="1" dirty="0">
                <a:solidFill>
                  <a:schemeClr val="dk1"/>
                </a:solidFill>
              </a:rPr>
              <a:t> do not appear to have a heavy influence</a:t>
            </a:r>
            <a:r>
              <a:rPr lang="en-GB" sz="1050" dirty="0">
                <a:solidFill>
                  <a:schemeClr val="dk1"/>
                </a:solidFill>
              </a:rPr>
              <a:t> on how business units handle privileged access.</a:t>
            </a:r>
          </a:p>
          <a:p>
            <a:pPr marL="214313" indent="-214313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ct val="109000"/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chemeClr val="dk1"/>
                </a:solidFill>
              </a:rPr>
              <a:t>Reporting and tracking</a:t>
            </a:r>
            <a:r>
              <a:rPr lang="en-GB" sz="1050" dirty="0">
                <a:solidFill>
                  <a:schemeClr val="dk1"/>
                </a:solidFill>
              </a:rPr>
              <a:t> of privileged account usage and creation is </a:t>
            </a:r>
            <a:r>
              <a:rPr lang="en-GB" sz="1050" b="1" dirty="0">
                <a:solidFill>
                  <a:schemeClr val="dk1"/>
                </a:solidFill>
              </a:rPr>
              <a:t>not widely implemented. </a:t>
            </a:r>
          </a:p>
        </p:txBody>
      </p:sp>
      <p:sp>
        <p:nvSpPr>
          <p:cNvPr id="9" name="Round Single Corner Rectangle 16">
            <a:extLst>
              <a:ext uri="{FF2B5EF4-FFF2-40B4-BE49-F238E27FC236}">
                <a16:creationId xmlns:a16="http://schemas.microsoft.com/office/drawing/2014/main" id="{40EE687C-0C62-5BC6-1E2B-44EEF2A9803B}"/>
              </a:ext>
            </a:extLst>
          </p:cNvPr>
          <p:cNvSpPr/>
          <p:nvPr/>
        </p:nvSpPr>
        <p:spPr>
          <a:xfrm flipH="1">
            <a:off x="5206679" y="706889"/>
            <a:ext cx="2175633" cy="237242"/>
          </a:xfrm>
          <a:prstGeom prst="round1Rect">
            <a:avLst>
              <a:gd name="adj" fmla="val 29570"/>
            </a:avLst>
          </a:prstGeom>
          <a:solidFill>
            <a:srgbClr val="154B8C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783">
              <a:defRPr/>
            </a:pPr>
            <a:r>
              <a:rPr lang="en-US" sz="1100" b="1" dirty="0">
                <a:solidFill>
                  <a:prstClr val="white"/>
                </a:solidFill>
              </a:rPr>
              <a:t>TCS Solution</a:t>
            </a:r>
          </a:p>
        </p:txBody>
      </p:sp>
      <p:sp>
        <p:nvSpPr>
          <p:cNvPr id="12" name="Rounded Rectangle 24">
            <a:extLst>
              <a:ext uri="{FF2B5EF4-FFF2-40B4-BE49-F238E27FC236}">
                <a16:creationId xmlns:a16="http://schemas.microsoft.com/office/drawing/2014/main" id="{44EA5FE6-7143-93DD-EC98-6C8171ECEF86}"/>
              </a:ext>
            </a:extLst>
          </p:cNvPr>
          <p:cNvSpPr/>
          <p:nvPr/>
        </p:nvSpPr>
        <p:spPr>
          <a:xfrm>
            <a:off x="5206678" y="1000305"/>
            <a:ext cx="3864452" cy="407269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 w="9525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914378">
              <a:buClr>
                <a:srgbClr val="000000"/>
              </a:buClr>
            </a:pPr>
            <a:r>
              <a:rPr lang="en-GB" sz="750" b="1" kern="0" dirty="0">
                <a:solidFill>
                  <a:srgbClr val="000000"/>
                </a:solidFill>
                <a:latin typeface="+mj-lt"/>
                <a:cs typeface="Arial"/>
                <a:sym typeface="Arial"/>
              </a:rPr>
              <a:t>CyberArk Deployment</a:t>
            </a:r>
            <a:endParaRPr lang="en-GB" sz="750" kern="0" dirty="0">
              <a:solidFill>
                <a:srgbClr val="000000"/>
              </a:solidFill>
              <a:latin typeface="+mj-lt"/>
              <a:cs typeface="Arial"/>
              <a:sym typeface="Arial"/>
            </a:endParaRPr>
          </a:p>
          <a:p>
            <a:pPr marL="128588" indent="-128588" defTabSz="914378"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750" kern="0" dirty="0">
                <a:solidFill>
                  <a:srgbClr val="000000"/>
                </a:solidFill>
                <a:latin typeface="+mj-lt"/>
                <a:cs typeface="Arial"/>
                <a:sym typeface="Arial"/>
              </a:rPr>
              <a:t>Defined and documented network, hardware, software requirements, and third-party integration requirements to deploy Privilege Cloud.</a:t>
            </a:r>
          </a:p>
          <a:p>
            <a:pPr marL="128588" indent="-128588" defTabSz="914378"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750" kern="0" dirty="0">
                <a:solidFill>
                  <a:srgbClr val="000000"/>
                </a:solidFill>
                <a:latin typeface="+mj-lt"/>
                <a:cs typeface="Arial"/>
                <a:sym typeface="Arial"/>
              </a:rPr>
              <a:t>Define and document solution design architecture with respect to the regional requirement. </a:t>
            </a:r>
          </a:p>
          <a:p>
            <a:pPr marL="128588" indent="-128588" defTabSz="914378"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750" kern="0" dirty="0">
                <a:solidFill>
                  <a:srgbClr val="000000"/>
                </a:solidFill>
                <a:latin typeface="+mj-lt"/>
                <a:cs typeface="Arial"/>
                <a:sym typeface="Arial"/>
              </a:rPr>
              <a:t>Performed deployment of CyberArk Privilege Cloud Connectors in environment.</a:t>
            </a:r>
          </a:p>
          <a:p>
            <a:pPr marL="128588" indent="-128588" defTabSz="914378"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750" kern="0" dirty="0">
                <a:solidFill>
                  <a:srgbClr val="000000"/>
                </a:solidFill>
                <a:latin typeface="+mj-lt"/>
                <a:cs typeface="Arial"/>
                <a:sym typeface="Arial"/>
              </a:rPr>
              <a:t>Integrated Privileged Cloud with global Active Directory instances and multi-factor authentication solutions.</a:t>
            </a:r>
          </a:p>
          <a:p>
            <a:pPr marL="128588" indent="-128588" defTabSz="914378"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750" kern="0" dirty="0">
                <a:solidFill>
                  <a:srgbClr val="000000"/>
                </a:solidFill>
                <a:latin typeface="+mj-lt"/>
                <a:cs typeface="Arial"/>
                <a:sym typeface="Arial"/>
              </a:rPr>
              <a:t>Integrated Privileged Cloud with global SIEM for log forwarding, monitoring, and alerting.</a:t>
            </a:r>
          </a:p>
          <a:p>
            <a:pPr marL="128588" indent="-128588" defTabSz="914378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GB" sz="750" kern="0" dirty="0">
              <a:solidFill>
                <a:srgbClr val="000000"/>
              </a:solidFill>
              <a:latin typeface="+mj-lt"/>
              <a:cs typeface="Arial"/>
              <a:sym typeface="Arial"/>
            </a:endParaRPr>
          </a:p>
          <a:p>
            <a:pPr defTabSz="914378">
              <a:buClr>
                <a:srgbClr val="000000"/>
              </a:buClr>
            </a:pPr>
            <a:r>
              <a:rPr lang="en-GB" sz="750" b="1" kern="0" dirty="0">
                <a:solidFill>
                  <a:srgbClr val="000000"/>
                </a:solidFill>
                <a:latin typeface="+mj-lt"/>
                <a:cs typeface="Arial"/>
                <a:sym typeface="Arial"/>
              </a:rPr>
              <a:t>Accounts Discovery &amp; Onboarding</a:t>
            </a:r>
            <a:endParaRPr lang="en-GB" sz="750" kern="0" dirty="0">
              <a:solidFill>
                <a:srgbClr val="000000"/>
              </a:solidFill>
              <a:latin typeface="+mj-lt"/>
              <a:cs typeface="Arial"/>
              <a:sym typeface="Arial"/>
            </a:endParaRPr>
          </a:p>
          <a:p>
            <a:pPr marL="137156" lvl="1" indent="-123949" defTabSz="914378">
              <a:buClr>
                <a:srgbClr val="000000"/>
              </a:buClr>
              <a:buSzPts val="800"/>
              <a:buFont typeface="Arial"/>
              <a:buChar char="●"/>
            </a:pPr>
            <a:r>
              <a:rPr lang="en-GB" sz="750" kern="0" dirty="0">
                <a:solidFill>
                  <a:srgbClr val="000000"/>
                </a:solidFill>
                <a:latin typeface="+mj-lt"/>
                <a:cs typeface="Arial"/>
                <a:sym typeface="Arial"/>
              </a:rPr>
              <a:t>Discovered and prioritized the onboarding of Tier 1 and Tier 2 accounts (</a:t>
            </a:r>
            <a:r>
              <a:rPr lang="en-GB" sz="750" i="1" kern="0" dirty="0">
                <a:solidFill>
                  <a:srgbClr val="000000"/>
                </a:solidFill>
                <a:latin typeface="+mj-lt"/>
                <a:cs typeface="Arial"/>
                <a:sym typeface="Arial"/>
              </a:rPr>
              <a:t>enterprise, domain, cloud admin accounts</a:t>
            </a:r>
            <a:r>
              <a:rPr lang="en-GB" sz="750" kern="0" dirty="0">
                <a:solidFill>
                  <a:srgbClr val="000000"/>
                </a:solidFill>
                <a:latin typeface="+mj-lt"/>
                <a:cs typeface="Arial"/>
                <a:sym typeface="Arial"/>
              </a:rPr>
              <a:t>) within each region through a combination of discovery scans and questionnaire templates. </a:t>
            </a:r>
          </a:p>
          <a:p>
            <a:pPr marL="137156" lvl="1" indent="-123949" defTabSz="914378">
              <a:buClr>
                <a:srgbClr val="000000"/>
              </a:buClr>
              <a:buSzPts val="800"/>
              <a:buFont typeface="Arial"/>
              <a:buChar char="●"/>
            </a:pPr>
            <a:r>
              <a:rPr lang="en-GB" sz="750" kern="0" dirty="0">
                <a:solidFill>
                  <a:srgbClr val="000000"/>
                </a:solidFill>
                <a:latin typeface="+mj-lt"/>
                <a:cs typeface="Arial"/>
                <a:sym typeface="Arial"/>
              </a:rPr>
              <a:t>Prepared automated onboarding templates and scripts, socialize upcoming changes with key stakeholders, and establish organizational change management processes to facilitate onboarding of accounts.</a:t>
            </a:r>
          </a:p>
          <a:p>
            <a:pPr marL="137156" lvl="1" indent="-123949" defTabSz="914378">
              <a:buClr>
                <a:srgbClr val="000000"/>
              </a:buClr>
              <a:buSzPts val="800"/>
              <a:buFont typeface="Arial"/>
              <a:buChar char="●"/>
            </a:pPr>
            <a:endParaRPr lang="en-GB" sz="750" b="1" kern="0" dirty="0">
              <a:solidFill>
                <a:srgbClr val="000000"/>
              </a:solidFill>
              <a:latin typeface="+mj-lt"/>
              <a:cs typeface="Arial"/>
              <a:sym typeface="Arial"/>
            </a:endParaRPr>
          </a:p>
          <a:p>
            <a:pPr defTabSz="914378">
              <a:buClr>
                <a:srgbClr val="000000"/>
              </a:buClr>
            </a:pPr>
            <a:r>
              <a:rPr lang="en-GB" sz="750" b="1" kern="0" dirty="0">
                <a:solidFill>
                  <a:srgbClr val="000000"/>
                </a:solidFill>
                <a:latin typeface="+mj-lt"/>
                <a:cs typeface="Arial"/>
                <a:sym typeface="Arial"/>
              </a:rPr>
              <a:t>COE Build and Operationalization</a:t>
            </a:r>
          </a:p>
          <a:p>
            <a:pPr marL="137156" lvl="1" indent="-123949" defTabSz="914378">
              <a:buClr>
                <a:srgbClr val="000000"/>
              </a:buClr>
              <a:buSzPts val="800"/>
              <a:buFont typeface="Arial"/>
              <a:buChar char="●"/>
            </a:pPr>
            <a:r>
              <a:rPr lang="en-GB" sz="750" kern="0" dirty="0">
                <a:solidFill>
                  <a:srgbClr val="000000"/>
                </a:solidFill>
                <a:latin typeface="+mj-lt"/>
                <a:cs typeface="Arial"/>
                <a:sym typeface="Arial"/>
              </a:rPr>
              <a:t>Established privileged account intake processes, Global PAM support queues, and issue management processes across global regions.</a:t>
            </a:r>
          </a:p>
          <a:p>
            <a:pPr marL="137156" lvl="1" indent="-123949" defTabSz="914378">
              <a:buClr>
                <a:srgbClr val="000000"/>
              </a:buClr>
              <a:buSzPts val="800"/>
              <a:buFont typeface="Arial"/>
              <a:buChar char="●"/>
            </a:pPr>
            <a:r>
              <a:rPr lang="en-GB" sz="750" kern="0" dirty="0">
                <a:solidFill>
                  <a:srgbClr val="000000"/>
                </a:solidFill>
                <a:latin typeface="+mj-lt"/>
                <a:cs typeface="Arial"/>
                <a:sym typeface="Arial"/>
              </a:rPr>
              <a:t>Established automated processes to continuously onboard net new privileged accounts.</a:t>
            </a:r>
          </a:p>
          <a:p>
            <a:pPr marL="137156" lvl="1" indent="-123949" defTabSz="914378">
              <a:buClr>
                <a:srgbClr val="000000"/>
              </a:buClr>
              <a:buSzPts val="800"/>
              <a:buFont typeface="Arial"/>
              <a:buChar char="●"/>
            </a:pPr>
            <a:r>
              <a:rPr lang="en-GB" sz="750" kern="0" dirty="0">
                <a:solidFill>
                  <a:srgbClr val="000000"/>
                </a:solidFill>
                <a:latin typeface="+mj-lt"/>
                <a:cs typeface="Arial"/>
                <a:sym typeface="Arial"/>
              </a:rPr>
              <a:t>Develop training content, guides, and QRCs to create end-user awareness on new processes, capabilities, and support resources.</a:t>
            </a:r>
          </a:p>
          <a:p>
            <a:pPr marL="137156" lvl="1" indent="-123949" defTabSz="914378">
              <a:buClr>
                <a:srgbClr val="000000"/>
              </a:buClr>
              <a:buSzPts val="800"/>
              <a:buFont typeface="Arial"/>
              <a:buChar char="●"/>
            </a:pPr>
            <a:r>
              <a:rPr lang="en-GB" sz="750" kern="0" dirty="0">
                <a:solidFill>
                  <a:srgbClr val="000000"/>
                </a:solidFill>
                <a:latin typeface="+mj-lt"/>
                <a:cs typeface="Arial"/>
                <a:sym typeface="Arial"/>
              </a:rPr>
              <a:t>Develop operational runbooks to enable the Global PAM Operations team to support end-users to address queries, requests, and issues.</a:t>
            </a:r>
          </a:p>
          <a:p>
            <a:pPr marL="137156" lvl="1" indent="-123949" defTabSz="914378">
              <a:buClr>
                <a:srgbClr val="000000"/>
              </a:buClr>
              <a:buSzPts val="800"/>
              <a:buFont typeface="Arial"/>
              <a:buChar char="●"/>
            </a:pPr>
            <a:endParaRPr lang="en-GB" sz="750" kern="0" dirty="0">
              <a:solidFill>
                <a:srgbClr val="000000"/>
              </a:solidFill>
              <a:latin typeface="+mj-lt"/>
              <a:cs typeface="Arial"/>
              <a:sym typeface="Arial"/>
            </a:endParaRPr>
          </a:p>
          <a:p>
            <a:pPr defTabSz="914378">
              <a:buClr>
                <a:srgbClr val="000000"/>
              </a:buClr>
              <a:buSzPts val="1100"/>
            </a:pPr>
            <a:r>
              <a:rPr lang="en-GB" sz="750" b="1" kern="0" dirty="0">
                <a:solidFill>
                  <a:srgbClr val="000000"/>
                </a:solidFill>
                <a:latin typeface="+mj-lt"/>
                <a:cs typeface="Arial"/>
                <a:sym typeface="Arial"/>
              </a:rPr>
              <a:t>Service Account Discovery &amp; Onboarding</a:t>
            </a:r>
            <a:endParaRPr lang="en-GB" sz="750" kern="0" dirty="0">
              <a:solidFill>
                <a:srgbClr val="000000"/>
              </a:solidFill>
              <a:latin typeface="+mj-lt"/>
              <a:cs typeface="Arial"/>
              <a:sym typeface="Arial"/>
            </a:endParaRPr>
          </a:p>
          <a:p>
            <a:pPr marL="93660" indent="-87310" defTabSz="914378">
              <a:lnSpc>
                <a:spcPct val="115000"/>
              </a:lnSpc>
              <a:buClr>
                <a:srgbClr val="000000"/>
              </a:buClr>
              <a:buSzPts val="800"/>
              <a:buFont typeface="Arial"/>
              <a:buChar char="●"/>
            </a:pPr>
            <a:r>
              <a:rPr lang="en-GB" sz="750" kern="0" dirty="0">
                <a:solidFill>
                  <a:srgbClr val="000000"/>
                </a:solidFill>
                <a:latin typeface="+mj-lt"/>
                <a:cs typeface="Arial"/>
                <a:sym typeface="Arial"/>
              </a:rPr>
              <a:t>Conducted service account deep dives with all the critical application owners</a:t>
            </a:r>
          </a:p>
          <a:p>
            <a:pPr marL="93660" indent="-87310" defTabSz="914378">
              <a:lnSpc>
                <a:spcPct val="115000"/>
              </a:lnSpc>
              <a:buClr>
                <a:srgbClr val="000000"/>
              </a:buClr>
              <a:buSzPts val="800"/>
              <a:buFont typeface="Arial"/>
              <a:buChar char="●"/>
            </a:pPr>
            <a:r>
              <a:rPr lang="en-GB" sz="750" kern="0" dirty="0">
                <a:solidFill>
                  <a:srgbClr val="000000"/>
                </a:solidFill>
                <a:latin typeface="+mj-lt"/>
                <a:cs typeface="Arial"/>
                <a:sym typeface="Arial"/>
              </a:rPr>
              <a:t>Categorized accounts based on need for custom development involved in order to enable credential management.</a:t>
            </a:r>
          </a:p>
          <a:p>
            <a:pPr marL="93660" indent="-87310" defTabSz="914378">
              <a:lnSpc>
                <a:spcPct val="115000"/>
              </a:lnSpc>
              <a:buClr>
                <a:srgbClr val="000000"/>
              </a:buClr>
              <a:buSzPts val="800"/>
              <a:buFont typeface="Arial"/>
              <a:buChar char="●"/>
            </a:pPr>
            <a:r>
              <a:rPr lang="en-GB" sz="750" kern="0" dirty="0">
                <a:solidFill>
                  <a:srgbClr val="000000"/>
                </a:solidFill>
                <a:latin typeface="+mj-lt"/>
                <a:cs typeface="Arial"/>
                <a:sym typeface="Arial"/>
              </a:rPr>
              <a:t>Developed onboarding, integration plan, and testing plans. </a:t>
            </a:r>
          </a:p>
          <a:p>
            <a:pPr marL="93660" indent="-87310" defTabSz="914378">
              <a:lnSpc>
                <a:spcPct val="115000"/>
              </a:lnSpc>
              <a:buClr>
                <a:srgbClr val="000000"/>
              </a:buClr>
              <a:buSzPts val="800"/>
              <a:buFont typeface="Arial"/>
              <a:buChar char="●"/>
            </a:pPr>
            <a:r>
              <a:rPr lang="en-GB" sz="750" kern="0" dirty="0">
                <a:solidFill>
                  <a:srgbClr val="000000"/>
                </a:solidFill>
                <a:latin typeface="+mj-lt"/>
                <a:cs typeface="Arial"/>
                <a:sym typeface="Arial"/>
              </a:rPr>
              <a:t>Conducted account functionality and access validation post credential management being enabled. </a:t>
            </a:r>
          </a:p>
          <a:p>
            <a:pPr marL="137156" lvl="1" indent="-123949" defTabSz="914378">
              <a:buClr>
                <a:srgbClr val="000000"/>
              </a:buClr>
              <a:buSzPts val="800"/>
              <a:buFont typeface="Arial"/>
              <a:buChar char="●"/>
            </a:pPr>
            <a:endParaRPr lang="en-GB" sz="750" kern="0" dirty="0">
              <a:solidFill>
                <a:srgbClr val="000000"/>
              </a:solidFill>
              <a:latin typeface="+mj-lt"/>
              <a:cs typeface="Arial"/>
              <a:sym typeface="Arial"/>
            </a:endParaRPr>
          </a:p>
        </p:txBody>
      </p:sp>
      <p:sp>
        <p:nvSpPr>
          <p:cNvPr id="16" name="Round Single Corner Rectangle 16">
            <a:extLst>
              <a:ext uri="{FF2B5EF4-FFF2-40B4-BE49-F238E27FC236}">
                <a16:creationId xmlns:a16="http://schemas.microsoft.com/office/drawing/2014/main" id="{2EC14F93-43E6-7127-2DF8-8E07E2D2A029}"/>
              </a:ext>
            </a:extLst>
          </p:cNvPr>
          <p:cNvSpPr/>
          <p:nvPr/>
        </p:nvSpPr>
        <p:spPr>
          <a:xfrm flipH="1">
            <a:off x="72870" y="3615393"/>
            <a:ext cx="2340598" cy="237242"/>
          </a:xfrm>
          <a:prstGeom prst="round1Rect">
            <a:avLst>
              <a:gd name="adj" fmla="val 29570"/>
            </a:avLst>
          </a:prstGeom>
          <a:solidFill>
            <a:srgbClr val="154B8C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783">
              <a:defRPr/>
            </a:pPr>
            <a:r>
              <a:rPr lang="en-US" sz="1100" b="1" dirty="0">
                <a:solidFill>
                  <a:prstClr val="white"/>
                </a:solidFill>
              </a:rPr>
              <a:t>Benefits </a:t>
            </a:r>
          </a:p>
        </p:txBody>
      </p:sp>
      <p:sp>
        <p:nvSpPr>
          <p:cNvPr id="17" name="Rounded Rectangle 24">
            <a:extLst>
              <a:ext uri="{FF2B5EF4-FFF2-40B4-BE49-F238E27FC236}">
                <a16:creationId xmlns:a16="http://schemas.microsoft.com/office/drawing/2014/main" id="{2A3B5D9B-55A3-3229-2C37-9568B55669DD}"/>
              </a:ext>
            </a:extLst>
          </p:cNvPr>
          <p:cNvSpPr/>
          <p:nvPr/>
        </p:nvSpPr>
        <p:spPr>
          <a:xfrm>
            <a:off x="61204" y="3867283"/>
            <a:ext cx="5080766" cy="1154543"/>
          </a:xfrm>
          <a:prstGeom prst="roundRect">
            <a:avLst>
              <a:gd name="adj" fmla="val 5426"/>
            </a:avLst>
          </a:prstGeom>
          <a:solidFill>
            <a:schemeClr val="bg1"/>
          </a:solidFill>
          <a:ln w="9525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4313" indent="-214313" fontAlgn="base"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en-GB" sz="1050" dirty="0">
                <a:solidFill>
                  <a:schemeClr val="tx1"/>
                </a:solidFill>
              </a:rPr>
              <a:t>Deployed PAM solution to 12 sites and ten countries</a:t>
            </a:r>
          </a:p>
          <a:p>
            <a:pPr marL="214313" indent="-214313" defTabSz="685800" fontAlgn="base"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en-GB" sz="1050" dirty="0">
                <a:solidFill>
                  <a:schemeClr val="tx1"/>
                </a:solidFill>
              </a:rPr>
              <a:t>Protects 20,000 global privileged accounts without impacting global operations.</a:t>
            </a:r>
          </a:p>
          <a:p>
            <a:pPr marL="214313" indent="-214313" defTabSz="685800" fontAlgn="base"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en-GB" sz="1050" dirty="0">
                <a:solidFill>
                  <a:schemeClr val="tx1"/>
                </a:solidFill>
              </a:rPr>
              <a:t>Passwords are regularly rotated and hidden from users.</a:t>
            </a:r>
          </a:p>
          <a:p>
            <a:pPr marL="214313" indent="-214313" defTabSz="685800" fontAlgn="base"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en-GB" sz="1050" dirty="0">
                <a:solidFill>
                  <a:schemeClr val="tx1"/>
                </a:solidFill>
              </a:rPr>
              <a:t>Consolidates global privileged access onto a single platform</a:t>
            </a:r>
          </a:p>
          <a:p>
            <a:pPr marL="214313" indent="-214313" defTabSz="685800" fontAlgn="base"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en-GB" sz="1050" dirty="0">
                <a:solidFill>
                  <a:schemeClr val="tx1"/>
                </a:solidFill>
              </a:rPr>
              <a:t>Leverages a single solution for a complex hybrid and multi-cloud environment for human and non-human identities</a:t>
            </a:r>
            <a:endParaRPr lang="en-US" sz="1050" dirty="0">
              <a:solidFill>
                <a:srgbClr val="000000"/>
              </a:solidFill>
            </a:endParaRPr>
          </a:p>
        </p:txBody>
      </p:sp>
      <p:sp>
        <p:nvSpPr>
          <p:cNvPr id="4" name="Title 1">
            <a:hlinkClick r:id="" action="ppaction://noaction"/>
            <a:extLst>
              <a:ext uri="{FF2B5EF4-FFF2-40B4-BE49-F238E27FC236}">
                <a16:creationId xmlns:a16="http://schemas.microsoft.com/office/drawing/2014/main" id="{5A5A9048-08B9-F586-7292-0B6EDA4DF58A}"/>
              </a:ext>
            </a:extLst>
          </p:cNvPr>
          <p:cNvSpPr>
            <a:spLocks noGrp="1"/>
          </p:cNvSpPr>
          <p:nvPr/>
        </p:nvSpPr>
        <p:spPr>
          <a:xfrm>
            <a:off x="67926" y="-92061"/>
            <a:ext cx="8963634" cy="584356"/>
          </a:xfrm>
          <a:prstGeom prst="rect">
            <a:avLst/>
          </a:prstGeom>
        </p:spPr>
        <p:txBody>
          <a:bodyPr vert="horz" wrap="square" lIns="51435" tIns="25718" rIns="51435" bIns="25718" rtlCol="0" anchor="ctr">
            <a:normAutofit fontScale="97500"/>
          </a:bodyPr>
          <a:lstStyle>
            <a:lvl1pPr eaLnBrk="1" hangingPunct="1">
              <a:defRPr lang="en-US" sz="2800" b="0" kern="0" baseline="0" dirty="0">
                <a:solidFill>
                  <a:srgbClr val="F0378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 dirty="0">
                <a:solidFill>
                  <a:srgbClr val="4E84C4"/>
                </a:solidFill>
              </a:rPr>
              <a:t>PAM Case Study A Leading Global Tier Manufacturing Company</a:t>
            </a:r>
            <a:r>
              <a:rPr lang="en-US" sz="2100" dirty="0">
                <a:solidFill>
                  <a:sysClr val="windowText" lastClr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	</a:t>
            </a:r>
            <a:endParaRPr lang="en-US" sz="750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hlinkClick r:id="" action="ppaction://noaction"/>
            <a:extLst>
              <a:ext uri="{FF2B5EF4-FFF2-40B4-BE49-F238E27FC236}">
                <a16:creationId xmlns:a16="http://schemas.microsoft.com/office/drawing/2014/main" id="{9EE7F0E5-A574-53C5-9BA3-9A1B63CBDD05}"/>
              </a:ext>
            </a:extLst>
          </p:cNvPr>
          <p:cNvSpPr/>
          <p:nvPr/>
        </p:nvSpPr>
        <p:spPr>
          <a:xfrm flipH="1">
            <a:off x="8722269" y="70506"/>
            <a:ext cx="315436" cy="291446"/>
          </a:xfrm>
          <a:prstGeom prst="roundRect">
            <a:avLst>
              <a:gd name="adj" fmla="val 11765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01600" h="101600"/>
            <a:bevelB w="114300" h="1143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5535">
              <a:defRPr/>
            </a:pPr>
            <a:endParaRPr lang="en-IN" sz="1600" dirty="0">
              <a:solidFill>
                <a:srgbClr val="FFFFFF"/>
              </a:solidFill>
              <a:latin typeface="Calibri" panose="020F0502020204030204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4DFF8C0-55D2-4B8E-62CE-5024BF631B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8773638" y="120977"/>
            <a:ext cx="212698" cy="18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485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D1B53-386E-ECF6-C236-D0E53A55F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E45BE3-7AA9-0CF4-D531-6B4393F5FA4F}"/>
              </a:ext>
            </a:extLst>
          </p:cNvPr>
          <p:cNvSpPr txBox="1"/>
          <p:nvPr/>
        </p:nvSpPr>
        <p:spPr>
          <a:xfrm>
            <a:off x="161508" y="519784"/>
            <a:ext cx="9129247" cy="423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38"/>
              </a:spcBef>
              <a:spcAft>
                <a:spcPts val="563"/>
              </a:spcAft>
            </a:pPr>
            <a:r>
              <a:rPr lang="en-GB" sz="1600" b="1" dirty="0">
                <a:solidFill>
                  <a:srgbClr val="4E84C4"/>
                </a:solidFill>
                <a:latin typeface="+mj-lt"/>
                <a:cs typeface="Arial" panose="020B0604020202020204" pitchFamily="34" charset="0"/>
              </a:rPr>
              <a:t>Company Profile:</a:t>
            </a:r>
          </a:p>
          <a:p>
            <a:pPr>
              <a:spcAft>
                <a:spcPts val="450"/>
              </a:spcAft>
            </a:pPr>
            <a:r>
              <a:rPr lang="en-GB" sz="1200" b="1" dirty="0">
                <a:solidFill>
                  <a:srgbClr val="4E84C4"/>
                </a:solidFill>
                <a:latin typeface="+mj-lt"/>
                <a:cs typeface="Arial" panose="020B0604020202020204" pitchFamily="34" charset="0"/>
              </a:rPr>
              <a:t>Industry</a:t>
            </a:r>
            <a:r>
              <a:rPr lang="en-GB" sz="1200" dirty="0">
                <a:solidFill>
                  <a:srgbClr val="424242"/>
                </a:solidFill>
                <a:latin typeface="+mj-lt"/>
                <a:cs typeface="Arial" panose="020B0604020202020204" pitchFamily="34" charset="0"/>
              </a:rPr>
              <a:t>: Manufacturing</a:t>
            </a:r>
          </a:p>
          <a:p>
            <a:pPr>
              <a:spcAft>
                <a:spcPts val="450"/>
              </a:spcAft>
            </a:pPr>
            <a:r>
              <a:rPr lang="en-GB" sz="1200" b="1" dirty="0">
                <a:solidFill>
                  <a:srgbClr val="4E84C4"/>
                </a:solidFill>
                <a:latin typeface="+mj-lt"/>
                <a:cs typeface="Arial" panose="020B0604020202020204" pitchFamily="34" charset="0"/>
              </a:rPr>
              <a:t>Annual Revenue</a:t>
            </a:r>
            <a:r>
              <a:rPr lang="en-GB" sz="1200" dirty="0">
                <a:solidFill>
                  <a:srgbClr val="424242"/>
                </a:solidFill>
                <a:latin typeface="+mj-lt"/>
                <a:cs typeface="Arial" panose="020B0604020202020204" pitchFamily="34" charset="0"/>
              </a:rPr>
              <a:t>: USD 37.45 billion (Worldwide)</a:t>
            </a:r>
          </a:p>
          <a:p>
            <a:pPr>
              <a:spcAft>
                <a:spcPts val="450"/>
              </a:spcAft>
            </a:pPr>
            <a:r>
              <a:rPr lang="en-GB" sz="1200" b="1" dirty="0">
                <a:solidFill>
                  <a:srgbClr val="4E84C4"/>
                </a:solidFill>
                <a:latin typeface="+mj-lt"/>
                <a:cs typeface="Arial" panose="020B0604020202020204" pitchFamily="34" charset="0"/>
              </a:rPr>
              <a:t>Employees</a:t>
            </a:r>
            <a:r>
              <a:rPr lang="en-GB" sz="1200" dirty="0">
                <a:solidFill>
                  <a:srgbClr val="424242"/>
                </a:solidFill>
                <a:latin typeface="+mj-lt"/>
                <a:cs typeface="Arial" panose="020B0604020202020204" pitchFamily="34" charset="0"/>
              </a:rPr>
              <a:t>: 1,30,000</a:t>
            </a:r>
          </a:p>
          <a:p>
            <a:pPr>
              <a:spcBef>
                <a:spcPts val="338"/>
              </a:spcBef>
              <a:spcAft>
                <a:spcPts val="563"/>
              </a:spcAft>
            </a:pPr>
            <a:r>
              <a:rPr lang="en-GB" sz="1200" b="1" dirty="0">
                <a:solidFill>
                  <a:srgbClr val="4E84C4"/>
                </a:solidFill>
                <a:latin typeface="+mj-lt"/>
                <a:cs typeface="Arial" panose="020B0604020202020204" pitchFamily="34" charset="0"/>
              </a:rPr>
              <a:t>Challenges</a:t>
            </a:r>
            <a:r>
              <a:rPr lang="en-GB" sz="1200" b="1" dirty="0">
                <a:solidFill>
                  <a:srgbClr val="424242"/>
                </a:solidFill>
                <a:latin typeface="+mj-lt"/>
                <a:cs typeface="Arial" panose="020B0604020202020204" pitchFamily="34" charset="0"/>
              </a:rPr>
              <a:t>:</a:t>
            </a:r>
          </a:p>
          <a:p>
            <a:pPr lvl="1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424242"/>
                </a:solidFill>
                <a:latin typeface="+mj-lt"/>
                <a:cs typeface="Arial" panose="020B0604020202020204" pitchFamily="34" charset="0"/>
              </a:rPr>
              <a:t>Managing the widespread proliferation of privileged credentials.</a:t>
            </a:r>
          </a:p>
          <a:p>
            <a:pPr lvl="1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424242"/>
                </a:solidFill>
                <a:latin typeface="+mj-lt"/>
                <a:cs typeface="Arial" panose="020B0604020202020204" pitchFamily="34" charset="0"/>
              </a:rPr>
              <a:t>Reducing the number of privileged entitlements throughout the environment.</a:t>
            </a:r>
          </a:p>
          <a:p>
            <a:pPr lvl="1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424242"/>
                </a:solidFill>
                <a:latin typeface="+mj-lt"/>
                <a:cs typeface="Arial" panose="020B0604020202020204" pitchFamily="34" charset="0"/>
              </a:rPr>
              <a:t>Ensuring governance and segregation of duties to manage privileged access effectively.</a:t>
            </a:r>
          </a:p>
          <a:p>
            <a:pPr>
              <a:spcBef>
                <a:spcPts val="338"/>
              </a:spcBef>
              <a:spcAft>
                <a:spcPts val="563"/>
              </a:spcAft>
            </a:pPr>
            <a:r>
              <a:rPr lang="en-GB" sz="1200" b="1" dirty="0">
                <a:solidFill>
                  <a:srgbClr val="4E84C4"/>
                </a:solidFill>
                <a:latin typeface="+mj-lt"/>
                <a:cs typeface="Arial" panose="020B0604020202020204" pitchFamily="34" charset="0"/>
              </a:rPr>
              <a:t>Solutions</a:t>
            </a:r>
            <a:r>
              <a:rPr lang="en-GB" sz="1200" b="1" dirty="0">
                <a:solidFill>
                  <a:srgbClr val="424242"/>
                </a:solidFill>
                <a:latin typeface="+mj-lt"/>
                <a:cs typeface="Arial" panose="020B0604020202020204" pitchFamily="34" charset="0"/>
              </a:rPr>
              <a:t>:</a:t>
            </a:r>
          </a:p>
          <a:p>
            <a:pPr lvl="1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424242"/>
                </a:solidFill>
                <a:latin typeface="+mj-lt"/>
                <a:cs typeface="Arial" panose="020B0604020202020204" pitchFamily="34" charset="0"/>
              </a:rPr>
              <a:t>CyberArk PAM was deployed to gain visibility and control across user accounts.</a:t>
            </a:r>
          </a:p>
          <a:p>
            <a:pPr lvl="1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424242"/>
                </a:solidFill>
                <a:latin typeface="+mj-lt"/>
                <a:cs typeface="Arial" panose="020B0604020202020204" pitchFamily="34" charset="0"/>
              </a:rPr>
              <a:t>Role-based access security was designed with the principle of least privilege. Just in Time access was also enabled. </a:t>
            </a:r>
          </a:p>
          <a:p>
            <a:pPr lvl="1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424242"/>
                </a:solidFill>
                <a:latin typeface="+mj-lt"/>
                <a:cs typeface="Arial" panose="020B0604020202020204" pitchFamily="34" charset="0"/>
              </a:rPr>
              <a:t>Stakeholders identified the company's most critical data and highest risk applications to prioritize the rollout of privileged access controls.</a:t>
            </a:r>
          </a:p>
          <a:p>
            <a:pPr>
              <a:spcBef>
                <a:spcPts val="338"/>
              </a:spcBef>
              <a:spcAft>
                <a:spcPts val="563"/>
              </a:spcAft>
            </a:pPr>
            <a:r>
              <a:rPr lang="en-GB" sz="1200" b="1" dirty="0">
                <a:solidFill>
                  <a:srgbClr val="4E84C4"/>
                </a:solidFill>
                <a:latin typeface="+mj-lt"/>
                <a:cs typeface="Arial" panose="020B0604020202020204" pitchFamily="34" charset="0"/>
              </a:rPr>
              <a:t>Results</a:t>
            </a:r>
            <a:r>
              <a:rPr lang="en-GB" sz="1200" dirty="0">
                <a:solidFill>
                  <a:srgbClr val="424242"/>
                </a:solidFill>
                <a:latin typeface="+mj-lt"/>
                <a:cs typeface="Arial" panose="020B0604020202020204" pitchFamily="34" charset="0"/>
              </a:rPr>
              <a:t>:</a:t>
            </a:r>
          </a:p>
          <a:p>
            <a:pPr lvl="1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424242"/>
                </a:solidFill>
                <a:latin typeface="+mj-lt"/>
                <a:cs typeface="Arial" panose="020B0604020202020204" pitchFamily="34" charset="0"/>
              </a:rPr>
              <a:t>Enhanced control over privileged accounts.</a:t>
            </a:r>
          </a:p>
          <a:p>
            <a:pPr lvl="1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424242"/>
                </a:solidFill>
                <a:latin typeface="+mj-lt"/>
                <a:cs typeface="Arial" panose="020B0604020202020204" pitchFamily="34" charset="0"/>
              </a:rPr>
              <a:t>Improved security posture by mitigating risks associated with privileged credentials.</a:t>
            </a:r>
          </a:p>
          <a:p>
            <a:pPr lvl="1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424242"/>
                </a:solidFill>
                <a:latin typeface="+mj-lt"/>
                <a:cs typeface="Arial" panose="020B0604020202020204" pitchFamily="34" charset="0"/>
              </a:rPr>
              <a:t>Successful collaboration with stakeholders to implement role-based access controls.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CEFEA1-F442-592A-FDB2-ADC17C8D76F0}"/>
              </a:ext>
            </a:extLst>
          </p:cNvPr>
          <p:cNvSpPr txBox="1"/>
          <p:nvPr/>
        </p:nvSpPr>
        <p:spPr>
          <a:xfrm>
            <a:off x="203760" y="104286"/>
            <a:ext cx="854281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3"/>
              </a:spcBef>
              <a:spcAft>
                <a:spcPts val="338"/>
              </a:spcAft>
            </a:pPr>
            <a:r>
              <a:rPr lang="en-GB" sz="2100" kern="0" dirty="0">
                <a:solidFill>
                  <a:srgbClr val="4E84C4"/>
                </a:solidFill>
                <a:latin typeface="+mj-lt"/>
                <a:ea typeface="+mj-ea"/>
                <a:cs typeface="+mj-cs"/>
              </a:rPr>
              <a:t>Case Study: Tyre Manufacturer Implements CyberArk PAM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52F8DC-71E8-2C43-8A69-CF73DBE92A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156723" y="3648734"/>
            <a:ext cx="825768" cy="94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2000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751402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 Slide_White_with color logo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E84C4"/>
        </a:solidFill>
        <a:ln>
          <a:noFill/>
        </a:ln>
      </a:spPr>
      <a:bodyPr rtlCol="0" anchor="ctr"/>
      <a:lstStyle>
        <a:defPPr algn="ctr"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4E84C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C9422EB1-8113-4666-82F6-00D163C9C56B}"/>
    </a:ext>
  </a:extLst>
</a:theme>
</file>

<file path=ppt/theme/theme2.xml><?xml version="1.0" encoding="utf-8"?>
<a:theme xmlns:a="http://schemas.openxmlformats.org/drawingml/2006/main" name="Content Slide_Black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E84C4"/>
        </a:solidFill>
        <a:ln>
          <a:noFill/>
        </a:ln>
      </a:spPr>
      <a:bodyPr rtlCol="0" anchor="ctr"/>
      <a:lstStyle>
        <a:defPPr algn="ctr"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4E84C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4C7465E0-0EA8-4521-8CB4-9C20910C4206}"/>
    </a:ext>
  </a:extLst>
</a:theme>
</file>

<file path=ppt/theme/theme3.xml><?xml version="1.0" encoding="utf-8"?>
<a:theme xmlns:a="http://schemas.openxmlformats.org/drawingml/2006/main" name="Blank Slide_Black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3782"/>
        </a:solidFill>
        <a:ln>
          <a:noFill/>
        </a:ln>
      </a:spPr>
      <a:bodyPr rtlCol="0" anchor="ctr"/>
      <a:lstStyle>
        <a:defPPr algn="ctr"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0378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1F348C15-96BF-409F-AC54-760F1D048475}"/>
    </a:ext>
  </a:extLst>
</a:theme>
</file>

<file path=ppt/theme/theme4.xml><?xml version="1.0" encoding="utf-8"?>
<a:theme xmlns:a="http://schemas.openxmlformats.org/drawingml/2006/main" name="Title Slide_Black Blue 1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8A473F64-A4FE-4660-9414-92A8A2F93746}"/>
    </a:ext>
  </a:extLst>
</a:theme>
</file>

<file path=ppt/theme/theme5.xml><?xml version="1.0" encoding="utf-8"?>
<a:theme xmlns:a="http://schemas.openxmlformats.org/drawingml/2006/main" name="Title Slide_White Blue 1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76190C37-D32D-4A12-9906-65F7FE0288D7}"/>
    </a:ext>
  </a:extLst>
</a:theme>
</file>

<file path=ppt/theme/theme6.xml><?xml version="1.0" encoding="utf-8"?>
<a:theme xmlns:a="http://schemas.openxmlformats.org/drawingml/2006/main" name="Title Slide_Black_without image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8A473F64-A4FE-4660-9414-92A8A2F93746}"/>
    </a:ext>
  </a:extLst>
</a:theme>
</file>

<file path=ppt/theme/theme7.xml><?xml version="1.0" encoding="utf-8"?>
<a:theme xmlns:a="http://schemas.openxmlformats.org/drawingml/2006/main" name="1_Title Slide_White Blue_without image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76190C37-D32D-4A12-9906-65F7FE0288D7}"/>
    </a:ext>
  </a:extLst>
</a:theme>
</file>

<file path=ppt/theme/theme8.xml><?xml version="1.0" encoding="utf-8"?>
<a:theme xmlns:a="http://schemas.openxmlformats.org/drawingml/2006/main" name="Divider Slide_Black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3782"/>
        </a:solidFill>
        <a:ln>
          <a:noFill/>
        </a:ln>
      </a:spPr>
      <a:bodyPr rtlCol="0" anchor="ctr"/>
      <a:lstStyle>
        <a:defPPr algn="ctr"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0378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972DC762-3DB2-45CA-B314-A2F6C887ED31}"/>
    </a:ext>
  </a:extLst>
</a:theme>
</file>

<file path=ppt/theme/theme9.xml><?xml version="1.0" encoding="utf-8"?>
<a:theme xmlns:a="http://schemas.openxmlformats.org/drawingml/2006/main" name="1_Divider Slide_White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A50E3EA0-9598-4E5F-87F7-B378FD69FD7B}"/>
    </a:ext>
  </a:extLst>
</a:theme>
</file>

<file path=ppt/theme/theme10.xml><?xml version="1.0" encoding="utf-8"?>
<a:theme xmlns:a="http://schemas.openxmlformats.org/drawingml/2006/main" name="Thank Slide_Black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3782"/>
        </a:solidFill>
        <a:ln>
          <a:noFill/>
        </a:ln>
      </a:spPr>
      <a:bodyPr rtlCol="0" anchor="ctr"/>
      <a:lstStyle>
        <a:defPPr algn="ctr"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0378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257BB0FB-7740-43BC-9A4E-0DEBD1A492F3}"/>
    </a:ext>
  </a:extLst>
</a:theme>
</file>

<file path=ppt/theme/theme11.xml><?xml version="1.0" encoding="utf-8"?>
<a:theme xmlns:a="http://schemas.openxmlformats.org/drawingml/2006/main" name="1_Thank Slide_White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EFFEF1C5-E889-40EF-BE9E-AEF07A05CBF6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84aecc3-8dd0-443e-98bc-4827b8b255e0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CF7CA2040CEE40A1D310D4FC519D57" ma:contentTypeVersion="12" ma:contentTypeDescription="Create a new document." ma:contentTypeScope="" ma:versionID="65fa5bf194fca759e25e36a60f15965b">
  <xsd:schema xmlns:xsd="http://www.w3.org/2001/XMLSchema" xmlns:xs="http://www.w3.org/2001/XMLSchema" xmlns:p="http://schemas.microsoft.com/office/2006/metadata/properties" xmlns:ns2="784aecc3-8dd0-443e-98bc-4827b8b255e0" xmlns:ns3="c937cd63-0d9d-4bb2-be9f-d1b7e0e4a93a" targetNamespace="http://schemas.microsoft.com/office/2006/metadata/properties" ma:root="true" ma:fieldsID="efb805ec2126fce5a84a61eb7c646c1e" ns2:_="" ns3:_="">
    <xsd:import namespace="784aecc3-8dd0-443e-98bc-4827b8b255e0"/>
    <xsd:import namespace="c937cd63-0d9d-4bb2-be9f-d1b7e0e4a93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4aecc3-8dd0-443e-98bc-4827b8b255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866b93a-4635-4247-88ec-09744cab27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37cd63-0d9d-4bb2-be9f-d1b7e0e4a93a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BB1B480-7C1E-4300-A913-41CAD33511F4}">
  <ds:schemaRefs>
    <ds:schemaRef ds:uri="cf320743-77bf-4b99-adc5-8ad6c82a944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784aecc3-8dd0-443e-98bc-4827b8b255e0"/>
  </ds:schemaRefs>
</ds:datastoreItem>
</file>

<file path=customXml/itemProps2.xml><?xml version="1.0" encoding="utf-8"?>
<ds:datastoreItem xmlns:ds="http://schemas.openxmlformats.org/officeDocument/2006/customXml" ds:itemID="{B06E70B6-4B55-4C46-A136-89B058C0EB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84aecc3-8dd0-443e-98bc-4827b8b255e0"/>
    <ds:schemaRef ds:uri="c937cd63-0d9d-4bb2-be9f-d1b7e0e4a93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AC37ED8-06D3-4BAF-925E-0E0C6BD526E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04b1967-6507-45ab-8a6d-7374a3f478be}" enabled="0" method="" siteId="{404b1967-6507-45ab-8a6d-7374a3f478b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Content Slide_White</Template>
  <TotalTime>492</TotalTime>
  <Words>2012</Words>
  <Application>Microsoft Office PowerPoint</Application>
  <PresentationFormat>On-screen Show (16:9)</PresentationFormat>
  <Paragraphs>414</Paragraphs>
  <Slides>34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11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Content Slide_White_with color logo</vt:lpstr>
      <vt:lpstr>Content Slide_Black</vt:lpstr>
      <vt:lpstr>Blank Slide_Black</vt:lpstr>
      <vt:lpstr>Title Slide_Black Blue 1</vt:lpstr>
      <vt:lpstr>Title Slide_White Blue 1</vt:lpstr>
      <vt:lpstr>Title Slide_Black_without image</vt:lpstr>
      <vt:lpstr>1_Title Slide_White Blue_without image</vt:lpstr>
      <vt:lpstr>Divider Slide_Black</vt:lpstr>
      <vt:lpstr>1_Divider Slide_White</vt:lpstr>
      <vt:lpstr>Thank Slide_Black</vt:lpstr>
      <vt:lpstr>1_Thank Slide_White</vt:lpstr>
      <vt:lpstr>Privilege Access  Management Training Program </vt:lpstr>
      <vt:lpstr>Introduction to Privileged Access Management</vt:lpstr>
      <vt:lpstr>The Privilege Escalation</vt:lpstr>
      <vt:lpstr>Types of Privileged Accounts</vt:lpstr>
      <vt:lpstr>Privilege is Everywhere</vt:lpstr>
      <vt:lpstr>Technologies Change, Attack Path Doesn’t</vt:lpstr>
      <vt:lpstr>Privilege Account Compromise and Business Impact</vt:lpstr>
      <vt:lpstr>Privileged Access Management Essentials</vt:lpstr>
      <vt:lpstr>Privileged Access Management lifecycle </vt:lpstr>
      <vt:lpstr>PAM Components</vt:lpstr>
      <vt:lpstr>PAM Reference Architecture</vt:lpstr>
      <vt:lpstr>PAM as it Began</vt:lpstr>
      <vt:lpstr>PAM Today</vt:lpstr>
      <vt:lpstr>Leading PAM Solutions Overview</vt:lpstr>
      <vt:lpstr>CyberArk Deep Dive</vt:lpstr>
      <vt:lpstr>Architecture Diagram -SaaS</vt:lpstr>
      <vt:lpstr>CyberArk Key Features</vt:lpstr>
      <vt:lpstr>BeyondTrust Deep Dive</vt:lpstr>
      <vt:lpstr>Architecture Diagram </vt:lpstr>
      <vt:lpstr>BeyondTrust Key Features</vt:lpstr>
      <vt:lpstr>Delinea  Deep Dive</vt:lpstr>
      <vt:lpstr>Architecture Diagram </vt:lpstr>
      <vt:lpstr>BeyondTrust Key Features</vt:lpstr>
      <vt:lpstr>PAM Implementation Strategies</vt:lpstr>
      <vt:lpstr>Common Implementation Challenges</vt:lpstr>
      <vt:lpstr>PAM Best Practices </vt:lpstr>
      <vt:lpstr>PAM Best Practices </vt:lpstr>
      <vt:lpstr>PowerPoint Presentation</vt:lpstr>
      <vt:lpstr>CyberArk PAM Certification Path</vt:lpstr>
      <vt:lpstr>CyberArk PAM Certification Path</vt:lpstr>
      <vt:lpstr>Delinea PAM Certification Path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new branded PowerPoint template</dc:title>
  <dc:creator>HARSHADA Shirke</dc:creator>
  <cp:lastModifiedBy>Amit Yadav</cp:lastModifiedBy>
  <cp:revision>11</cp:revision>
  <dcterms:created xsi:type="dcterms:W3CDTF">2023-12-07T09:46:25Z</dcterms:created>
  <dcterms:modified xsi:type="dcterms:W3CDTF">2025-09-03T13:17:25Z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0x0101003F3CC9BBD288424BBD7696BB0E0CB197</vt:lpwstr>
  </property>
</Properties>
</file>