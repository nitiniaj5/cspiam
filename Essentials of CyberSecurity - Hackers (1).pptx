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5413-493B-F859-1E54-48B3CD7A96D2}"/>
              </a:ext>
            </a:extLst>
          </p:cNvPr>
          <p:cNvSpPr>
            <a:spLocks noGrp="1"/>
          </p:cNvSpPr>
          <p:nvPr>
            <p:ph type="ctrTitle"/>
          </p:nvPr>
        </p:nvSpPr>
        <p:spPr>
          <a:xfrm>
            <a:off x="1524000" y="1122363"/>
            <a:ext cx="9144000" cy="2387600"/>
          </a:xfrm>
        </p:spPr>
        <p:txBody>
          <a:bodyPr anchor="b">
            <a:normAutofit/>
          </a:bodyPr>
          <a:lstStyle>
            <a:lvl1pPr algn="ctr">
              <a:defRPr sz="5400">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4642C7F7-3A55-2C76-136E-66570C6C55C8}"/>
              </a:ext>
            </a:extLst>
          </p:cNvPr>
          <p:cNvSpPr>
            <a:spLocks noGrp="1"/>
          </p:cNvSpPr>
          <p:nvPr>
            <p:ph type="subTitle" idx="1"/>
          </p:nvPr>
        </p:nvSpPr>
        <p:spPr>
          <a:xfrm>
            <a:off x="1524000" y="3602038"/>
            <a:ext cx="9144000" cy="1655762"/>
          </a:xfrm>
        </p:spPr>
        <p:txBody>
          <a:bodyPr/>
          <a:lstStyle>
            <a:lvl1pPr marL="0" indent="0" algn="ctr">
              <a:buNone/>
              <a:defRPr sz="2400">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a:extLst>
              <a:ext uri="{FF2B5EF4-FFF2-40B4-BE49-F238E27FC236}">
                <a16:creationId xmlns:a16="http://schemas.microsoft.com/office/drawing/2014/main" id="{7D7EEB20-F9D1-C62A-6EBF-241721F42E6C}"/>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5" name="Footer Placeholder 4">
            <a:extLst>
              <a:ext uri="{FF2B5EF4-FFF2-40B4-BE49-F238E27FC236}">
                <a16:creationId xmlns:a16="http://schemas.microsoft.com/office/drawing/2014/main" id="{4D485E27-D634-8ACD-57BA-4B02E79602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C00B3-2598-DE26-2AB1-205D15083611}"/>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2748261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253FD-758B-28BD-D081-EC48A89E9D40}"/>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D6F42645-D0E1-1ACE-DDFB-08DF00301C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5AB360-8EFE-F6BE-C34E-C1AFDE67E2E3}"/>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5" name="Footer Placeholder 4">
            <a:extLst>
              <a:ext uri="{FF2B5EF4-FFF2-40B4-BE49-F238E27FC236}">
                <a16:creationId xmlns:a16="http://schemas.microsoft.com/office/drawing/2014/main" id="{C1565985-283C-E992-50AE-CDE09545AB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C80995-5A89-F41A-1AE7-E1E9D511E348}"/>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993798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3B04-795F-064D-B9FB-536918DFDF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08A52C-03E6-D13B-1B59-7AA98DADD5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A56F94-7A83-A1B8-3C51-46C38C60CF3E}"/>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5" name="Footer Placeholder 4">
            <a:extLst>
              <a:ext uri="{FF2B5EF4-FFF2-40B4-BE49-F238E27FC236}">
                <a16:creationId xmlns:a16="http://schemas.microsoft.com/office/drawing/2014/main" id="{7AA08A3A-82DE-2C28-10F4-C56B3987F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67D519-4303-B0B5-F78C-551BB366F2CA}"/>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64685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BA622-71EE-1B40-5DF8-9A9A109E22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CED473-5279-4A2D-678D-42D579854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E53B75-3B89-D6D0-3432-E7400B81C8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2F1675-CAC5-9539-03FD-BE32A4BA6478}"/>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6" name="Footer Placeholder 5">
            <a:extLst>
              <a:ext uri="{FF2B5EF4-FFF2-40B4-BE49-F238E27FC236}">
                <a16:creationId xmlns:a16="http://schemas.microsoft.com/office/drawing/2014/main" id="{1595D33A-013B-2F1F-6B5F-7CF0888A1E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BA7483-322E-CA87-ABB3-DE0E0BDDA82B}"/>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798015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7875-5B8F-767A-20A1-A02B04F181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8237E5-9E2E-D942-5D1A-31581DEEC4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ADF289-618B-81FE-47DA-673678960F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B84543-4A37-D26D-B4E4-F733DFC4AC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7B24D-1F27-60D8-C9D8-C67A522C2C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CD413F-C3F6-DF37-5D66-7EEC1E0C4AC0}"/>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8" name="Footer Placeholder 7">
            <a:extLst>
              <a:ext uri="{FF2B5EF4-FFF2-40B4-BE49-F238E27FC236}">
                <a16:creationId xmlns:a16="http://schemas.microsoft.com/office/drawing/2014/main" id="{49E90F90-B5E9-C574-636E-88AADC7FB0D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9FBD72-0AB2-190B-0C4B-ECA8781B28F2}"/>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1997309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FE663-3307-4442-F5FE-F3DD5DB2BF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72CEBA-B84A-81BC-D980-8B48EF381B57}"/>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4" name="Footer Placeholder 3">
            <a:extLst>
              <a:ext uri="{FF2B5EF4-FFF2-40B4-BE49-F238E27FC236}">
                <a16:creationId xmlns:a16="http://schemas.microsoft.com/office/drawing/2014/main" id="{5876A79A-BC2E-868B-D019-2200877BF9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0852C0-34B8-7BC5-4492-3494031CBBD4}"/>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1550186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18D9DA-4E6A-E9EE-FA40-CB1039BE10DE}"/>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3" name="Footer Placeholder 2">
            <a:extLst>
              <a:ext uri="{FF2B5EF4-FFF2-40B4-BE49-F238E27FC236}">
                <a16:creationId xmlns:a16="http://schemas.microsoft.com/office/drawing/2014/main" id="{47D05801-02A8-5828-BA9E-23A37522A6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1D2594-F362-2B45-BE69-D29041A69290}"/>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607721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9DA9-F7C5-F9A6-534B-37BC96A88B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35897B-1C23-CFB2-9B45-6E580814BC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3B89D7-5360-1AD2-5F8C-A3188FEE02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65293C-4247-A886-9C55-E46C14954C1F}"/>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6" name="Footer Placeholder 5">
            <a:extLst>
              <a:ext uri="{FF2B5EF4-FFF2-40B4-BE49-F238E27FC236}">
                <a16:creationId xmlns:a16="http://schemas.microsoft.com/office/drawing/2014/main" id="{3471AE09-057B-D759-B515-5FCCE9974C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BCF0E-F74B-6ACF-D098-3AE7FB980668}"/>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612807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211F-363C-BEE0-382F-B469F0F0F1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F981D2-CB94-7A57-947C-232907356A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1129D9-B972-E15D-1736-3C77BC5935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67D31-9BF7-A743-3F8B-FD8B2EA528E6}"/>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6" name="Footer Placeholder 5">
            <a:extLst>
              <a:ext uri="{FF2B5EF4-FFF2-40B4-BE49-F238E27FC236}">
                <a16:creationId xmlns:a16="http://schemas.microsoft.com/office/drawing/2014/main" id="{99F3E5CA-C97E-F402-EB45-F689500E6F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1F6697-609E-22E7-3DC8-BCF8BA6E78C9}"/>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1702760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33DD-F9AA-311E-8749-11359A412D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0E8459-F4EE-0E91-C6B6-0857EF033B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F6C655-9B80-5462-0558-58690D86AC48}"/>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5" name="Footer Placeholder 4">
            <a:extLst>
              <a:ext uri="{FF2B5EF4-FFF2-40B4-BE49-F238E27FC236}">
                <a16:creationId xmlns:a16="http://schemas.microsoft.com/office/drawing/2014/main" id="{4347024E-97EF-A41C-47AD-41A79D7778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302134-27B7-9080-6691-9C0A813BC06F}"/>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828883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8151DA-72E3-3066-A621-1AEA079479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779B00-8C98-AF7A-F14E-A09CF37FE3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F22089-0D29-2B0C-030F-BD86F6F662BF}"/>
              </a:ext>
            </a:extLst>
          </p:cNvPr>
          <p:cNvSpPr>
            <a:spLocks noGrp="1"/>
          </p:cNvSpPr>
          <p:nvPr>
            <p:ph type="dt" sz="half" idx="10"/>
          </p:nvPr>
        </p:nvSpPr>
        <p:spPr/>
        <p:txBody>
          <a:bodyPr/>
          <a:lstStyle/>
          <a:p>
            <a:fld id="{C408DD12-0AF8-4FBF-A98C-8DEA8933F51B}" type="datetimeFigureOut">
              <a:rPr lang="en-IN" smtClean="0"/>
              <a:t>04-03-2025</a:t>
            </a:fld>
            <a:endParaRPr lang="en-IN"/>
          </a:p>
        </p:txBody>
      </p:sp>
      <p:sp>
        <p:nvSpPr>
          <p:cNvPr id="5" name="Footer Placeholder 4">
            <a:extLst>
              <a:ext uri="{FF2B5EF4-FFF2-40B4-BE49-F238E27FC236}">
                <a16:creationId xmlns:a16="http://schemas.microsoft.com/office/drawing/2014/main" id="{E52D9737-E30A-094E-3916-FC6D78745C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0FFACD-319F-5907-6AEA-98033437591B}"/>
              </a:ext>
            </a:extLst>
          </p:cNvPr>
          <p:cNvSpPr>
            <a:spLocks noGrp="1"/>
          </p:cNvSpPr>
          <p:nvPr>
            <p:ph type="sldNum" sz="quarter" idx="12"/>
          </p:nvPr>
        </p:nvSpPr>
        <p:spPr/>
        <p:txBody>
          <a:bodyPr/>
          <a:lstStyle/>
          <a:p>
            <a:fld id="{0B81703C-E2CC-4E5B-9014-F83295B10AB7}" type="slidenum">
              <a:rPr lang="en-IN" smtClean="0"/>
              <a:t>‹#›</a:t>
            </a:fld>
            <a:endParaRPr lang="en-IN"/>
          </a:p>
        </p:txBody>
      </p:sp>
    </p:spTree>
    <p:extLst>
      <p:ext uri="{BB962C8B-B14F-4D97-AF65-F5344CB8AC3E}">
        <p14:creationId xmlns:p14="http://schemas.microsoft.com/office/powerpoint/2010/main" val="3219652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6232D1-29AC-8253-949E-1C208B4E174A}"/>
              </a:ext>
            </a:extLst>
          </p:cNvPr>
          <p:cNvSpPr>
            <a:spLocks noGrp="1"/>
          </p:cNvSpPr>
          <p:nvPr>
            <p:ph type="title"/>
          </p:nvPr>
        </p:nvSpPr>
        <p:spPr>
          <a:xfrm>
            <a:off x="838200" y="365125"/>
            <a:ext cx="10515600" cy="591805"/>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97C62B1-3C8E-3242-80FD-BD73D24183D5}"/>
              </a:ext>
            </a:extLst>
          </p:cNvPr>
          <p:cNvSpPr>
            <a:spLocks noGrp="1"/>
          </p:cNvSpPr>
          <p:nvPr>
            <p:ph type="body" idx="1"/>
          </p:nvPr>
        </p:nvSpPr>
        <p:spPr>
          <a:xfrm>
            <a:off x="838200" y="1169581"/>
            <a:ext cx="10515600" cy="500738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FFA1547B-1CE6-6E43-5C26-564A3166C9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08DD12-0AF8-4FBF-A98C-8DEA8933F51B}" type="datetimeFigureOut">
              <a:rPr lang="en-IN" smtClean="0"/>
              <a:t>04-03-2025</a:t>
            </a:fld>
            <a:endParaRPr lang="en-IN"/>
          </a:p>
        </p:txBody>
      </p:sp>
      <p:sp>
        <p:nvSpPr>
          <p:cNvPr id="5" name="Footer Placeholder 4">
            <a:extLst>
              <a:ext uri="{FF2B5EF4-FFF2-40B4-BE49-F238E27FC236}">
                <a16:creationId xmlns:a16="http://schemas.microsoft.com/office/drawing/2014/main" id="{29455D36-4C37-A170-3252-3223ED8E88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A07605-9ADA-E349-95DF-5896B0A8B6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81703C-E2CC-4E5B-9014-F83295B10AB7}" type="slidenum">
              <a:rPr lang="en-IN" smtClean="0"/>
              <a:t>‹#›</a:t>
            </a:fld>
            <a:endParaRPr lang="en-IN"/>
          </a:p>
        </p:txBody>
      </p:sp>
    </p:spTree>
    <p:extLst>
      <p:ext uri="{BB962C8B-B14F-4D97-AF65-F5344CB8AC3E}">
        <p14:creationId xmlns:p14="http://schemas.microsoft.com/office/powerpoint/2010/main" val="709315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D030-125D-D088-5E59-2F9B29F56219}"/>
              </a:ext>
            </a:extLst>
          </p:cNvPr>
          <p:cNvSpPr>
            <a:spLocks noGrp="1"/>
          </p:cNvSpPr>
          <p:nvPr>
            <p:ph type="ctrTitle"/>
          </p:nvPr>
        </p:nvSpPr>
        <p:spPr/>
        <p:txBody>
          <a:bodyPr/>
          <a:lstStyle/>
          <a:p>
            <a:r>
              <a:rPr lang="en-US" dirty="0"/>
              <a:t>Essentials of CyberSecurity</a:t>
            </a:r>
            <a:endParaRPr lang="en-IN" dirty="0"/>
          </a:p>
        </p:txBody>
      </p:sp>
      <p:sp>
        <p:nvSpPr>
          <p:cNvPr id="3" name="Subtitle 2">
            <a:extLst>
              <a:ext uri="{FF2B5EF4-FFF2-40B4-BE49-F238E27FC236}">
                <a16:creationId xmlns:a16="http://schemas.microsoft.com/office/drawing/2014/main" id="{838AEA30-A0EF-7A84-6970-FC80278BD416}"/>
              </a:ext>
            </a:extLst>
          </p:cNvPr>
          <p:cNvSpPr>
            <a:spLocks noGrp="1"/>
          </p:cNvSpPr>
          <p:nvPr>
            <p:ph type="subTitle" idx="1"/>
          </p:nvPr>
        </p:nvSpPr>
        <p:spPr/>
        <p:txBody>
          <a:bodyPr/>
          <a:lstStyle/>
          <a:p>
            <a:r>
              <a:rPr lang="en-US" dirty="0"/>
              <a:t>Hackers</a:t>
            </a:r>
            <a:endParaRPr lang="en-IN" dirty="0"/>
          </a:p>
        </p:txBody>
      </p:sp>
    </p:spTree>
    <p:extLst>
      <p:ext uri="{BB962C8B-B14F-4D97-AF65-F5344CB8AC3E}">
        <p14:creationId xmlns:p14="http://schemas.microsoft.com/office/powerpoint/2010/main" val="282989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FAE3C-590C-8FC6-C5B3-F4D6431D76B8}"/>
              </a:ext>
            </a:extLst>
          </p:cNvPr>
          <p:cNvSpPr>
            <a:spLocks noGrp="1"/>
          </p:cNvSpPr>
          <p:nvPr>
            <p:ph type="title"/>
          </p:nvPr>
        </p:nvSpPr>
        <p:spPr/>
        <p:txBody>
          <a:bodyPr/>
          <a:lstStyle/>
          <a:p>
            <a:r>
              <a:rPr lang="en-US" dirty="0"/>
              <a:t>Hackers (1/3)		</a:t>
            </a:r>
            <a:endParaRPr lang="en-IN" dirty="0"/>
          </a:p>
        </p:txBody>
      </p:sp>
      <p:sp>
        <p:nvSpPr>
          <p:cNvPr id="3" name="Content Placeholder 2">
            <a:extLst>
              <a:ext uri="{FF2B5EF4-FFF2-40B4-BE49-F238E27FC236}">
                <a16:creationId xmlns:a16="http://schemas.microsoft.com/office/drawing/2014/main" id="{A7256B3A-7503-9784-0C06-5B5F83248FFE}"/>
              </a:ext>
            </a:extLst>
          </p:cNvPr>
          <p:cNvSpPr>
            <a:spLocks noGrp="1"/>
          </p:cNvSpPr>
          <p:nvPr>
            <p:ph idx="1"/>
          </p:nvPr>
        </p:nvSpPr>
        <p:spPr/>
        <p:txBody>
          <a:bodyPr/>
          <a:lstStyle/>
          <a:p>
            <a:pPr marL="0" indent="0">
              <a:buNone/>
            </a:pPr>
            <a:r>
              <a:rPr lang="en-US" b="1" dirty="0"/>
              <a:t>Types of Hackers:</a:t>
            </a:r>
          </a:p>
          <a:p>
            <a:pPr marL="457200" indent="-457200">
              <a:buFont typeface="+mj-lt"/>
              <a:buAutoNum type="arabicPeriod"/>
            </a:pPr>
            <a:r>
              <a:rPr lang="en-IN" dirty="0"/>
              <a:t>Black Hat: Very skilled, hack primarily for financial interests.</a:t>
            </a:r>
          </a:p>
          <a:p>
            <a:pPr marL="457200" indent="-457200">
              <a:buFont typeface="+mj-lt"/>
              <a:buAutoNum type="arabicPeriod"/>
            </a:pPr>
            <a:r>
              <a:rPr lang="en-IN" dirty="0"/>
              <a:t>Grey Hat: Very skilled, but use black hat tactics for White Hat objectives (</a:t>
            </a:r>
            <a:r>
              <a:rPr lang="en-IN" dirty="0" err="1"/>
              <a:t>eg</a:t>
            </a:r>
            <a:r>
              <a:rPr lang="en-IN" dirty="0"/>
              <a:t>: hack a company to expose the vulnerabilities that exist in someone’s network. They believe the means justifies the end. </a:t>
            </a:r>
          </a:p>
          <a:p>
            <a:pPr marL="457200" indent="-457200">
              <a:buFont typeface="+mj-lt"/>
              <a:buAutoNum type="arabicPeriod"/>
            </a:pPr>
            <a:r>
              <a:rPr lang="en-IN" dirty="0"/>
              <a:t>Script kiddie: Not very skilled, partially directionless and hack for the fun of it. </a:t>
            </a:r>
          </a:p>
          <a:p>
            <a:pPr marL="457200" indent="-457200">
              <a:buFont typeface="+mj-lt"/>
              <a:buAutoNum type="arabicPeriod"/>
            </a:pPr>
            <a:r>
              <a:rPr lang="en-IN" dirty="0"/>
              <a:t>Hacktivists: Like Grey hats, they hack for a cause. (e.g.: Anonymous). We can also have the disgruntled employee or the Insider Threat – both of whom are very dangerous for the organization they hack. </a:t>
            </a:r>
          </a:p>
        </p:txBody>
      </p:sp>
    </p:spTree>
    <p:extLst>
      <p:ext uri="{BB962C8B-B14F-4D97-AF65-F5344CB8AC3E}">
        <p14:creationId xmlns:p14="http://schemas.microsoft.com/office/powerpoint/2010/main" val="3461528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BA14E-7BF5-A91B-1C2D-4B4BD60BD11D}"/>
              </a:ext>
            </a:extLst>
          </p:cNvPr>
          <p:cNvSpPr>
            <a:spLocks noGrp="1"/>
          </p:cNvSpPr>
          <p:nvPr>
            <p:ph type="title"/>
          </p:nvPr>
        </p:nvSpPr>
        <p:spPr/>
        <p:txBody>
          <a:bodyPr/>
          <a:lstStyle/>
          <a:p>
            <a:r>
              <a:rPr lang="en-US" dirty="0"/>
              <a:t>Hackers (2/3)</a:t>
            </a:r>
            <a:endParaRPr lang="en-IN" dirty="0"/>
          </a:p>
        </p:txBody>
      </p:sp>
      <p:sp>
        <p:nvSpPr>
          <p:cNvPr id="3" name="Content Placeholder 2">
            <a:extLst>
              <a:ext uri="{FF2B5EF4-FFF2-40B4-BE49-F238E27FC236}">
                <a16:creationId xmlns:a16="http://schemas.microsoft.com/office/drawing/2014/main" id="{FDF8F398-41F5-7F0E-F826-554DC77D4DD4}"/>
              </a:ext>
            </a:extLst>
          </p:cNvPr>
          <p:cNvSpPr>
            <a:spLocks noGrp="1"/>
          </p:cNvSpPr>
          <p:nvPr>
            <p:ph idx="1"/>
          </p:nvPr>
        </p:nvSpPr>
        <p:spPr/>
        <p:txBody>
          <a:bodyPr>
            <a:normAutofit fontScale="92500" lnSpcReduction="20000"/>
          </a:bodyPr>
          <a:lstStyle/>
          <a:p>
            <a:pPr marL="0" indent="0">
              <a:buNone/>
            </a:pPr>
            <a:r>
              <a:rPr lang="en-US" b="1" dirty="0"/>
              <a:t>Hacking Methodology Phases: </a:t>
            </a:r>
          </a:p>
          <a:p>
            <a:pPr marL="457200" indent="-457200">
              <a:buFont typeface="+mj-lt"/>
              <a:buAutoNum type="arabicPeriod"/>
            </a:pPr>
            <a:r>
              <a:rPr lang="en-US" sz="2400" b="1" dirty="0"/>
              <a:t>Reconnaissance or </a:t>
            </a:r>
            <a:r>
              <a:rPr lang="en-US" sz="2400" b="1" dirty="0" err="1"/>
              <a:t>Footprinting</a:t>
            </a:r>
            <a:r>
              <a:rPr lang="en-US" sz="2400" b="1" dirty="0"/>
              <a:t> Phase</a:t>
            </a:r>
            <a:r>
              <a:rPr lang="en-US" sz="2400" dirty="0"/>
              <a:t>: where the cyber criminals try to gain as much information as they can about the target.</a:t>
            </a:r>
          </a:p>
          <a:p>
            <a:pPr lvl="1"/>
            <a:r>
              <a:rPr lang="en-US" sz="2200" dirty="0"/>
              <a:t>Passive Recon: This is the only step that is not illegal in the hacker methodology ( like email addresses, phone numbers, social media accounts, physical location. </a:t>
            </a:r>
          </a:p>
          <a:p>
            <a:pPr lvl="1"/>
            <a:r>
              <a:rPr lang="en-US" sz="2200" dirty="0"/>
              <a:t>Active Recon: Hackers search for actual vulnerabilities and weaknesses (IP addresses, DNS servers, open ports, User names, passwords) </a:t>
            </a:r>
          </a:p>
          <a:p>
            <a:pPr marL="457200" indent="-457200">
              <a:buFont typeface="+mj-lt"/>
              <a:buAutoNum type="arabicPeriod"/>
            </a:pPr>
            <a:r>
              <a:rPr lang="en-US" sz="2400" b="1" dirty="0"/>
              <a:t>Exploitation Phase</a:t>
            </a:r>
            <a:r>
              <a:rPr lang="en-US" sz="2400" dirty="0"/>
              <a:t>: When hackers with vulnerabilities will try to take advantage of those vulnerabilities through different methods (phishing, social engineering)</a:t>
            </a:r>
          </a:p>
          <a:p>
            <a:pPr marL="457200" indent="-457200" algn="l">
              <a:buFont typeface="+mj-lt"/>
              <a:buAutoNum type="arabicPeriod"/>
            </a:pPr>
            <a:r>
              <a:rPr lang="en-US" sz="2400" b="1" dirty="0"/>
              <a:t>Privileged Escalation Phase</a:t>
            </a:r>
            <a:r>
              <a:rPr lang="en-US" sz="2400" dirty="0"/>
              <a:t>: increase the control over the exploited target. (create new accounts, hijack the network,  try as much as possible to actually take control of an admin account.</a:t>
            </a:r>
          </a:p>
          <a:p>
            <a:pPr marL="457200" indent="-457200" algn="l">
              <a:buFont typeface="+mj-lt"/>
              <a:buAutoNum type="arabicPeriod"/>
            </a:pPr>
            <a:r>
              <a:rPr lang="en-IN" sz="2400" b="1" dirty="0"/>
              <a:t>Establish Persistence Phase</a:t>
            </a:r>
            <a:r>
              <a:rPr lang="en-IN" sz="2400" dirty="0"/>
              <a:t>: </a:t>
            </a:r>
            <a:r>
              <a:rPr lang="en-US" sz="2400" dirty="0"/>
              <a:t> try to ensure that they have continued access</a:t>
            </a:r>
          </a:p>
          <a:p>
            <a:pPr marL="457200" indent="-457200" algn="l">
              <a:buFont typeface="+mj-lt"/>
              <a:buAutoNum type="arabicPeriod"/>
            </a:pPr>
            <a:r>
              <a:rPr lang="en-US" sz="2400" b="1" dirty="0"/>
              <a:t>Actual Attack Phase</a:t>
            </a:r>
            <a:r>
              <a:rPr lang="en-US" sz="2400" dirty="0"/>
              <a:t>: (</a:t>
            </a:r>
            <a:r>
              <a:rPr lang="en-IN" sz="2400" dirty="0"/>
              <a:t>Data extraction, data corruption, malware injection..)</a:t>
            </a:r>
          </a:p>
          <a:p>
            <a:pPr marL="457200" indent="-457200" algn="l">
              <a:buFont typeface="+mj-lt"/>
              <a:buAutoNum type="arabicPeriod"/>
            </a:pPr>
            <a:r>
              <a:rPr lang="en-IN" sz="2400" b="1" dirty="0"/>
              <a:t>Coverup Phase</a:t>
            </a:r>
            <a:r>
              <a:rPr lang="en-IN" sz="2400" dirty="0"/>
              <a:t>: Avoid detection (</a:t>
            </a:r>
            <a:r>
              <a:rPr lang="en-US" sz="2400" dirty="0"/>
              <a:t> ICMP tunnels. Clear event logs, erase Command history, etc.)</a:t>
            </a:r>
            <a:endParaRPr lang="en-IN" sz="2400" dirty="0"/>
          </a:p>
          <a:p>
            <a:pPr algn="l"/>
            <a:endParaRPr lang="en-US" b="0" i="0" u="sng" dirty="0">
              <a:solidFill>
                <a:srgbClr val="521E9F"/>
              </a:solidFill>
              <a:effectLst/>
              <a:latin typeface="Udemy Sans"/>
            </a:endParaRPr>
          </a:p>
          <a:p>
            <a:pPr algn="l"/>
            <a:endParaRPr lang="en-US" b="0" i="0" dirty="0">
              <a:solidFill>
                <a:srgbClr val="303141"/>
              </a:solidFill>
              <a:effectLst/>
              <a:latin typeface="Udemy Sans"/>
            </a:endParaRPr>
          </a:p>
          <a:p>
            <a:pPr algn="l"/>
            <a:endParaRPr lang="en-US" b="0" i="0" dirty="0">
              <a:solidFill>
                <a:srgbClr val="303141"/>
              </a:solidFill>
              <a:effectLst/>
              <a:latin typeface="Udemy Sans"/>
            </a:endParaRPr>
          </a:p>
          <a:p>
            <a:pPr algn="l"/>
            <a:endParaRPr lang="en-US" b="0" i="0" dirty="0">
              <a:solidFill>
                <a:srgbClr val="303141"/>
              </a:solidFill>
              <a:effectLst/>
              <a:latin typeface="Udemy Sans"/>
            </a:endParaRPr>
          </a:p>
          <a:p>
            <a:endParaRPr lang="en-IN" dirty="0"/>
          </a:p>
        </p:txBody>
      </p:sp>
    </p:spTree>
    <p:extLst>
      <p:ext uri="{BB962C8B-B14F-4D97-AF65-F5344CB8AC3E}">
        <p14:creationId xmlns:p14="http://schemas.microsoft.com/office/powerpoint/2010/main" val="296644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34D2-6A70-349B-0E24-E7BA45EC48C9}"/>
              </a:ext>
            </a:extLst>
          </p:cNvPr>
          <p:cNvSpPr>
            <a:spLocks noGrp="1"/>
          </p:cNvSpPr>
          <p:nvPr>
            <p:ph type="title"/>
          </p:nvPr>
        </p:nvSpPr>
        <p:spPr/>
        <p:txBody>
          <a:bodyPr/>
          <a:lstStyle/>
          <a:p>
            <a:r>
              <a:rPr lang="en-US" dirty="0"/>
              <a:t>Hackers (3/3)</a:t>
            </a:r>
            <a:endParaRPr lang="en-IN" dirty="0"/>
          </a:p>
        </p:txBody>
      </p:sp>
      <p:sp>
        <p:nvSpPr>
          <p:cNvPr id="3" name="Content Placeholder 2">
            <a:extLst>
              <a:ext uri="{FF2B5EF4-FFF2-40B4-BE49-F238E27FC236}">
                <a16:creationId xmlns:a16="http://schemas.microsoft.com/office/drawing/2014/main" id="{AD27C0C6-A571-C42F-246E-86EF76F7424B}"/>
              </a:ext>
            </a:extLst>
          </p:cNvPr>
          <p:cNvSpPr>
            <a:spLocks noGrp="1"/>
          </p:cNvSpPr>
          <p:nvPr>
            <p:ph idx="1"/>
          </p:nvPr>
        </p:nvSpPr>
        <p:spPr/>
        <p:txBody>
          <a:bodyPr/>
          <a:lstStyle/>
          <a:p>
            <a:pPr marL="0" indent="0">
              <a:buNone/>
            </a:pPr>
            <a:r>
              <a:rPr lang="en-US" b="1" dirty="0"/>
              <a:t>Social Engineering Tactics: </a:t>
            </a:r>
          </a:p>
          <a:p>
            <a:pPr marL="0" indent="0">
              <a:buNone/>
            </a:pPr>
            <a:r>
              <a:rPr lang="en-US" b="1" dirty="0"/>
              <a:t>Definition:  </a:t>
            </a:r>
            <a:r>
              <a:rPr lang="en-US" dirty="0"/>
              <a:t>exploitation of human </a:t>
            </a:r>
            <a:r>
              <a:rPr lang="en-US" dirty="0" err="1"/>
              <a:t>emotionsand</a:t>
            </a:r>
            <a:r>
              <a:rPr lang="en-US" dirty="0"/>
              <a:t> interactions to extract valuable information. It is more dangerous than traditional methods of hacking as it relies on human error, which is subjective and less predictable than software or hardware vulnerabilities.</a:t>
            </a:r>
          </a:p>
          <a:p>
            <a:pPr marL="0" indent="0">
              <a:buNone/>
            </a:pPr>
            <a:r>
              <a:rPr lang="en-IN" b="1" dirty="0"/>
              <a:t>5 main tactics of</a:t>
            </a:r>
            <a:r>
              <a:rPr lang="en-US" b="1" dirty="0"/>
              <a:t> Social Engineering: </a:t>
            </a:r>
          </a:p>
          <a:p>
            <a:pPr marL="457200" indent="-457200">
              <a:buFont typeface="+mj-lt"/>
              <a:buAutoNum type="arabicPeriod"/>
            </a:pPr>
            <a:r>
              <a:rPr lang="en-US" b="1" dirty="0"/>
              <a:t>Baiting: L</a:t>
            </a:r>
            <a:r>
              <a:rPr lang="en-US" dirty="0"/>
              <a:t>ure the target to taking an unfavorable action.</a:t>
            </a:r>
          </a:p>
          <a:p>
            <a:pPr marL="457200" indent="-457200">
              <a:buFont typeface="+mj-lt"/>
              <a:buAutoNum type="arabicPeriod"/>
            </a:pPr>
            <a:r>
              <a:rPr lang="en-US" b="1" dirty="0"/>
              <a:t>Pretexting: </a:t>
            </a:r>
            <a:r>
              <a:rPr lang="en-US" b="0" i="0" dirty="0">
                <a:effectLst/>
                <a:latin typeface="Udemy Sans"/>
              </a:rPr>
              <a:t>Looking, acting, or sounding the part and r</a:t>
            </a:r>
            <a:r>
              <a:rPr lang="en-US" dirty="0"/>
              <a:t>elies on conviction and trust.</a:t>
            </a:r>
          </a:p>
          <a:p>
            <a:pPr marL="457200" indent="-457200">
              <a:buFont typeface="+mj-lt"/>
              <a:buAutoNum type="arabicPeriod"/>
            </a:pPr>
            <a:r>
              <a:rPr lang="en-US" b="1" dirty="0"/>
              <a:t>Quid quo pro</a:t>
            </a:r>
            <a:r>
              <a:rPr lang="en-US" dirty="0"/>
              <a:t>: Offering a service in exchange for information.</a:t>
            </a:r>
          </a:p>
          <a:p>
            <a:pPr marL="457200" indent="-457200">
              <a:buFont typeface="+mj-lt"/>
              <a:buAutoNum type="arabicPeriod"/>
            </a:pPr>
            <a:r>
              <a:rPr lang="en-US" b="1" dirty="0"/>
              <a:t>Phishing: (</a:t>
            </a:r>
            <a:r>
              <a:rPr lang="en-US" dirty="0"/>
              <a:t>lunch-time attack, piggy-backing, tailgating)</a:t>
            </a:r>
            <a:endParaRPr lang="en-US" b="1" dirty="0"/>
          </a:p>
          <a:p>
            <a:pPr marL="457200" indent="-457200">
              <a:buFont typeface="+mj-lt"/>
              <a:buAutoNum type="arabicPeriod"/>
            </a:pPr>
            <a:r>
              <a:rPr lang="en-US" b="1" dirty="0"/>
              <a:t>Vishing</a:t>
            </a:r>
            <a:r>
              <a:rPr lang="en-US" dirty="0"/>
              <a:t>: Involves tricking people into giving away personal information over the phone</a:t>
            </a:r>
            <a:endParaRPr lang="en-US" b="1" dirty="0"/>
          </a:p>
          <a:p>
            <a:pPr marL="0" indent="0">
              <a:buNone/>
            </a:pPr>
            <a:endParaRPr lang="en-IN" dirty="0"/>
          </a:p>
        </p:txBody>
      </p:sp>
    </p:spTree>
    <p:extLst>
      <p:ext uri="{BB962C8B-B14F-4D97-AF65-F5344CB8AC3E}">
        <p14:creationId xmlns:p14="http://schemas.microsoft.com/office/powerpoint/2010/main" val="3520956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433</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Calibri</vt:lpstr>
      <vt:lpstr>Udemy Sans</vt:lpstr>
      <vt:lpstr>Office Theme</vt:lpstr>
      <vt:lpstr>Essentials of CyberSecurity</vt:lpstr>
      <vt:lpstr>Hackers (1/3)  </vt:lpstr>
      <vt:lpstr>Hackers (2/3)</vt:lpstr>
      <vt:lpstr>Hackers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Aparajita Sharma</dc:creator>
  <cp:lastModifiedBy>Aparajita Sharma</cp:lastModifiedBy>
  <cp:revision>3</cp:revision>
  <dcterms:created xsi:type="dcterms:W3CDTF">2025-03-04T07:19:28Z</dcterms:created>
  <dcterms:modified xsi:type="dcterms:W3CDTF">2025-03-04T08:21:19Z</dcterms:modified>
</cp:coreProperties>
</file>