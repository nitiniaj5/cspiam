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5" r:id="rId7"/>
    <p:sldId id="259" r:id="rId8"/>
    <p:sldId id="260" r:id="rId9"/>
    <p:sldId id="266" r:id="rId10"/>
    <p:sldId id="264" r:id="rId11"/>
    <p:sldId id="258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8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LDAP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Lightweight Directory Access Protocol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211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Difference between LDAP and Active Directory (AD)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409" y="2220686"/>
            <a:ext cx="8229600" cy="4011065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1. LDAP is a protocol, while AD is a directory service.</a:t>
            </a:r>
          </a:p>
          <a:p>
            <a:r>
              <a:rPr dirty="0"/>
              <a:t>2. LDAP can be used to authenticate users across different systems, while AD is used for managing Windows domain networks.</a:t>
            </a:r>
          </a:p>
          <a:p>
            <a:r>
              <a:rPr dirty="0"/>
              <a:t>3. AD uses LDAP as its primary protocol for directory services.</a:t>
            </a:r>
          </a:p>
          <a:p>
            <a:r>
              <a:rPr dirty="0"/>
              <a:t>4. LDAP is more flexible and can be used with various directory services, while AD is specific to Windows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DE16D-7537-E833-5FF8-AC8E7B59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53359"/>
            <a:ext cx="8229600" cy="5841854"/>
          </a:xfrm>
        </p:spPr>
        <p:txBody>
          <a:bodyPr>
            <a:normAutofit fontScale="47500" lnSpcReduction="20000"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A </a:t>
            </a: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directory service</a:t>
            </a: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 is a specialized software system that stores, organizes, and provides access to information in a directory. Think of it like a digital phone book, but much more powerful and flexible.</a:t>
            </a:r>
          </a:p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 Key Features of a Directory Service: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Hierarchical Structure</a:t>
            </a: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: Information is stored in a tree-like structure, making it easy to navigate and manage.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Centralized Resource Management</a:t>
            </a: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: It provides a central location to manage users, computers, printers, and other resources.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Authentication and Authorization</a:t>
            </a: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: It helps verify user identities and control access to resources.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Standard Protocols</a:t>
            </a: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: Most directory services use standard protocols like </a:t>
            </a: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LDAP (Lightweight Directory Access Protocol)</a:t>
            </a: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 to communicate.</a:t>
            </a:r>
          </a:p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Common Examples: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LDAP</a:t>
            </a: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 – A protocol used by many directory services.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Microsoft Active Directory (AD)</a:t>
            </a: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 – A directory service for Windows domain networks.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424242"/>
                </a:solidFill>
                <a:effectLst/>
                <a:latin typeface="Segoe Sans"/>
              </a:rPr>
              <a:t>OpenLDAP</a:t>
            </a: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 – An open-source implementation of LDAP.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Apache Directory</a:t>
            </a: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 – A Java-based directory service.</a:t>
            </a:r>
          </a:p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 Use Cases: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Logging into a computer or application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Accessing email or shared files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Managing user roles and permissions in an organization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747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8B901-B04D-4CC0-94C0-D18AE905A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4831"/>
            <a:ext cx="8229600" cy="1143000"/>
          </a:xfrm>
        </p:spPr>
        <p:txBody>
          <a:bodyPr/>
          <a:lstStyle/>
          <a:p>
            <a:r>
              <a:rPr lang="en-US" dirty="0"/>
              <a:t>LDAP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3FA18-C2DC-F6BC-8133-79D7981FD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7831"/>
            <a:ext cx="8229600" cy="767443"/>
          </a:xfrm>
        </p:spPr>
        <p:txBody>
          <a:bodyPr>
            <a:normAutofit fontScale="55000" lnSpcReduction="20000"/>
          </a:bodyPr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Lightweight Directory Access Protocol (LDAP)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 is an internet protocol works on TCP/IP, used to access information from directories. LDAP protocol is basically used to access an active directory.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609341C-6936-E059-D2FB-E57F34CF7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966" y="2305277"/>
            <a:ext cx="6300068" cy="374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305377-25CE-4068-1ECB-4A0A86916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906" y="5530169"/>
            <a:ext cx="2426094" cy="122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826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C24B3-6CFC-DDE2-2318-B76211CFE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929E1-8D4C-025A-DB84-15332114F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4831"/>
            <a:ext cx="8229600" cy="1143000"/>
          </a:xfrm>
        </p:spPr>
        <p:txBody>
          <a:bodyPr/>
          <a:lstStyle/>
          <a:p>
            <a:r>
              <a:rPr lang="en-US" dirty="0"/>
              <a:t>TCP / IP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3D282-65C1-6912-0FA6-8E8291E88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7909"/>
            <a:ext cx="8229600" cy="767443"/>
          </a:xfrm>
        </p:spPr>
        <p:txBody>
          <a:bodyPr>
            <a:normAutofit fontScale="70000" lnSpcReduction="20000"/>
          </a:bodyPr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A protocol is </a:t>
            </a:r>
            <a:r>
              <a:rPr lang="en-US" dirty="0"/>
              <a:t>a set of rules that govern how data is transmitted and received between devices, especially in a network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B475FB-74E2-6968-E51D-1EA7DE2C6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44" y="2139723"/>
            <a:ext cx="1571272" cy="932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A0BFB9-3170-E56D-7FF7-25205195C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317" y="2408464"/>
            <a:ext cx="7717239" cy="389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01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2CDB-CF7E-5A8B-63C6-455CCA512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DIT (Directory Information Tree)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0CEF6-8B7B-A0E2-71B7-7B4DB70F2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676" y="1726026"/>
            <a:ext cx="8229600" cy="4305939"/>
          </a:xfrm>
        </p:spPr>
        <p:txBody>
          <a:bodyPr>
            <a:normAutofit fontScale="70000" lnSpcReduction="20000"/>
          </a:bodyPr>
          <a:lstStyle/>
          <a:p>
            <a:pPr algn="l" fontAlgn="ctr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LDAP organizes information in a hierarchical structure called the DIT, similar to a tree with branches and leaves. </a:t>
            </a:r>
            <a:endParaRPr lang="en-US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 fontAlgn="ctr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This structure allows for efficient searching and retrieval of information. </a:t>
            </a:r>
            <a:endParaRPr lang="en-US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Entries in the DIT represent objects like users, groups, computers, or printers.</a:t>
            </a:r>
          </a:p>
          <a:p>
            <a:pPr algn="l"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1D35"/>
                </a:solidFill>
                <a:latin typeface="Google Sans"/>
              </a:rPr>
              <a:t>Each entry in the DIT has a unique identifier called a distinguished name (DN).</a:t>
            </a:r>
          </a:p>
          <a:p>
            <a:pPr marL="342900" indent="-342900">
              <a:lnSpc>
                <a:spcPct val="800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1D35"/>
                </a:solidFill>
                <a:latin typeface="Google Sans"/>
              </a:rPr>
              <a:t>The DN provides a way to locate and refer to a specific entry within the directory.</a:t>
            </a:r>
          </a:p>
          <a:p>
            <a:pPr marL="342900" indent="-342900">
              <a:lnSpc>
                <a:spcPct val="80000"/>
              </a:lnSpc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1D35"/>
                </a:solidFill>
                <a:latin typeface="Google Sans"/>
              </a:rPr>
              <a:t>It is composed of a series of relative distinguished names (RDNs) leading up to the root of the DIT. </a:t>
            </a:r>
          </a:p>
        </p:txBody>
      </p:sp>
    </p:spTree>
    <p:extLst>
      <p:ext uri="{BB962C8B-B14F-4D97-AF65-F5344CB8AC3E}">
        <p14:creationId xmlns:p14="http://schemas.microsoft.com/office/powerpoint/2010/main" val="4257541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Advantages and Disadvantages of LDAP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1551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Advantages:</a:t>
            </a:r>
          </a:p>
          <a:p>
            <a:r>
              <a:rPr dirty="0"/>
              <a:t>1. Lightweight and efficient.</a:t>
            </a:r>
          </a:p>
          <a:p>
            <a:r>
              <a:rPr dirty="0"/>
              <a:t>2. Platform-independent.</a:t>
            </a:r>
          </a:p>
          <a:p>
            <a:r>
              <a:rPr dirty="0"/>
              <a:t>3. Supports a wide range of applications and services.</a:t>
            </a:r>
          </a:p>
          <a:p>
            <a:r>
              <a:rPr dirty="0"/>
              <a:t>4. Provides centralized authentication and authorization.</a:t>
            </a:r>
          </a:p>
          <a:p>
            <a:endParaRPr dirty="0"/>
          </a:p>
          <a:p>
            <a:r>
              <a:rPr dirty="0"/>
              <a:t>Disadvantages:</a:t>
            </a:r>
          </a:p>
          <a:p>
            <a:r>
              <a:rPr dirty="0"/>
              <a:t>1. Can be complex to configure and manage.</a:t>
            </a:r>
          </a:p>
          <a:p>
            <a:r>
              <a:rPr dirty="0"/>
              <a:t>2. Limited support for advanced security features.</a:t>
            </a:r>
          </a:p>
          <a:p>
            <a:r>
              <a:rPr dirty="0"/>
              <a:t>3. May require additional tools for integration with other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Technical Architectural Diagrams of LDAP and 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89" y="2076610"/>
            <a:ext cx="8229600" cy="4155141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1. LDAP Architecture:</a:t>
            </a:r>
          </a:p>
          <a:p>
            <a:r>
              <a:rPr dirty="0"/>
              <a:t>   - Client-Server model.</a:t>
            </a:r>
          </a:p>
          <a:p>
            <a:r>
              <a:rPr dirty="0"/>
              <a:t>   - Directory Information Tree (DIT).</a:t>
            </a:r>
          </a:p>
          <a:p>
            <a:r>
              <a:rPr dirty="0"/>
              <a:t>   - Schema for defining directory objects.</a:t>
            </a:r>
          </a:p>
          <a:p>
            <a:endParaRPr dirty="0"/>
          </a:p>
          <a:p>
            <a:r>
              <a:rPr dirty="0"/>
              <a:t>2. Active Directory Architecture:</a:t>
            </a:r>
          </a:p>
          <a:p>
            <a:r>
              <a:rPr dirty="0"/>
              <a:t>   - Multi-master replication.</a:t>
            </a:r>
          </a:p>
          <a:p>
            <a:r>
              <a:rPr dirty="0"/>
              <a:t>   - Domain controllers.</a:t>
            </a:r>
          </a:p>
          <a:p>
            <a:r>
              <a:rPr dirty="0"/>
              <a:t>   - Global Catalog.</a:t>
            </a:r>
          </a:p>
          <a:p>
            <a:r>
              <a:rPr dirty="0"/>
              <a:t>   - Organizational Units (OUs).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A82AC-6DCC-B29A-AAA1-ABD948EE7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5674"/>
            <a:ext cx="8229600" cy="5962810"/>
          </a:xfrm>
        </p:spPr>
        <p:txBody>
          <a:bodyPr>
            <a:normAutofit/>
          </a:bodyPr>
          <a:lstStyle/>
          <a:p>
            <a:pPr marL="0" indent="0" algn="l">
              <a:spcBef>
                <a:spcPts val="750"/>
              </a:spcBef>
              <a:spcAft>
                <a:spcPts val="600"/>
              </a:spcAft>
              <a:buNone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LDAP defines a set of operations for interacting with the directory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Binding: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Authenticating to the directory server (e.g., providing a username and password).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Searching: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Retrieving information based on specific criteria.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Adding: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Creating new entries in the directory.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Modifying: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Updating existing entries.</a:t>
            </a:r>
          </a:p>
          <a:p>
            <a:pPr algn="l"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Deleting: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Removing entries.</a:t>
            </a:r>
          </a:p>
        </p:txBody>
      </p:sp>
    </p:spTree>
    <p:extLst>
      <p:ext uri="{BB962C8B-B14F-4D97-AF65-F5344CB8AC3E}">
        <p14:creationId xmlns:p14="http://schemas.microsoft.com/office/powerpoint/2010/main" val="292290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CB7B2-274A-FF91-F87B-15217E73C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of LDAP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1E6D8-6A38-BDAB-F539-5BA0CC61D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736592"/>
            <a:ext cx="8229600" cy="4633473"/>
          </a:xfrm>
        </p:spPr>
        <p:txBody>
          <a:bodyPr>
            <a:normAutofit fontScale="92500" lnSpcReduction="10000"/>
          </a:bodyPr>
          <a:lstStyle/>
          <a:p>
            <a:pPr algn="l" fontAlgn="ctr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Centralized User Management: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Storing and managing user accounts, passwords, and other user-related information. </a:t>
            </a:r>
            <a:endParaRPr lang="en-US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 fontAlgn="ctr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Authentication: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Verifying user credentials for accessing applications and services. </a:t>
            </a:r>
            <a:endParaRPr lang="en-US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 fontAlgn="ctr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Resource Discovery: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Finding network resources like printers, servers, or file shares. </a:t>
            </a:r>
            <a:endParaRPr lang="en-US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Single Sign-On (SSO):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Enabling users to access multiple applications with a single login.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463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configure LDAP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262718"/>
          </a:xfrm>
        </p:spPr>
        <p:txBody>
          <a:bodyPr>
            <a:normAutofit fontScale="92500"/>
          </a:bodyPr>
          <a:lstStyle/>
          <a:p>
            <a:r>
              <a:rPr dirty="0"/>
              <a:t>1. Install LDAP server software (e.g., </a:t>
            </a:r>
            <a:r>
              <a:rPr dirty="0" err="1"/>
              <a:t>OpenLDAP</a:t>
            </a:r>
            <a:r>
              <a:rPr dirty="0"/>
              <a:t>).</a:t>
            </a:r>
          </a:p>
          <a:p>
            <a:r>
              <a:rPr dirty="0"/>
              <a:t>2. Configure the LDAP server by editing the configuration files.</a:t>
            </a:r>
          </a:p>
          <a:p>
            <a:r>
              <a:rPr dirty="0"/>
              <a:t>3. Define the directory structure and add entries to the directory.</a:t>
            </a:r>
          </a:p>
          <a:p>
            <a:r>
              <a:rPr dirty="0"/>
              <a:t>4. Set up access control and security settings.</a:t>
            </a:r>
          </a:p>
          <a:p>
            <a:r>
              <a:rPr dirty="0"/>
              <a:t>5. Test the LDAP server to ensure it is working correctly.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1E57A-7E98-73F7-24D2-039CA9BE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configure LDAP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776FE-8FD4-AF20-0965-865711971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Go to the application where LDAP is required to </a:t>
            </a:r>
            <a:r>
              <a:rPr lang="en-US"/>
              <a:t>be configured.</a:t>
            </a:r>
            <a:endParaRPr lang="en-US" dirty="0"/>
          </a:p>
          <a:p>
            <a:pPr algn="l" fontAlgn="ctr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45D7E"/>
                </a:solidFill>
                <a:effectLst/>
                <a:latin typeface="Google Sans"/>
              </a:rPr>
              <a:t>Look for sections related to authentication, user management, or security settings. The exact location will vary by application. </a:t>
            </a:r>
            <a:endParaRPr lang="en-US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0" indent="0" algn="l">
              <a:spcBef>
                <a:spcPts val="750"/>
              </a:spcBef>
              <a:spcAft>
                <a:spcPts val="600"/>
              </a:spcAft>
              <a:buNone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     Examples:</a:t>
            </a:r>
            <a:endParaRPr lang="en-US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marL="0" indent="0" algn="l" font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i="0" dirty="0">
                <a:solidFill>
                  <a:srgbClr val="545D7E"/>
                </a:solidFill>
                <a:effectLst/>
                <a:latin typeface="Google Sans"/>
              </a:rPr>
              <a:t>       N-able N-central:</a:t>
            </a:r>
            <a:r>
              <a:rPr lang="en-US" b="0" i="0" dirty="0">
                <a:solidFill>
                  <a:srgbClr val="545D7E"/>
                </a:solidFill>
                <a:effectLst/>
                <a:latin typeface="Google Sans"/>
              </a:rPr>
              <a:t> Go to Administration &gt; User Management &gt; SSO Providers and select Add &gt; Microsoft Active Directory. </a:t>
            </a:r>
            <a:endParaRPr lang="en-US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875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FCCF0FBB-2BE9-4D19-4350-BEA97391F30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7990" y="1625866"/>
            <a:ext cx="7868450" cy="44707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6023" rIns="0" bIns="11426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45D7E"/>
                </a:solidFill>
                <a:effectLst/>
                <a:latin typeface="Google Sans"/>
              </a:rPr>
              <a:t>You'll likely need to configure: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545D7E"/>
                </a:solidFill>
                <a:effectLst/>
                <a:latin typeface="Google Sans"/>
              </a:rPr>
              <a:t>LDAP Server: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45D7E"/>
                </a:solidFill>
                <a:effectLst/>
                <a:latin typeface="Google Sans"/>
              </a:rPr>
              <a:t> The IP address or FQDN (Fully Qualified Domain Name) of your Active Directory domain controller.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545D7E"/>
                </a:solidFill>
                <a:effectLst/>
                <a:latin typeface="Google Sans"/>
              </a:rPr>
              <a:t>Port: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45D7E"/>
                </a:solidFill>
                <a:effectLst/>
                <a:latin typeface="Google Sans"/>
              </a:rPr>
              <a:t> Usually 389 for unencrypted LDAP (LDAP) or 636 for encrypted LDAP (LDAPS).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545D7E"/>
                </a:solidFill>
                <a:effectLst/>
                <a:latin typeface="Google Sans"/>
              </a:rPr>
              <a:t>Base DN: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45D7E"/>
                </a:solidFill>
                <a:effectLst/>
                <a:latin typeface="Google Sans"/>
              </a:rPr>
              <a:t> The distinguished name of the organizational unit (OU) or container where your users are located.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545D7E"/>
                </a:solidFill>
                <a:effectLst/>
                <a:latin typeface="Google Sans"/>
              </a:rPr>
              <a:t>Search Filter: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45D7E"/>
                </a:solidFill>
                <a:effectLst/>
                <a:latin typeface="Google Sans"/>
              </a:rPr>
              <a:t> A filter to locate users in Active Directory (e.g.,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545D7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sAMAccountName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45D7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={0}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45D7E"/>
                </a:solidFill>
                <a:effectLst/>
                <a:latin typeface="Google Sans"/>
              </a:rPr>
              <a:t> or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545D7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userPrincipalName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45D7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={0}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45D7E"/>
                </a:solidFill>
                <a:effectLst/>
                <a:latin typeface="Google Sans"/>
              </a:rPr>
              <a:t>).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545D7E"/>
                </a:solidFill>
                <a:effectLst/>
                <a:latin typeface="Google Sans"/>
              </a:rPr>
              <a:t>Authentication: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45D7E"/>
                </a:solidFill>
                <a:effectLst/>
                <a:latin typeface="Google Sans"/>
              </a:rPr>
              <a:t> Whether to use anonymous bind or a specific user account for searching the directory.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545D7E"/>
                </a:solidFill>
                <a:effectLst/>
                <a:latin typeface="Google Sans"/>
              </a:rPr>
              <a:t>User DN and Password: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45D7E"/>
                </a:solidFill>
                <a:effectLst/>
                <a:latin typeface="Google Sans"/>
              </a:rPr>
              <a:t> If not using anonymous bind, you'll need a user account with read access to Active Directory.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412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957</Words>
  <Application>Microsoft Office PowerPoint</Application>
  <PresentationFormat>On-screen Show (4:3)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Courier New</vt:lpstr>
      <vt:lpstr>Google Sans</vt:lpstr>
      <vt:lpstr>Nunito</vt:lpstr>
      <vt:lpstr>Segoe Sans</vt:lpstr>
      <vt:lpstr>Office Theme</vt:lpstr>
      <vt:lpstr>Introduction to LDAP</vt:lpstr>
      <vt:lpstr>Difference between LDAP and Active Directory (AD)</vt:lpstr>
      <vt:lpstr>PowerPoint Presentation</vt:lpstr>
      <vt:lpstr>LDAP</vt:lpstr>
      <vt:lpstr>TCP / IP Protocol</vt:lpstr>
      <vt:lpstr>DIT (Directory Information Tree)</vt:lpstr>
      <vt:lpstr>Advantages and Disadvantages of LDAP</vt:lpstr>
      <vt:lpstr>Technical Architectural Diagrams of LDAP and AD</vt:lpstr>
      <vt:lpstr>PowerPoint Presentation</vt:lpstr>
      <vt:lpstr>Use Cases of LDAP Protocol</vt:lpstr>
      <vt:lpstr>How to configure LDAP</vt:lpstr>
      <vt:lpstr>Steps to configure LDAP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GRANDHI MANIDEEPAK</cp:lastModifiedBy>
  <cp:revision>14</cp:revision>
  <dcterms:created xsi:type="dcterms:W3CDTF">2013-01-27T09:14:16Z</dcterms:created>
  <dcterms:modified xsi:type="dcterms:W3CDTF">2025-06-18T05:08:59Z</dcterms:modified>
  <cp:category/>
</cp:coreProperties>
</file>